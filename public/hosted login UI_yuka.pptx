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6" r:id="rId7"/>
    <p:sldId id="269" r:id="rId8"/>
    <p:sldId id="265" r:id="rId9"/>
    <p:sldId id="268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CD5F0-CFB6-C048-891F-11A9FB317A45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4A4EE-6E95-874B-90AA-56B490B844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80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4A4EE-6E95-874B-90AA-56B490B844B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59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7E8EDF-51FD-40B8-9BEC-6A66D1A79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0217E9-FF65-34DA-CC88-5B0C90A57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0F8613-FC2D-F2A2-2AB1-404B18ABA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C0EC12-B571-4F71-7A67-CB90E068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690F5A-0801-42D8-A327-316EC9C20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89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5CDD2-8FC4-C64A-7141-68D65AFA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B4439-3A88-C43E-B7EF-BE9F6DC07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AC283C-0589-274B-B82F-7BAAA7C1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5B3C8C-9AC5-BF95-BCDF-15461DFD6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BAF3AB-1739-6646-B8F9-59F998EB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780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D1D1B-C1ED-F318-F081-688FD782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5D7B56-12AC-2855-C877-545AD0435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AE9FCD-F958-27A4-23ED-FC608C30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4692B0-C647-D222-2746-102132BB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C54096-F65E-5B1C-DD8F-B5D48CD9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627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B3BA4D-F252-DEA9-3076-FA0C7513D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BE45B2-FD86-A16E-F623-C3C2DEF34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E1D3BB-D544-1B9E-B03A-27B436382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497715-21BA-FB6F-F78D-736CC01FA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AF826C-A611-DC65-5978-B1A232976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AC3F8F-39C6-054D-8D4D-98A7775F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71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2CCE9-DE58-24B3-E559-F2EFCCCB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713832-CEA8-AA93-D4C8-1E1D006D4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5FF355-131F-17ED-EEF3-C2BA4EF3D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384485-3EAD-1C77-52F2-068248400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131621-7C39-FC23-AD15-02302A1A8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D4A35EC-DC2E-0136-7BC0-BC533A52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C137E4-833D-BBFF-EBC1-1B65E747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00B9140-2451-F99E-7EFA-9C253994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584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5FCCF-FAD8-AF00-4968-5DF67DE4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7773810-B28B-9A68-36A1-B2221E52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44E8B6-47B6-E8AC-B365-0CC8BB8F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BEDE4F-5F42-0CFC-48CD-6819721F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680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C5C4AA-EB92-E423-40F7-F24C82BF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A9C320C-5E61-BF16-DA8F-AC4C9F00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EE9EC1-E801-BC2A-565E-4F97E1FF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63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BF3CA-2C20-DF4E-D881-BCF436B6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4685D0-5E3D-2F36-255D-C221ED3AA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B74956-1F4E-2A0A-E4E7-AA9FD8E7B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ED3F1C-322F-9DC4-651B-A0F6AEF9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40EC15-EA9D-06E3-A352-4ADFCF2F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8753C2-DEDE-40B2-EA90-AD3762E7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4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B31BD4-B5F1-4382-FD93-46C50326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8CA36D-5FE4-DD1E-D2B5-502F438E3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4B1917-DF96-2AEC-5914-2FF122936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930D56-6C29-B5FC-FFEE-3E9870BD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D7B8C6-E734-68BD-4D7E-F80E12F6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1FA599-A975-0820-8429-D1835250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8148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FC8C70-0FAA-FB4F-1424-53A16910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487D15-8BB4-4B8B-67D8-9FEC1B7EC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297E2A-66E1-44A1-6FEA-A8A276BC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ACB93F-ABAE-2163-1116-634053D4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BD59F8-8985-43AD-DC84-39613DD8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8471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DAB5386-CCDB-422A-D46F-7ABF4BDD6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8F3D-AF5B-A0F4-8962-6D4C127F4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C9A08A-BE0F-0BC6-ED92-B3C319BC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F2BAC5-CD0B-FD78-73C6-B003CB92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48B951-5F8C-438C-5850-C85D83F0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9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6442325-D00A-89CA-19A6-A0B7979D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701047-1082-ED6E-C1DC-5B35F131E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4539FA-47A9-6A04-5CFB-0A302EFA2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A4CB2-4CC0-3E43-94C9-DF10ADA57523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BE5441-D592-6F53-31BE-4FF737E5A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3742DB-DC88-EE55-A727-A715D598D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E7496-C28F-4C41-BD90-78595BE616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12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igma.com/proto/WhwkuywllwyH7lqi6IIvri/Login-%7C-Web-Login-%7C-ziontutorial.com--Community-?node-id=0-1&amp;t=a18giONl7Co87Xzj-1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microsoft.com/office/2007/relationships/hdphoto" Target="../media/hdphoto1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6" Type="http://schemas.microsoft.com/office/2007/relationships/hdphoto" Target="../media/hdphoto10.wdp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microsoft.com/office/2007/relationships/hdphoto" Target="../media/hdphoto9.wdp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5.wdp"/><Relationship Id="rId5" Type="http://schemas.openxmlformats.org/officeDocument/2006/relationships/image" Target="../media/image33.png"/><Relationship Id="rId4" Type="http://schemas.microsoft.com/office/2007/relationships/hdphoto" Target="../media/hdphoto1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3FD248F-1E0B-063F-ADEF-99E04DC3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UI Design </a:t>
            </a:r>
            <a:r>
              <a:rPr lang="ja-JP" altLang="en-US"/>
              <a:t>全ページ</a:t>
            </a:r>
            <a:r>
              <a:rPr lang="en-US" altLang="ja-JP" dirty="0"/>
              <a:t>15</a:t>
            </a:r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45544F-E74C-7E34-8AF0-29CC5093629C}"/>
              </a:ext>
            </a:extLst>
          </p:cNvPr>
          <p:cNvSpPr txBox="1"/>
          <p:nvPr/>
        </p:nvSpPr>
        <p:spPr>
          <a:xfrm>
            <a:off x="467810" y="1506022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hlinkClick r:id="rId2"/>
              </a:rPr>
              <a:t>Demo Link</a:t>
            </a:r>
            <a:endParaRPr kumimoji="1" lang="ja-JP" altLang="en-US"/>
          </a:p>
        </p:txBody>
      </p:sp>
      <p:pic>
        <p:nvPicPr>
          <p:cNvPr id="10" name="図 9" descr="コンピューターのスクリーンショット&#10;&#10;自動的に生成された説明">
            <a:extLst>
              <a:ext uri="{FF2B5EF4-FFF2-40B4-BE49-F238E27FC236}">
                <a16:creationId xmlns:a16="http://schemas.microsoft.com/office/drawing/2014/main" id="{0D8C8AEC-C017-B507-84A3-19054459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414" y="1204348"/>
            <a:ext cx="7772400" cy="565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1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A28C2-F280-94D2-7ACC-74C669E8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New Account Creation </a:t>
            </a:r>
            <a:endParaRPr kumimoji="1" lang="ja-JP" altLang="en-US"/>
          </a:p>
        </p:txBody>
      </p:sp>
      <p:pic>
        <p:nvPicPr>
          <p:cNvPr id="3" name="図 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F2D5CB51-E414-F4D4-CCDA-1C6EAE498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90" t="9282" r="16526" b="15106"/>
          <a:stretch/>
        </p:blipFill>
        <p:spPr>
          <a:xfrm>
            <a:off x="838200" y="1307417"/>
            <a:ext cx="3935394" cy="5185458"/>
          </a:xfrm>
          <a:prstGeom prst="rect">
            <a:avLst/>
          </a:prstGeom>
        </p:spPr>
      </p:pic>
      <p:pic>
        <p:nvPicPr>
          <p:cNvPr id="4" name="図 3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8C37E86C-CFEA-19FC-480C-011BDE76E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291" y="662782"/>
            <a:ext cx="6858000" cy="685800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6296D91-CEA4-1021-9588-3654DC1D5A94}"/>
              </a:ext>
            </a:extLst>
          </p:cNvPr>
          <p:cNvSpPr/>
          <p:nvPr/>
        </p:nvSpPr>
        <p:spPr>
          <a:xfrm>
            <a:off x="1666754" y="5428527"/>
            <a:ext cx="2430684" cy="5671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7D39BA7-9DE8-8217-E2FA-95CFBB4C17F7}"/>
              </a:ext>
            </a:extLst>
          </p:cNvPr>
          <p:cNvSpPr/>
          <p:nvPr/>
        </p:nvSpPr>
        <p:spPr>
          <a:xfrm>
            <a:off x="5391120" y="3829925"/>
            <a:ext cx="2793819" cy="18821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B9C99E71-0F9E-863B-F9A4-8AA543D9E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2937" y="662782"/>
            <a:ext cx="6858000" cy="68580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ECE6ABD-027E-86C5-5881-78A8A4A8ACF4}"/>
              </a:ext>
            </a:extLst>
          </p:cNvPr>
          <p:cNvSpPr/>
          <p:nvPr/>
        </p:nvSpPr>
        <p:spPr>
          <a:xfrm>
            <a:off x="8513424" y="5798127"/>
            <a:ext cx="3280258" cy="481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70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65E8D-F106-6566-EE10-AF3117E0E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New Account Creation – social login</a:t>
            </a:r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CBB5E01-E886-9F38-4AA3-199EF8401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90" t="9282" r="16526" b="15106"/>
          <a:stretch/>
        </p:blipFill>
        <p:spPr>
          <a:xfrm>
            <a:off x="838200" y="1307417"/>
            <a:ext cx="3935394" cy="518545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FBE3E44-0CEB-7E08-D737-299D032462C4}"/>
              </a:ext>
            </a:extLst>
          </p:cNvPr>
          <p:cNvSpPr/>
          <p:nvPr/>
        </p:nvSpPr>
        <p:spPr>
          <a:xfrm>
            <a:off x="1666754" y="5428527"/>
            <a:ext cx="2430684" cy="5671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30600248-88CA-30D3-CD39-03A6EB158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517" y="752355"/>
            <a:ext cx="6858000" cy="6858000"/>
          </a:xfrm>
          <a:prstGeom prst="rect">
            <a:avLst/>
          </a:prstGeom>
        </p:spPr>
      </p:pic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7AB3E202-8B1A-3FE2-D306-E88901053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066" y="868101"/>
            <a:ext cx="7237110" cy="68580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10951CD-0ADE-4765-F1C6-C8538020B342}"/>
              </a:ext>
            </a:extLst>
          </p:cNvPr>
          <p:cNvSpPr/>
          <p:nvPr/>
        </p:nvSpPr>
        <p:spPr>
          <a:xfrm>
            <a:off x="5359581" y="2708869"/>
            <a:ext cx="2430684" cy="937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4FF5FB2-2CAF-AC46-E9A7-2ABFB1A4FFCE}"/>
              </a:ext>
            </a:extLst>
          </p:cNvPr>
          <p:cNvSpPr/>
          <p:nvPr/>
        </p:nvSpPr>
        <p:spPr>
          <a:xfrm>
            <a:off x="11013814" y="3524622"/>
            <a:ext cx="595594" cy="13255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6E1900A-CC2D-FCD5-DA14-5BDFC9AB1EFB}"/>
              </a:ext>
            </a:extLst>
          </p:cNvPr>
          <p:cNvSpPr/>
          <p:nvPr/>
        </p:nvSpPr>
        <p:spPr>
          <a:xfrm>
            <a:off x="1463234" y="3850029"/>
            <a:ext cx="2430684" cy="5671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21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39775-E63F-5F72-CD22-87C30122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Password Resetting</a:t>
            </a:r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426521E0-0DAD-06B1-5B28-E80F695C0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6073" y="685800"/>
            <a:ext cx="6858000" cy="6858000"/>
          </a:xfrm>
          <a:prstGeom prst="rect">
            <a:avLst/>
          </a:prstGeom>
        </p:spPr>
      </p:pic>
      <p:pic>
        <p:nvPicPr>
          <p:cNvPr id="6" name="図 5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D00B74A7-EF43-B592-CBC7-8E4AF173C5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8804" y="685800"/>
            <a:ext cx="6858000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7B9BABE-8A3B-AFEA-37DE-97A012ABD290}"/>
              </a:ext>
            </a:extLst>
          </p:cNvPr>
          <p:cNvSpPr/>
          <p:nvPr/>
        </p:nvSpPr>
        <p:spPr>
          <a:xfrm>
            <a:off x="1203462" y="3236967"/>
            <a:ext cx="2430684" cy="1920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3E6928EA-2A97-23CF-6B6B-3C2ED91A22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8804" y="3543300"/>
            <a:ext cx="6858000" cy="6858000"/>
          </a:xfrm>
          <a:prstGeom prst="rect">
            <a:avLst/>
          </a:prstGeom>
        </p:spPr>
      </p:pic>
      <p:pic>
        <p:nvPicPr>
          <p:cNvPr id="11" name="図 10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8BD00D42-19E5-7A79-636C-41432E97E5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110" y="406689"/>
            <a:ext cx="6858000" cy="6858000"/>
          </a:xfrm>
          <a:prstGeom prst="rect">
            <a:avLst/>
          </a:prstGeom>
        </p:spPr>
      </p:pic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3C00344B-D93F-4D8F-7887-028BD76C77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44196" y="382241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7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C23BBA-9254-B4DF-AD01-CF9C649B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2FA </a:t>
            </a:r>
            <a:endParaRPr kumimoji="1" lang="ja-JP" altLang="en-US"/>
          </a:p>
        </p:txBody>
      </p:sp>
      <p:pic>
        <p:nvPicPr>
          <p:cNvPr id="6" name="図 5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B3D91521-20EB-1DFB-61B5-565F654F1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19100" y="810491"/>
            <a:ext cx="6858000" cy="6858000"/>
          </a:xfrm>
          <a:prstGeom prst="rect">
            <a:avLst/>
          </a:prstGeom>
        </p:spPr>
      </p:pic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B4AF6A1F-EB7C-BAB1-954F-3EB90CFFA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5800" y="81049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8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718D02-9AAC-92AD-C222-B08038EB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Login</a:t>
            </a:r>
            <a:endParaRPr kumimoji="1" lang="ja-JP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8262EB6-50BD-D426-E226-62FF7F18B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7200" y="1503136"/>
            <a:ext cx="10515600" cy="4351338"/>
          </a:xfrm>
        </p:spPr>
        <p:txBody>
          <a:bodyPr vert="horz"/>
          <a:lstStyle/>
          <a:p>
            <a:r>
              <a:rPr lang="en-US" altLang="zh-CN" dirty="0"/>
              <a:t>Increase</a:t>
            </a:r>
            <a:r>
              <a:rPr lang="zh-CN" altLang="en-US" dirty="0"/>
              <a:t> </a:t>
            </a:r>
            <a:r>
              <a:rPr lang="en-US" altLang="zh-CN" dirty="0"/>
              <a:t>conversion</a:t>
            </a:r>
          </a:p>
          <a:p>
            <a:r>
              <a:rPr lang="en-US" altLang="zh-CN" dirty="0"/>
              <a:t>Reduce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costs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sending</a:t>
            </a:r>
            <a:r>
              <a:rPr lang="zh-CN" altLang="en-US" dirty="0"/>
              <a:t> </a:t>
            </a:r>
            <a:r>
              <a:rPr lang="en-US" altLang="zh-CN" dirty="0"/>
              <a:t>SMS</a:t>
            </a:r>
            <a:endParaRPr lang="ja-JP" altLang="en-US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1BC7D010-7B28-7D51-8DB4-37621C96A9CD}"/>
              </a:ext>
            </a:extLst>
          </p:cNvPr>
          <p:cNvGrpSpPr/>
          <p:nvPr/>
        </p:nvGrpSpPr>
        <p:grpSpPr>
          <a:xfrm>
            <a:off x="260630" y="2719388"/>
            <a:ext cx="11931370" cy="3253361"/>
            <a:chOff x="260630" y="2719388"/>
            <a:chExt cx="11931370" cy="3253361"/>
          </a:xfrm>
        </p:grpSpPr>
        <p:pic>
          <p:nvPicPr>
            <p:cNvPr id="5" name="図 4" descr="グラフィカル ユーザー インターフェイス, テキスト, アプリケーション, チャットまたはテキスト メッセージ&#10;&#10;自動的に生成された説明">
              <a:extLst>
                <a:ext uri="{FF2B5EF4-FFF2-40B4-BE49-F238E27FC236}">
                  <a16:creationId xmlns:a16="http://schemas.microsoft.com/office/drawing/2014/main" id="{BEA24468-8CA9-C478-78E0-7110B9A5E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41202" y="2719388"/>
              <a:ext cx="2390286" cy="3135086"/>
            </a:xfrm>
            <a:prstGeom prst="rect">
              <a:avLst/>
            </a:prstGeom>
          </p:spPr>
        </p:pic>
        <p:pic>
          <p:nvPicPr>
            <p:cNvPr id="7" name="図 6" descr="QR コード&#10;&#10;自動的に生成された説明">
              <a:extLst>
                <a:ext uri="{FF2B5EF4-FFF2-40B4-BE49-F238E27FC236}">
                  <a16:creationId xmlns:a16="http://schemas.microsoft.com/office/drawing/2014/main" id="{C90FD2FC-E363-032F-B739-4F34E0001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0916" y="2719388"/>
              <a:ext cx="2390286" cy="3135086"/>
            </a:xfrm>
            <a:prstGeom prst="rect">
              <a:avLst/>
            </a:prstGeom>
          </p:spPr>
        </p:pic>
        <p:pic>
          <p:nvPicPr>
            <p:cNvPr id="11" name="図 10" descr="グラフィカル ユーザー インターフェイス, アプリケーション&#10;&#10;自動的に生成された説明">
              <a:extLst>
                <a:ext uri="{FF2B5EF4-FFF2-40B4-BE49-F238E27FC236}">
                  <a16:creationId xmlns:a16="http://schemas.microsoft.com/office/drawing/2014/main" id="{4EFCEA7C-F989-D761-0429-FD0DB73F0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01714" y="2719388"/>
              <a:ext cx="2390286" cy="3135086"/>
            </a:xfrm>
            <a:prstGeom prst="rect">
              <a:avLst/>
            </a:prstGeom>
          </p:spPr>
        </p:pic>
        <p:pic>
          <p:nvPicPr>
            <p:cNvPr id="13" name="図 12" descr="グラフィカル ユーザー インターフェイス, テキスト, アプリケーション, チャットまたはテキスト メッセージ&#10;&#10;自動的に生成された説明">
              <a:extLst>
                <a:ext uri="{FF2B5EF4-FFF2-40B4-BE49-F238E27FC236}">
                  <a16:creationId xmlns:a16="http://schemas.microsoft.com/office/drawing/2014/main" id="{7DF84668-382F-866E-40F8-25FD4DB06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0630" y="2719388"/>
              <a:ext cx="2390286" cy="3135086"/>
            </a:xfrm>
            <a:prstGeom prst="rect">
              <a:avLst/>
            </a:prstGeom>
          </p:spPr>
        </p:pic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BB9352A5-CD9A-1CEE-6AB2-7931B7E7A3DB}"/>
                </a:ext>
              </a:extLst>
            </p:cNvPr>
            <p:cNvGrpSpPr/>
            <p:nvPr/>
          </p:nvGrpSpPr>
          <p:grpSpPr>
            <a:xfrm>
              <a:off x="7411036" y="2719388"/>
              <a:ext cx="2390678" cy="3253361"/>
              <a:chOff x="7411036" y="2719388"/>
              <a:chExt cx="2390678" cy="3253361"/>
            </a:xfrm>
          </p:grpSpPr>
          <p:pic>
            <p:nvPicPr>
              <p:cNvPr id="9" name="図 8" descr="グラフィカル ユーザー インターフェイス, アプリケーション&#10;&#10;自動的に生成された説明">
                <a:extLst>
                  <a:ext uri="{FF2B5EF4-FFF2-40B4-BE49-F238E27FC236}">
                    <a16:creationId xmlns:a16="http://schemas.microsoft.com/office/drawing/2014/main" id="{EAB28A2E-4E3F-11C1-1C60-64C0039C19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1428" y="2719388"/>
                <a:ext cx="2390286" cy="3135086"/>
              </a:xfrm>
              <a:prstGeom prst="rect">
                <a:avLst/>
              </a:prstGeom>
            </p:spPr>
          </p:pic>
          <p:pic>
            <p:nvPicPr>
              <p:cNvPr id="16" name="図 15" descr="グラフィカル ユーザー インターフェイス, アプリケーション&#10;&#10;自動的に生成された説明">
                <a:extLst>
                  <a:ext uri="{FF2B5EF4-FFF2-40B4-BE49-F238E27FC236}">
                    <a16:creationId xmlns:a16="http://schemas.microsoft.com/office/drawing/2014/main" id="{417D23E9-8FF2-3AAE-DA5B-040F83C5CC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63707" b="19514"/>
              <a:stretch/>
            </p:blipFill>
            <p:spPr>
              <a:xfrm>
                <a:off x="7411036" y="5091804"/>
                <a:ext cx="2390678" cy="526119"/>
              </a:xfrm>
              <a:prstGeom prst="rect">
                <a:avLst/>
              </a:prstGeom>
            </p:spPr>
          </p:pic>
          <p:pic>
            <p:nvPicPr>
              <p:cNvPr id="18" name="図 17" descr="グラフィカル ユーザー インターフェイス, テキスト, アプリケーション&#10;&#10;自動的に生成された説明">
                <a:extLst>
                  <a:ext uri="{FF2B5EF4-FFF2-40B4-BE49-F238E27FC236}">
                    <a16:creationId xmlns:a16="http://schemas.microsoft.com/office/drawing/2014/main" id="{216E1BC5-2DBC-61AF-511F-99EBFE98E9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64970" b="19733"/>
              <a:stretch/>
            </p:blipFill>
            <p:spPr>
              <a:xfrm>
                <a:off x="7411036" y="5493088"/>
                <a:ext cx="2390678" cy="47966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744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2C84E-441F-F831-52EC-F35FDE72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Social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Login</a:t>
            </a:r>
            <a:endParaRPr kumimoji="1" lang="ja-JP" altLang="en-US"/>
          </a:p>
        </p:txBody>
      </p:sp>
      <p:pic>
        <p:nvPicPr>
          <p:cNvPr id="9" name="図 8" descr="グラフィカル ユーザー インターフェイス, テキスト, アプリケーション, チャットまたはテキスト メッセージ&#10;&#10;自動的に生成された説明">
            <a:extLst>
              <a:ext uri="{FF2B5EF4-FFF2-40B4-BE49-F238E27FC236}">
                <a16:creationId xmlns:a16="http://schemas.microsoft.com/office/drawing/2014/main" id="{3F237412-C6AB-1E02-0248-7A0EC5886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78" y="1690688"/>
            <a:ext cx="3939718" cy="5167312"/>
          </a:xfrm>
          <a:prstGeom prst="rect">
            <a:avLst/>
          </a:prstGeom>
        </p:spPr>
      </p:pic>
      <p:pic>
        <p:nvPicPr>
          <p:cNvPr id="4" name="図 3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E7F00B46-AD97-BE67-4D9A-2BFF3A32F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766" y="1692000"/>
            <a:ext cx="3951305" cy="5166000"/>
          </a:xfrm>
          <a:prstGeom prst="rect">
            <a:avLst/>
          </a:prstGeom>
        </p:spPr>
      </p:pic>
      <p:pic>
        <p:nvPicPr>
          <p:cNvPr id="8" name="図 7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267C406D-4FFB-36F0-3DBA-925FDA5C9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1217" y="1692000"/>
            <a:ext cx="3951305" cy="51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3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A09C8D-D71B-442B-B156-BE05E218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Passkey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Easier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Faster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Safer</a:t>
            </a:r>
            <a:endParaRPr kumimoji="1" lang="ja-JP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D81E65-1ED8-AA2C-4420-232BD3BCA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>
            <a:normAutofit lnSpcReduction="10000"/>
          </a:bodyPr>
          <a:lstStyle/>
          <a:p>
            <a:r>
              <a:rPr lang="en-US" altLang="zh-CN" dirty="0"/>
              <a:t>Account</a:t>
            </a:r>
            <a:r>
              <a:rPr lang="zh-CN" altLang="en-US" dirty="0"/>
              <a:t> </a:t>
            </a:r>
            <a:r>
              <a:rPr lang="en-US" altLang="zh-CN" dirty="0"/>
              <a:t>selector</a:t>
            </a:r>
          </a:p>
          <a:p>
            <a:pPr lvl="1"/>
            <a:r>
              <a:rPr lang="en-US" altLang="ja-JP" dirty="0"/>
              <a:t>Users can select an account to sign in with. </a:t>
            </a:r>
          </a:p>
          <a:p>
            <a:pPr lvl="1"/>
            <a:r>
              <a:rPr lang="en-US" altLang="ja-JP" dirty="0"/>
              <a:t>Typing the username is not required.</a:t>
            </a:r>
          </a:p>
          <a:p>
            <a:r>
              <a:rPr lang="en-US" altLang="ja-JP" dirty="0"/>
              <a:t>Biometric</a:t>
            </a:r>
            <a:r>
              <a:rPr lang="zh-CN" altLang="en-US" dirty="0"/>
              <a:t> </a:t>
            </a:r>
            <a:r>
              <a:rPr lang="en-US" altLang="ja-JP" dirty="0"/>
              <a:t>Authentication</a:t>
            </a:r>
          </a:p>
          <a:p>
            <a:pPr lvl="1"/>
            <a:r>
              <a:rPr lang="en-US" altLang="ja-JP" dirty="0"/>
              <a:t>Users can authenticate using device's screen lock such as a fingerprint sensor</a:t>
            </a:r>
            <a:r>
              <a:rPr lang="en-US" altLang="zh-CN" dirty="0"/>
              <a:t>,</a:t>
            </a:r>
            <a:r>
              <a:rPr lang="ja-JP" altLang="en-US"/>
              <a:t> </a:t>
            </a:r>
            <a:r>
              <a:rPr lang="en-US" altLang="ja-JP" dirty="0"/>
              <a:t>facial recognition or entering a PIN.</a:t>
            </a:r>
          </a:p>
          <a:p>
            <a:r>
              <a:rPr lang="en-US" altLang="ja-JP" dirty="0">
                <a:solidFill>
                  <a:srgbClr val="0070C0"/>
                </a:solidFill>
              </a:rPr>
              <a:t>Cloud-synced access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&amp;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multi-device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login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–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Key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Feature</a:t>
            </a:r>
            <a:endParaRPr lang="en-US" altLang="ja-JP" dirty="0">
              <a:solidFill>
                <a:srgbClr val="0070C0"/>
              </a:solidFill>
            </a:endParaRPr>
          </a:p>
          <a:p>
            <a:pPr lvl="1"/>
            <a:r>
              <a:rPr lang="en-US" altLang="ja-JP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passkey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altLang="ja-JP" dirty="0"/>
              <a:t>ynchronized</a:t>
            </a:r>
            <a:r>
              <a:rPr lang="zh-CN" altLang="en-US" dirty="0"/>
              <a:t> </a:t>
            </a:r>
            <a:r>
              <a:rPr lang="en-US" altLang="zh-CN" dirty="0"/>
              <a:t>across</a:t>
            </a:r>
            <a:r>
              <a:rPr lang="zh-CN" altLang="en-US" dirty="0"/>
              <a:t> </a:t>
            </a:r>
            <a:r>
              <a:rPr lang="en-US" altLang="zh-CN" dirty="0"/>
              <a:t>devices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cloud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multi-device</a:t>
            </a:r>
            <a:r>
              <a:rPr lang="zh-CN" altLang="en-US" dirty="0"/>
              <a:t> </a:t>
            </a:r>
            <a:r>
              <a:rPr lang="en-US" altLang="zh-CN" dirty="0"/>
              <a:t>login</a:t>
            </a:r>
          </a:p>
          <a:p>
            <a:pPr lvl="1"/>
            <a:r>
              <a:rPr lang="en-US" altLang="ja-JP" dirty="0"/>
              <a:t>Once a passkey is created and registered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ja-JP" dirty="0"/>
              <a:t>the user can seamlessly switch to a new device and continue using it.</a:t>
            </a:r>
          </a:p>
          <a:p>
            <a:endParaRPr lang="en-US" altLang="ja-JP" dirty="0" err="1"/>
          </a:p>
        </p:txBody>
      </p:sp>
    </p:spTree>
    <p:extLst>
      <p:ext uri="{BB962C8B-B14F-4D97-AF65-F5344CB8AC3E}">
        <p14:creationId xmlns:p14="http://schemas.microsoft.com/office/powerpoint/2010/main" val="1068613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6B78A-6B24-2669-28C2-55639101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1D09EB73-3353-D09F-8F5C-838532FC6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69" y="2712964"/>
            <a:ext cx="7772400" cy="170274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688CA6C-C832-87B8-F160-2011A105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Passkey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Easier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Faster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Safer</a:t>
            </a:r>
            <a:endParaRPr kumimoji="1" lang="ja-JP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6C01781-3423-493B-B3C0-ECC92364F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690688"/>
            <a:ext cx="10515600" cy="4710112"/>
          </a:xfrm>
        </p:spPr>
        <p:txBody>
          <a:bodyPr vert="horz">
            <a:normAutofit fontScale="85000" lnSpcReduction="20000"/>
          </a:bodyPr>
          <a:lstStyle/>
          <a:p>
            <a:r>
              <a:rPr lang="en-US" altLang="ja-JP" dirty="0"/>
              <a:t>Cryptography</a:t>
            </a:r>
          </a:p>
          <a:p>
            <a:pPr lvl="1"/>
            <a:r>
              <a:rPr lang="en-US" altLang="ja-JP" dirty="0"/>
              <a:t>A passkey is based on a </a:t>
            </a:r>
            <a:r>
              <a:rPr lang="en-US" altLang="ja-JP" b="1" dirty="0"/>
              <a:t>key pair</a:t>
            </a:r>
            <a:r>
              <a:rPr lang="en-US" altLang="ja-JP" dirty="0"/>
              <a:t> — a </a:t>
            </a:r>
            <a:r>
              <a:rPr lang="en-US" altLang="ja-JP" b="1" dirty="0"/>
              <a:t>public key</a:t>
            </a:r>
            <a:r>
              <a:rPr lang="en-US" altLang="ja-JP" dirty="0"/>
              <a:t> and a </a:t>
            </a:r>
            <a:r>
              <a:rPr lang="en-US" altLang="ja-JP" b="1" dirty="0"/>
              <a:t>private key</a:t>
            </a:r>
          </a:p>
          <a:p>
            <a:pPr lvl="1"/>
            <a:r>
              <a:rPr lang="en-US" altLang="ja-JP" dirty="0"/>
              <a:t>The </a:t>
            </a:r>
            <a:r>
              <a:rPr lang="en-US" altLang="ja-JP" b="1" dirty="0"/>
              <a:t>public key</a:t>
            </a:r>
            <a:r>
              <a:rPr lang="en-US" altLang="ja-JP" dirty="0"/>
              <a:t> is stored on the server</a:t>
            </a:r>
          </a:p>
          <a:p>
            <a:pPr lvl="1"/>
            <a:r>
              <a:rPr lang="en-US" altLang="ja-JP" dirty="0"/>
              <a:t>The </a:t>
            </a:r>
            <a:r>
              <a:rPr lang="en-US" altLang="ja-JP" b="1" dirty="0"/>
              <a:t>private key</a:t>
            </a:r>
            <a:r>
              <a:rPr lang="en-US" altLang="ja-JP" dirty="0"/>
              <a:t> is stored securely on a</a:t>
            </a:r>
            <a:r>
              <a:rPr lang="zh-CN" altLang="en-US" dirty="0"/>
              <a:t> </a:t>
            </a:r>
            <a:r>
              <a:rPr lang="en-US" altLang="ja-JP" dirty="0"/>
              <a:t>customer’s device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RPID</a:t>
            </a:r>
            <a:r>
              <a:rPr lang="zh-CN" altLang="en-US" dirty="0"/>
              <a:t>，</a:t>
            </a:r>
            <a:r>
              <a:rPr lang="en-US" altLang="ja-JP" dirty="0"/>
              <a:t>Phishing resistant</a:t>
            </a:r>
          </a:p>
          <a:p>
            <a:pPr lvl="1"/>
            <a:r>
              <a:rPr lang="en-US" altLang="ja-JP" dirty="0"/>
              <a:t>Passkeys protect users from </a:t>
            </a:r>
            <a:r>
              <a:rPr lang="en-US" altLang="ja-JP" b="1" dirty="0"/>
              <a:t>phishing attacks</a:t>
            </a:r>
            <a:r>
              <a:rPr lang="en-US" altLang="ja-JP" dirty="0"/>
              <a:t>. </a:t>
            </a:r>
          </a:p>
          <a:p>
            <a:pPr lvl="1"/>
            <a:r>
              <a:rPr lang="en-US" altLang="ja-JP" dirty="0"/>
              <a:t>Passkeys work only on their registered websites and apps</a:t>
            </a:r>
            <a:r>
              <a:rPr lang="zh-CN" altLang="en-US" dirty="0"/>
              <a:t> </a:t>
            </a:r>
            <a:r>
              <a:rPr lang="en-US" altLang="zh-CN" dirty="0"/>
              <a:t>(Relying</a:t>
            </a:r>
            <a:r>
              <a:rPr lang="zh-CN" altLang="en-US" dirty="0"/>
              <a:t> </a:t>
            </a:r>
            <a:r>
              <a:rPr lang="en-US" altLang="zh-CN" dirty="0"/>
              <a:t>Party</a:t>
            </a:r>
            <a:r>
              <a:rPr lang="zh-CN" altLang="en-US" dirty="0"/>
              <a:t> </a:t>
            </a:r>
            <a:r>
              <a:rPr lang="en-US" altLang="zh-CN" dirty="0"/>
              <a:t>ID)</a:t>
            </a:r>
            <a:endParaRPr lang="en-US" altLang="ja-JP" dirty="0"/>
          </a:p>
          <a:p>
            <a:r>
              <a:rPr lang="en-US" altLang="ja-JP" dirty="0"/>
              <a:t>Cross</a:t>
            </a:r>
            <a:r>
              <a:rPr lang="en-US" altLang="zh-CN" dirty="0"/>
              <a:t>-Platform</a:t>
            </a:r>
            <a:r>
              <a:rPr lang="zh-CN" altLang="en-US" dirty="0"/>
              <a:t> </a:t>
            </a:r>
            <a:r>
              <a:rPr lang="en-US" altLang="ja-JP" dirty="0"/>
              <a:t>[</a:t>
            </a:r>
            <a:r>
              <a:rPr lang="ja-JP" altLang="en-US"/>
              <a:t>📱🖥️💻🤖</a:t>
            </a:r>
            <a:r>
              <a:rPr lang="zh-CN" altLang="en-US" dirty="0"/>
              <a:t>                </a:t>
            </a:r>
            <a:r>
              <a:rPr lang="en-US" altLang="zh-CN" dirty="0"/>
              <a:t>]</a:t>
            </a:r>
          </a:p>
          <a:p>
            <a:pPr lvl="1"/>
            <a:r>
              <a:rPr lang="en-US" altLang="ja-JP" dirty="0"/>
              <a:t>Passkeys support</a:t>
            </a:r>
            <a:r>
              <a:rPr lang="zh-CN" altLang="en-US" dirty="0"/>
              <a:t> </a:t>
            </a:r>
            <a:r>
              <a:rPr lang="en-US" altLang="ja-JP" dirty="0"/>
              <a:t>Mac OS</a:t>
            </a:r>
            <a:r>
              <a:rPr lang="zh-CN" altLang="en-US" dirty="0"/>
              <a:t>，</a:t>
            </a:r>
            <a:r>
              <a:rPr lang="en-US" altLang="ja-JP" dirty="0"/>
              <a:t>iOS</a:t>
            </a:r>
            <a:r>
              <a:rPr lang="zh-CN" altLang="en-US" dirty="0"/>
              <a:t>，</a:t>
            </a:r>
            <a:r>
              <a:rPr lang="en-US" altLang="ja-JP" dirty="0" err="1"/>
              <a:t>iPad</a:t>
            </a:r>
            <a:r>
              <a:rPr lang="en-US" altLang="zh-CN" dirty="0" err="1"/>
              <a:t>O</a:t>
            </a:r>
            <a:r>
              <a:rPr lang="en-US" altLang="ja-JP" dirty="0" err="1"/>
              <a:t>s</a:t>
            </a:r>
            <a:r>
              <a:rPr lang="zh-CN" altLang="en-US" dirty="0"/>
              <a:t>，</a:t>
            </a:r>
            <a:r>
              <a:rPr lang="en-US" altLang="zh-CN" dirty="0"/>
              <a:t>Android</a:t>
            </a:r>
            <a:r>
              <a:rPr lang="zh-CN" altLang="en-US" dirty="0"/>
              <a:t>，</a:t>
            </a:r>
            <a:r>
              <a:rPr lang="en-US" altLang="ja-JP" dirty="0"/>
              <a:t>Windows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browsers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06122AD-E6AB-50C4-EF20-142E2E186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20160" y="1600200"/>
            <a:ext cx="632904" cy="45652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03F0EC4-D91A-469D-ADF3-F8DAA8E1E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785" r="8928"/>
          <a:stretch/>
        </p:blipFill>
        <p:spPr>
          <a:xfrm>
            <a:off x="4738458" y="4315598"/>
            <a:ext cx="472622" cy="496254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82A0A06-2F38-353E-040E-F0751FB3A13B}"/>
              </a:ext>
            </a:extLst>
          </p:cNvPr>
          <p:cNvGrpSpPr/>
          <p:nvPr/>
        </p:nvGrpSpPr>
        <p:grpSpPr>
          <a:xfrm>
            <a:off x="4691740" y="5267459"/>
            <a:ext cx="1404261" cy="341059"/>
            <a:chOff x="4691740" y="5267459"/>
            <a:chExt cx="1404261" cy="341059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27AE168-F313-D139-6C56-65134B5C39B8}"/>
                </a:ext>
              </a:extLst>
            </p:cNvPr>
            <p:cNvGrpSpPr/>
            <p:nvPr/>
          </p:nvGrpSpPr>
          <p:grpSpPr>
            <a:xfrm>
              <a:off x="5027203" y="5267460"/>
              <a:ext cx="1068798" cy="341058"/>
              <a:chOff x="5399312" y="4739812"/>
              <a:chExt cx="1491347" cy="475894"/>
            </a:xfrm>
          </p:grpSpPr>
          <p:pic>
            <p:nvPicPr>
              <p:cNvPr id="8" name="図 7">
                <a:extLst>
                  <a:ext uri="{FF2B5EF4-FFF2-40B4-BE49-F238E27FC236}">
                    <a16:creationId xmlns:a16="http://schemas.microsoft.com/office/drawing/2014/main" id="{F4E41F05-FB98-A05E-9637-7F0BA1313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9836" b="91803" l="10000" r="90000">
                            <a14:foregroundMark x1="41667" y1="91803" x2="41667" y2="91803"/>
                            <a14:foregroundMark x1="44167" y1="63934" x2="44167" y2="63934"/>
                            <a14:foregroundMark x1="54167" y1="51639" x2="54167" y2="51639"/>
                            <a14:foregroundMark x1="48333" y1="51639" x2="75833" y2="37705"/>
                            <a14:foregroundMark x1="28333" y1="57377" x2="35833" y2="68033"/>
                            <a14:foregroundMark x1="37500" y1="61475" x2="42500" y2="72131"/>
                            <a14:foregroundMark x1="68333" y1="27869" x2="68333" y2="55738"/>
                            <a14:foregroundMark x1="14167" y1="62295" x2="14167" y2="6229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399312" y="4739818"/>
                <a:ext cx="468086" cy="4758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B3BB95E3-EEC7-770E-B4C0-6D0383B04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22572" y="4739818"/>
                <a:ext cx="468087" cy="475888"/>
              </a:xfrm>
              <a:prstGeom prst="rect">
                <a:avLst/>
              </a:prstGeom>
            </p:spPr>
          </p:pic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0B3504F0-2778-CD79-4B03-DB2C11D62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10942" y="4739812"/>
                <a:ext cx="468085" cy="475886"/>
              </a:xfrm>
              <a:prstGeom prst="rect">
                <a:avLst/>
              </a:prstGeom>
            </p:spPr>
          </p:pic>
        </p:grp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B92B28FB-B672-7802-8223-55EC9749B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>
                          <a14:foregroundMark x1="59167" y1="15574" x2="51667" y2="2131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91740" y="5267459"/>
              <a:ext cx="335463" cy="341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232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F0C75E-6CED-BA8D-C444-F4CC43D6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Profile Editing</a:t>
            </a:r>
            <a:endParaRPr kumimoji="1" lang="ja-JP" altLang="en-US"/>
          </a:p>
        </p:txBody>
      </p:sp>
      <p:pic>
        <p:nvPicPr>
          <p:cNvPr id="4" name="図 3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7BAB6D25-B853-AB72-0C81-697FB208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4" t="11871" r="4947" b="9536"/>
          <a:stretch/>
        </p:blipFill>
        <p:spPr>
          <a:xfrm>
            <a:off x="935182" y="1526021"/>
            <a:ext cx="7219733" cy="496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12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7E11D-2AFC-2DCB-47CA-68C55681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Account Security</a:t>
            </a:r>
            <a:endParaRPr kumimoji="1" lang="ja-JP" altLang="en-US"/>
          </a:p>
        </p:txBody>
      </p:sp>
      <p:pic>
        <p:nvPicPr>
          <p:cNvPr id="6" name="図 5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C226022D-8E16-BC68-0863-2C6C406BB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27" y="1465119"/>
            <a:ext cx="7772400" cy="514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15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F4981E-D1AC-A6AA-AEF6-4D56ED74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Agreement</a:t>
            </a:r>
            <a:endParaRPr kumimoji="1" lang="ja-JP" altLang="en-US"/>
          </a:p>
        </p:txBody>
      </p:sp>
      <p:pic>
        <p:nvPicPr>
          <p:cNvPr id="6" name="図 5" descr="グラフィカル ユーザー インターフェイス, テキスト, アプリケーション, Web サイト&#10;&#10;自動的に生成された説明">
            <a:extLst>
              <a:ext uri="{FF2B5EF4-FFF2-40B4-BE49-F238E27FC236}">
                <a16:creationId xmlns:a16="http://schemas.microsoft.com/office/drawing/2014/main" id="{911B9838-9E76-E0DB-92CF-D5AFF946A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00"/>
            <a:ext cx="7772400" cy="5143229"/>
          </a:xfrm>
          <a:prstGeom prst="rect">
            <a:avLst/>
          </a:prstGeom>
        </p:spPr>
      </p:pic>
      <p:pic>
        <p:nvPicPr>
          <p:cNvPr id="8" name="図 7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56F0B745-E13C-78C4-7A1B-93DD21FFF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628514"/>
            <a:ext cx="6858000" cy="68580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4D03EC7-FEC0-85AC-88B6-1844A539BD59}"/>
              </a:ext>
            </a:extLst>
          </p:cNvPr>
          <p:cNvSpPr/>
          <p:nvPr/>
        </p:nvSpPr>
        <p:spPr>
          <a:xfrm>
            <a:off x="2346462" y="2619429"/>
            <a:ext cx="2430684" cy="2692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316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9F314A-BA3E-FA73-5E20-47899BC5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Account Deletion</a:t>
            </a:r>
            <a:endParaRPr kumimoji="1" lang="ja-JP" altLang="en-US"/>
          </a:p>
        </p:txBody>
      </p:sp>
      <p:pic>
        <p:nvPicPr>
          <p:cNvPr id="3" name="図 2" descr="グラフィカル ユーザー インターフェイス, テキスト, アプリケーション, Web サイト&#10;&#10;自動的に生成された説明">
            <a:extLst>
              <a:ext uri="{FF2B5EF4-FFF2-40B4-BE49-F238E27FC236}">
                <a16:creationId xmlns:a16="http://schemas.microsoft.com/office/drawing/2014/main" id="{CE3CEAEA-39D3-A806-E7A2-D559EB824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00"/>
            <a:ext cx="7772400" cy="5143229"/>
          </a:xfrm>
          <a:prstGeom prst="rect">
            <a:avLst/>
          </a:prstGeom>
        </p:spPr>
      </p:pic>
      <p:pic>
        <p:nvPicPr>
          <p:cNvPr id="5" name="図 4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82C980CC-F73E-554A-9D09-02B4753E5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8900" y="-561109"/>
            <a:ext cx="6858000" cy="6858000"/>
          </a:xfrm>
          <a:prstGeom prst="rect">
            <a:avLst/>
          </a:prstGeom>
        </p:spPr>
      </p:pic>
      <p:pic>
        <p:nvPicPr>
          <p:cNvPr id="7" name="図 6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C1DC9EA1-AC6A-AE85-AD02-E0156360BF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66164" y="3429000"/>
            <a:ext cx="6858000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6DD9786-3B9B-D923-3774-B9B1A14A2938}"/>
              </a:ext>
            </a:extLst>
          </p:cNvPr>
          <p:cNvSpPr/>
          <p:nvPr/>
        </p:nvSpPr>
        <p:spPr>
          <a:xfrm>
            <a:off x="5078086" y="4936601"/>
            <a:ext cx="1821478" cy="3315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125B15B-C823-C6C9-EEA0-BAC4AB75C816}"/>
              </a:ext>
            </a:extLst>
          </p:cNvPr>
          <p:cNvSpPr/>
          <p:nvPr/>
        </p:nvSpPr>
        <p:spPr>
          <a:xfrm>
            <a:off x="10103822" y="3188356"/>
            <a:ext cx="1821478" cy="448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646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212</Words>
  <Application>Microsoft Macintosh PowerPoint</Application>
  <PresentationFormat>ワイド画面</PresentationFormat>
  <Paragraphs>38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UI Design 全ページ15</vt:lpstr>
      <vt:lpstr>New Account Creation </vt:lpstr>
      <vt:lpstr>New Account Creation – social login</vt:lpstr>
      <vt:lpstr>Password Resetting</vt:lpstr>
      <vt:lpstr>2FA </vt:lpstr>
      <vt:lpstr>Passkey Login</vt:lpstr>
      <vt:lpstr>Social Login</vt:lpstr>
      <vt:lpstr>Passkey – Easier Faster Safer</vt:lpstr>
      <vt:lpstr>Passkey – Easier Faster Safer</vt:lpstr>
      <vt:lpstr>Profile Editing</vt:lpstr>
      <vt:lpstr>Account Security</vt:lpstr>
      <vt:lpstr>Agreement</vt:lpstr>
      <vt:lpstr>Account Deletion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Miumiu 喻</dc:creator>
  <cp:lastModifiedBy>Miumiu 喻</cp:lastModifiedBy>
  <cp:revision>5</cp:revision>
  <dcterms:created xsi:type="dcterms:W3CDTF">2025-06-19T08:58:36Z</dcterms:created>
  <dcterms:modified xsi:type="dcterms:W3CDTF">2025-06-24T01:30:33Z</dcterms:modified>
</cp:coreProperties>
</file>