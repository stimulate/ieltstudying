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192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FBFE3"/>
          </a:solidFill>
          <a:ln w="12700">
            <a:solidFill>
              <a:srgbClr val="1FBFE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Zscaler（Zenith of Scalability）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/ ZPA Web・IPフィルタリング機能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Webサイト・宛先IP・Private Appを製品別に整理し、設定方法と効果を説明します。</a:t>
            </a:r>
            <a:endParaRPr lang="en-US" sz="1650" dirty="0"/>
          </a:p>
        </p:txBody>
      </p:sp>
      <p:pic>
        <p:nvPicPr>
          <p:cNvPr id="6" name="Image 0" descr="/mnt/data/c881eceb-b101-4d63-85e2-696e276aa2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17053"/>
            <a:ext cx="3246120" cy="26063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3822192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4FB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3822192"/>
            <a:ext cx="73152" cy="1143000"/>
          </a:xfrm>
          <a:prstGeom prst="rect">
            <a:avLst/>
          </a:prstGeom>
          <a:solidFill>
            <a:srgbClr val="1FBFE3"/>
          </a:solidFill>
          <a:ln w="12700">
            <a:solidFill>
              <a:srgbClr val="1FBFE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4005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ZIA：Website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6968" y="4480560"/>
            <a:ext cx="280720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URLカテゴリ / Custom URL Category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Allow / Block / Caution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60520" y="3822192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9E6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3822192"/>
            <a:ext cx="73152" cy="11430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1688" y="4005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ZIA：IP / Port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61688" y="4480560"/>
            <a:ext cx="280720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宛先IP / FQDN / Protocol / 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Network Service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35240" y="3822192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2FFF6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822192"/>
            <a:ext cx="73152" cy="114300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6408" y="4005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ZPA：Private App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36408" y="4480560"/>
            <a:ext cx="280720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Application Segment / Access Policy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AppProtection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658600" y="65013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本資料で説明する範囲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Zscalerを「何でもWeb Filtering」としてまとめず、制御対象ごとに設定場所を明確にします。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D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563624"/>
            <a:ext cx="329184" cy="329184"/>
          </a:xfrm>
          <a:prstGeom prst="ellipse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36776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72768" y="15819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158191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境界型FW/VPNの課題とゼロトラストへの移行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350008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D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2496312"/>
            <a:ext cx="329184" cy="329184"/>
          </a:xfrm>
          <a:prstGeom prst="ellipse">
            <a:avLst/>
          </a:prstGeom>
          <a:solidFill>
            <a:srgbClr val="1FBFE3"/>
          </a:solidFill>
          <a:ln w="12700">
            <a:solidFill>
              <a:srgbClr val="1FBFE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569464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72768" y="2514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 Filtering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94760" y="251460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URL FilteringでWebサイト・URLカテゴリを制御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282696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D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3429000"/>
            <a:ext cx="329184" cy="329184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0215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72768" y="34472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Filtering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94760" y="344728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Firewall Filteringで宛先IP・Portを制御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7240" y="4215384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D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4361688"/>
            <a:ext cx="329184" cy="329184"/>
          </a:xfrm>
          <a:prstGeom prst="ellipse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434840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572768" y="43799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Access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94760" y="437997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ZPAで社内アプリを非公開化し、アプリ単位で許可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5148072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DED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5294376"/>
            <a:ext cx="329184" cy="329184"/>
          </a:xfrm>
          <a:prstGeom prst="ellipse">
            <a:avLst/>
          </a:prstGeom>
          <a:solidFill>
            <a:srgbClr val="6A45D8"/>
          </a:solidFill>
          <a:ln w="12700">
            <a:solidFill>
              <a:srgbClr val="6A45D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5367528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572768" y="53126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設定後の効果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794760" y="531266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ツーサン株式会社様を例にした適用イメージ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背景：脅威傾向から見るセキュリティ対策の必要性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THREAT LANDSCAPE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pic>
        <p:nvPicPr>
          <p:cNvPr id="6" name="Image 0" descr="/mnt/data/893810d2-698f-4232-b3d2-2db29b1367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728" y="868680"/>
            <a:ext cx="918464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6062472"/>
            <a:ext cx="108356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6208776"/>
            <a:ext cx="10506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ランサムウェア、脆弱性悪用、情報流出に対して、入口となる通信を可視化・制御します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従来型FW/VPNの課題：公開IPとネットワーク単位アクセス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 CHALLENGE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pic>
        <p:nvPicPr>
          <p:cNvPr id="6" name="Image 0" descr="/mnt/data/f9fc14a9-53d3-4896-bd5e-f8b9eefa43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132" y="868680"/>
            <a:ext cx="9195833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6062472"/>
            <a:ext cx="108356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6208776"/>
            <a:ext cx="10506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目標：Web、IP、Private Appをそれぞれ適切なZscaler機能で制御する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Zscalerによる移行後イメージ：攻撃対象領域を最小化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 ARCHITECTURE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pic>
        <p:nvPicPr>
          <p:cNvPr id="6" name="Image 0" descr="/mnt/data/92c6ec1e-771c-4342-bc2a-8d11286f07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741" y="868680"/>
            <a:ext cx="9224615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6062472"/>
            <a:ext cx="108356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6208776"/>
            <a:ext cx="105064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アプリ、拠点、工場（OTシステムを含む）をインターネットから隠し、必要な通信だけを許可する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制御対象別：どの管理画面で設定するか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DECISION 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最初に「対象がWebsiteなのか、IP/Portなのか、Private Appなのか」を切り分けます。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514600" cy="3886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73152" cy="3886200"/>
          </a:xfrm>
          <a:prstGeom prst="rect">
            <a:avLst/>
          </a:prstGeom>
          <a:solidFill>
            <a:srgbClr val="1FBFE3"/>
          </a:solidFill>
          <a:ln w="12700">
            <a:solidFill>
              <a:srgbClr val="1FBFE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645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 / URL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2121408"/>
            <a:ext cx="2167128" cy="3081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URL Filtering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URLカテゴリ・Custom URL Category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Allow / Block / Caution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例：SNS、ギャンブル、許可リスト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832104" y="54864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1FBFE3"/>
          </a:solidFill>
          <a:ln w="12700">
            <a:solidFill>
              <a:srgbClr val="1FBF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556869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BF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Admin Portal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514600" cy="3886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63040"/>
            <a:ext cx="73152" cy="38862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645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Destination IP / 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38728" y="2121408"/>
            <a:ext cx="2167128" cy="3081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Firewall Filtering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宛先IP/FQDN・Protocol/Port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Network Service / IP Group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例：特定IPや不要ポートを禁止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3666744" y="54864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556869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5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Admin Portal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2514600" cy="3886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63040"/>
            <a:ext cx="73152" cy="388620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645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Application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3368" y="2121408"/>
            <a:ext cx="2167128" cy="3081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Application Segment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FQDN/IP・Portでアプリ定義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ユーザー/グループ別に許可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例：社内CRM・契約管理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6501384" y="54864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23A455"/>
          </a:solidFill>
          <a:ln w="12700">
            <a:solidFill>
              <a:srgbClr val="23A4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556869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A4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Admin Portal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1463040"/>
            <a:ext cx="2514600" cy="38862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1463040"/>
            <a:ext cx="73152" cy="3886200"/>
          </a:xfrm>
          <a:prstGeom prst="rect">
            <a:avLst/>
          </a:prstGeom>
          <a:solidFill>
            <a:srgbClr val="6A45D8"/>
          </a:solidFill>
          <a:ln w="12700">
            <a:solidFill>
              <a:srgbClr val="6A45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1645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Web App Attack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08008" y="2121408"/>
            <a:ext cx="2167128" cy="3081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AppProtection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OWASP・SQLi・XSS・CVE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Web Appを検査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例：社内ポータル保護</a:t>
            </a:r>
            <a:endParaRPr lang="en-US" sz="1330" dirty="0"/>
          </a:p>
        </p:txBody>
      </p:sp>
      <p:sp>
        <p:nvSpPr>
          <p:cNvPr id="29" name="Shape 27"/>
          <p:cNvSpPr/>
          <p:nvPr/>
        </p:nvSpPr>
        <p:spPr>
          <a:xfrm>
            <a:off x="9336024" y="54864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6A45D8"/>
          </a:solidFill>
          <a:ln w="12700">
            <a:solidFill>
              <a:srgbClr val="6A45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7464" y="556869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A45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Admin Portal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605332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Official docs: ZIA URL Filtering / Firewall Filtering, ZPA Defined Application Segments / AppProtection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 Filtering：ZIA URL Filteringで設定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/ WEBSITE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Admin Portal &gt; Policies &gt; Access Control &gt; Internet &amp; SaaS &gt; URL Filtering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5486400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3970">
            <a:solidFill>
              <a:srgbClr val="B7D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70432"/>
            <a:ext cx="5486400" cy="38404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89304"/>
            <a:ext cx="5157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Admin Portal &gt; Policies &gt; Access Control &gt; Internet &amp; SaaS &gt; URL Filtering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1143000" cy="3959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78308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Policy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40664" y="2167128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40664" y="255117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Activation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40664" y="2935224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920240" y="1773936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Rule Name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31743" y="1746504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1520" y="1796796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TSUSAN_Web_Access_Control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167128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 / Group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431743" y="2139696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1520" y="2189988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営業部 / 管理部 / 全社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560320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Categories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431743" y="2532888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1520" y="2583180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Business: Allow / Gambling, Adult, Anonymizer: Block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953512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 URL Category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431743" y="2926080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1520" y="2976372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TSUSAN_Allowlist: tsusan.co.jp, aflac.co.jp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346704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31743" y="3319272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1520" y="3369564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Allow / Block / Caution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739896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Rule Order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431743" y="3712464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1520" y="3762756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Allowlist → Category Control → Default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5111496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5184648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SAVE / ACTIVATE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6446520" y="117043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1170432"/>
            <a:ext cx="73152" cy="105156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13533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設定するもの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47688" y="1828800"/>
            <a:ext cx="477316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Webサイトのカテゴリ判定、特定URLの許可/拒否、警告表示を設定します。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24231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2423160"/>
            <a:ext cx="73152" cy="1051560"/>
          </a:xfrm>
          <a:prstGeom prst="rect">
            <a:avLst/>
          </a:prstGeom>
          <a:solidFill>
            <a:srgbClr val="1FBFE3"/>
          </a:solidFill>
          <a:ln w="12700">
            <a:solidFill>
              <a:srgbClr val="1FBFE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26060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主な条件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47688" y="3081528"/>
            <a:ext cx="477316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ユーザー、グループ、部門、ロケーション、時間帯、URLカテゴリ、Custom URL Category。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3675888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3675888"/>
            <a:ext cx="73152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385876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ツーサン様向け例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47688" y="4334256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保険会社公式サイトや業務サイトを許可し、業務外または高リスクカテゴリをBlock / Cautionに設定します。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806440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5952744"/>
            <a:ext cx="10506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Websiteの制御はZIA URL Filteringで実施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Categoryの判定例：Exact Matchingとルール順序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/ URL MATCHING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pic>
        <p:nvPicPr>
          <p:cNvPr id="6" name="Image 0" descr="/mnt/data/963a2ee7-c856-490d-b2fd-974cf71674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41" y="868680"/>
            <a:ext cx="6630117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9601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960120"/>
            <a:ext cx="73152" cy="123444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0768" y="11430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1：Domain Match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30768" y="1618488"/>
            <a:ext cx="312724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アクセス先URLをCustom URL Category / URL Categoryと照合し、より具体的な一致を優先します。</a:t>
            </a:r>
            <a:endParaRPr lang="en-US" sz="1380" dirty="0"/>
          </a:p>
        </p:txBody>
      </p:sp>
      <p:sp>
        <p:nvSpPr>
          <p:cNvPr id="11" name="Shape 8"/>
          <p:cNvSpPr/>
          <p:nvPr/>
        </p:nvSpPr>
        <p:spPr>
          <a:xfrm>
            <a:off x="8229600" y="24231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2423160"/>
            <a:ext cx="73152" cy="14173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30768" y="26060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2：Other Criteria Match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30768" y="3081528"/>
            <a:ext cx="312724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カテゴリが一致しても、Location Group / Protocol / Methodなどの条件が合わなければ次のルールへ進みます。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8229600" y="4160520"/>
            <a:ext cx="3474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0" y="4160520"/>
            <a:ext cx="73152" cy="1353312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30768" y="43434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設計上のポイント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430768" y="4818888"/>
            <a:ext cx="31272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許可リスト、業務サイト、カテゴリ制御、Default Ruleの順番を明確にして誤ブロックを避けます。</a:t>
            </a:r>
            <a:endParaRPr lang="en-US" sz="1380" dirty="0"/>
          </a:p>
        </p:txBody>
      </p:sp>
      <p:sp>
        <p:nvSpPr>
          <p:cNvPr id="19" name="Shape 16"/>
          <p:cNvSpPr/>
          <p:nvPr/>
        </p:nvSpPr>
        <p:spPr>
          <a:xfrm>
            <a:off x="8229600" y="5833872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94192" y="5980176"/>
            <a:ext cx="314553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URLカテゴリ制御はZIA側で説明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Filtering：ZIA Firewall Filteringで設定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/ IP &amp; PORT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Admin Portal &gt; Policies &gt; Access Control &gt; Firewall &gt; Firewall Filtering Policy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5486400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3970">
            <a:solidFill>
              <a:srgbClr val="B7D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70432"/>
            <a:ext cx="5486400" cy="38404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89304"/>
            <a:ext cx="5157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Admin Portal &gt; Policies &gt; Access Control &gt; Firewall Filtering Policy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1143000" cy="3959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78308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B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Policy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40664" y="2167128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40664" y="255117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Activation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40664" y="2935224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920240" y="1773936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Rule Name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31743" y="1746504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1520" y="1796796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TSUSAN_IP_Port_Control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167128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431743" y="2139696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1520" y="2189988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Location / Source IP Group / User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560320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Destination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431743" y="2532888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1520" y="2583180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Destination IP Group / FQDN / Country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953512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431743" y="2926080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1520" y="2976372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80/443, DNS, RDP, SMB など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346704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31743" y="3319272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1520" y="3369564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Allow / Block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739896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Logging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431743" y="3712464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1520" y="3762756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Firewall Insightsで確認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5111496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5184648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SAVE / ACTIVATE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6446520" y="1170432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1170432"/>
            <a:ext cx="73152" cy="12344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13533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設定するもの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47688" y="1828800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宛先IPアドレス、FQDN、国、Protocol、Port、Network Serviceなどで通信を制御します。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2633472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2633472"/>
            <a:ext cx="73152" cy="123444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28163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 Filteringとの違い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47688" y="3291840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URLカテゴリやWebサイト分類はURL Filtering。IP/Port/Protocol中心の条件はFirewall Filteringです。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4096512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4096512"/>
            <a:ext cx="73152" cy="1207008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427939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ツーサン様向け例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47688" y="4754880"/>
            <a:ext cx="47731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未承認クラウド、不要ポート、直接外部IP通信をBlockし、業務通信のみを許可します。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806440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5952744"/>
            <a:ext cx="10506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/ Portの制御はZIA Firewall Filteringで実施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Application：ZPA Application Segmentで定義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/ PRIVATE ACCESS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23A4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Admin Portal &gt; Policies &gt; Access Control &gt; Private Applications &gt; Defined Application Segments</a:t>
            </a:r>
            <a:endParaRPr lang="en-US" sz="1520" dirty="0"/>
          </a:p>
        </p:txBody>
      </p:sp>
      <p:pic>
        <p:nvPicPr>
          <p:cNvPr id="7" name="Image 0" descr="/mnt/data/c881eceb-b101-4d63-85e2-696e276aa2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37" y="1234440"/>
            <a:ext cx="3302647" cy="2651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170432"/>
            <a:ext cx="6903720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3970">
            <a:solidFill>
              <a:srgbClr val="B7D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70432"/>
            <a:ext cx="6903720" cy="38404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28032" y="1289304"/>
            <a:ext cx="6574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Admin Portal &gt; Policies &gt; Access Control &gt; Private Applications &gt; Defined Application Segments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1143000" cy="3959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78308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23A4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Policy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4809744" y="2167128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Objects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4809744" y="255117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Activation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4809744" y="2935224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Logs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5989320" y="1773936"/>
            <a:ext cx="2050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Application Name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8039405" y="1746504"/>
            <a:ext cx="3129077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3354" y="1796796"/>
            <a:ext cx="30211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TSUSAN_Internal_CRM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89320" y="2167128"/>
            <a:ext cx="2050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Domain / IP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039405" y="2139696"/>
            <a:ext cx="3129077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3354" y="2189988"/>
            <a:ext cx="30211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crm.internal.local / 10.10.20.0/24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89320" y="2560320"/>
            <a:ext cx="2050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Ports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8039405" y="2532888"/>
            <a:ext cx="3129077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93354" y="2583180"/>
            <a:ext cx="30211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443 / 8443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89320" y="2953512"/>
            <a:ext cx="2050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Server Group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8039405" y="2926080"/>
            <a:ext cx="3129077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93354" y="2976372"/>
            <a:ext cx="30211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Tokyo-DC-App-Connector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89320" y="3346704"/>
            <a:ext cx="2050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 Policy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8039405" y="3319272"/>
            <a:ext cx="3129077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93354" y="3369564"/>
            <a:ext cx="30211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営業部 + 管理端末のみAllow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89320" y="3739896"/>
            <a:ext cx="205008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Default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8039405" y="3712464"/>
            <a:ext cx="3129077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93354" y="3762756"/>
            <a:ext cx="30211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それ以外はDeny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561320" y="5111496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588752" y="5184648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SAVE / ACTIVATE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594360" y="41148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4360" y="4114800"/>
            <a:ext cx="73152" cy="118872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" y="42976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設定するもの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795528" y="4773168"/>
            <a:ext cx="331012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AppはFQDN/IP/Portでアプリとして定義し、ユーザー・グループ・端末条件でアクセスを許可します。</a:t>
            </a:r>
            <a:endParaRPr lang="en-US" sz="1360" dirty="0"/>
          </a:p>
        </p:txBody>
      </p:sp>
      <p:sp>
        <p:nvSpPr>
          <p:cNvPr id="40" name="Shape 37"/>
          <p:cNvSpPr/>
          <p:nvPr/>
        </p:nvSpPr>
        <p:spPr>
          <a:xfrm>
            <a:off x="685800" y="5806440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0392" y="5952744"/>
            <a:ext cx="10506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効果：ユーザーはネットワーク全体ではなく、許可されたアプリのみに接続</a:t>
            </a:r>
            <a:endParaRPr lang="en-US" sz="1550" dirty="0"/>
          </a:p>
        </p:txBody>
      </p:sp>
      <p:sp>
        <p:nvSpPr>
          <p:cNvPr id="42" name="Shape 39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Web App保護：ZPA AppProtectionでL7攻撃を検査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/ APPPROTECTION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6A45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Admin Portal &gt; Policies &gt; Cybersecurity &gt; Inline Security &gt; Protection Policies &gt; AppProtection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5486400" cy="434340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3970">
            <a:solidFill>
              <a:srgbClr val="B7DC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70432"/>
            <a:ext cx="5486400" cy="384048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289304"/>
            <a:ext cx="5157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Admin Portal &gt; Cybersecurity &gt; Inline Security &gt; Protection Policies &gt; AppProtection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1143000" cy="3959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78308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6A45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Policy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40664" y="2167128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Objects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40664" y="255117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Activation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40664" y="2935224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Logs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1920240" y="1773936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Rule Name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31743" y="1746504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1520" y="1796796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TSUSAN_CRM_AppProtection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167128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Applications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431743" y="2139696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1520" y="2189988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TSUSAN_Internal_CRM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560320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431743" y="2532888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1520" y="2583180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Predefined OWASP / CVE / ThreatLabz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953512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431743" y="2926080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1520" y="2976372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 / POST / PUT など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3346704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Action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31743" y="3319272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1520" y="3369564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Inspect / Block / Log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0240" y="3739896"/>
            <a:ext cx="1511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Profile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431743" y="3712464"/>
            <a:ext cx="2307031" cy="246888"/>
          </a:xfrm>
          <a:prstGeom prst="roundRect">
            <a:avLst>
              <a:gd name="adj" fmla="val 7407"/>
            </a:avLst>
          </a:prstGeom>
          <a:solidFill>
            <a:srgbClr val="F8FBFD"/>
          </a:solidFill>
          <a:ln w="8890">
            <a:solidFill>
              <a:srgbClr val="D9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1520" y="3762756"/>
            <a:ext cx="222747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SQLi, XSS, RCE, Path Traversal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74920" y="5111496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6A45D8"/>
          </a:solidFill>
          <a:ln w="12700">
            <a:solidFill>
              <a:srgbClr val="6A45D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5184648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SAVE / ACTIVATE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6446520" y="1170432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1170432"/>
            <a:ext cx="73152" cy="1234440"/>
          </a:xfrm>
          <a:prstGeom prst="rect">
            <a:avLst/>
          </a:prstGeom>
          <a:solidFill>
            <a:srgbClr val="6A45D8"/>
          </a:solidFill>
          <a:ln w="12700">
            <a:solidFill>
              <a:srgbClr val="6A45D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13533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設定するもの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47688" y="1828800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Web Application向けのインライン検査を行い、HTTP/HTTPSリクエストの攻撃内容を検知します。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2633472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2633472"/>
            <a:ext cx="73152" cy="11704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281635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防御例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47688" y="3291840"/>
            <a:ext cx="47731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 Injection、XSS、Command Injection、Path Traversal、既知CVEへの仮想パッチ。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4050792"/>
            <a:ext cx="5120640" cy="1161288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4050792"/>
            <a:ext cx="73152" cy="116128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423367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Filteringとの違い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47688" y="4709160"/>
            <a:ext cx="4773168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URLカテゴリ判定ではなく、Private Web Appに対するL7攻撃ペイロードの検査です。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806440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5952744"/>
            <a:ext cx="10506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Web App攻撃対策はZPA AppProtection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ツーサン株式会社様 向け適用イメージ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 CASE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012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60120"/>
            <a:ext cx="73152" cy="96012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1430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業務前提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1618488"/>
            <a:ext cx="1062532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生命保険代理店として顧客情報、保険相談、契約関連情報を扱う想定で、公開Webと社内アプリを分けて保護します。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331720"/>
            <a:ext cx="73152" cy="1234440"/>
          </a:xfrm>
          <a:prstGeom prst="rect">
            <a:avLst/>
          </a:prstGeom>
          <a:solidFill>
            <a:srgbClr val="1FBFE3"/>
          </a:solidFill>
          <a:ln w="12700">
            <a:solidFill>
              <a:srgbClr val="1FBFE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5146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公開Web / SaaS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2990088"/>
            <a:ext cx="491032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URL Filteringで、業務に必要な保険会社サイトを許可し、高リスクカテゴリを制御します。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331720"/>
            <a:ext cx="73152" cy="12344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25146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外部IP / Port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10528" y="2990088"/>
            <a:ext cx="491032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Firewall Filteringで、未承認外部IPや不要なポートへの通信を制御します。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3977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977640"/>
            <a:ext cx="73152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4160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社内システム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4636008"/>
            <a:ext cx="491032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ZPAでCRM・契約管理・ファイル共有などをPrivate Appとして定義し、アクセスを最小化します。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977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977640"/>
            <a:ext cx="73152" cy="1234440"/>
          </a:xfrm>
          <a:prstGeom prst="rect">
            <a:avLst/>
          </a:prstGeom>
          <a:solidFill>
            <a:srgbClr val="6A45D8"/>
          </a:solidFill>
          <a:ln w="12700">
            <a:solidFill>
              <a:srgbClr val="6A45D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4160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社内Webアプリ攻撃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10528" y="4636008"/>
            <a:ext cx="491032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AppProtectionでSQLi/XSS等を検査し、アプリ改修が難しい場合も前段で保護を追加します。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6144768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注：公開情報をもとにした適用イメージであり、実構成を断定するものではありません。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ツーサン株式会社様：制御対象と設定先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 CASE 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2743200" cy="502920"/>
          </a:xfrm>
          <a:prstGeom prst="rect">
            <a:avLst/>
          </a:prstGeom>
          <a:solidFill>
            <a:srgbClr val="00285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7957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834640" cy="502920"/>
          </a:xfrm>
          <a:prstGeom prst="rect">
            <a:avLst/>
          </a:prstGeom>
          <a:solidFill>
            <a:srgbClr val="00285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17957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設定先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080760" y="1005840"/>
            <a:ext cx="2971800" cy="502920"/>
          </a:xfrm>
          <a:prstGeom prst="rect">
            <a:avLst/>
          </a:prstGeom>
          <a:solidFill>
            <a:srgbClr val="00285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179576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設定例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052560" y="1005840"/>
            <a:ext cx="2560320" cy="502920"/>
          </a:xfrm>
          <a:prstGeom prst="rect">
            <a:avLst/>
          </a:prstGeom>
          <a:solidFill>
            <a:srgbClr val="00285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17957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02920" y="1508760"/>
            <a:ext cx="2743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1691640"/>
            <a:ext cx="25237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tsusan.co.jp / 保険会社サイト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3246120" y="1508760"/>
            <a:ext cx="28346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691640"/>
            <a:ext cx="2615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URL Filtering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9718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691640"/>
            <a:ext cx="2752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 URL Category + Allow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9052560" y="1508760"/>
            <a:ext cx="25603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1691640"/>
            <a:ext cx="234086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業務Webを安定許可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02920" y="2221992"/>
            <a:ext cx="274320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404872"/>
            <a:ext cx="25237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ギャンブル / 成人 / 匿名化Proxy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3246120" y="2221992"/>
            <a:ext cx="283464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404872"/>
            <a:ext cx="2615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URL Filtering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080760" y="2221992"/>
            <a:ext cx="297180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2404872"/>
            <a:ext cx="2752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Category + Block / Caution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9052560" y="2221992"/>
            <a:ext cx="256032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2404872"/>
            <a:ext cx="234086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業務外・高リスクWebを抑止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502920" y="2935224"/>
            <a:ext cx="2743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118104"/>
            <a:ext cx="25237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未承認外部IP・業務外Port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3246120" y="2935224"/>
            <a:ext cx="28346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118104"/>
            <a:ext cx="2615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Firewall Filtering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6080760" y="2935224"/>
            <a:ext cx="29718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3118104"/>
            <a:ext cx="2752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Destination IP Group + Block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9052560" y="2935224"/>
            <a:ext cx="25603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2288" y="3118104"/>
            <a:ext cx="234086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IP/Portベースの通信を遮断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02920" y="3648456"/>
            <a:ext cx="274320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3831336"/>
            <a:ext cx="25237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社内CRM / 契約管理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3246120" y="3648456"/>
            <a:ext cx="283464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3831336"/>
            <a:ext cx="2615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App Segment + Access Policy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6080760" y="3648456"/>
            <a:ext cx="297180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0488" y="3831336"/>
            <a:ext cx="2752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営業部 + 管理端末のみAllow</a:t>
            </a:r>
            <a:endParaRPr lang="en-US" sz="1320" dirty="0"/>
          </a:p>
        </p:txBody>
      </p:sp>
      <p:sp>
        <p:nvSpPr>
          <p:cNvPr id="44" name="Shape 42"/>
          <p:cNvSpPr/>
          <p:nvPr/>
        </p:nvSpPr>
        <p:spPr>
          <a:xfrm>
            <a:off x="9052560" y="3648456"/>
            <a:ext cx="2560320" cy="713232"/>
          </a:xfrm>
          <a:prstGeom prst="rect">
            <a:avLst/>
          </a:prstGeom>
          <a:solidFill>
            <a:srgbClr val="F7FBFD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62288" y="3831336"/>
            <a:ext cx="234086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Appを非公開化</a:t>
            </a:r>
            <a:endParaRPr lang="en-US" sz="1320" dirty="0"/>
          </a:p>
        </p:txBody>
      </p:sp>
      <p:sp>
        <p:nvSpPr>
          <p:cNvPr id="46" name="Shape 44"/>
          <p:cNvSpPr/>
          <p:nvPr/>
        </p:nvSpPr>
        <p:spPr>
          <a:xfrm>
            <a:off x="502920" y="4361688"/>
            <a:ext cx="2743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4544568"/>
            <a:ext cx="25237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社内Webアプリ攻撃</a:t>
            </a:r>
            <a:endParaRPr lang="en-US" sz="1320" dirty="0"/>
          </a:p>
        </p:txBody>
      </p:sp>
      <p:sp>
        <p:nvSpPr>
          <p:cNvPr id="48" name="Shape 46"/>
          <p:cNvSpPr/>
          <p:nvPr/>
        </p:nvSpPr>
        <p:spPr>
          <a:xfrm>
            <a:off x="3246120" y="4361688"/>
            <a:ext cx="28346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55848" y="4544568"/>
            <a:ext cx="261518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AppProtection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6080760" y="4361688"/>
            <a:ext cx="29718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0488" y="4544568"/>
            <a:ext cx="275234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OWASP/CVE Controls</a:t>
            </a:r>
            <a:endParaRPr lang="en-US" sz="1320" dirty="0"/>
          </a:p>
        </p:txBody>
      </p:sp>
      <p:sp>
        <p:nvSpPr>
          <p:cNvPr id="52" name="Shape 50"/>
          <p:cNvSpPr/>
          <p:nvPr/>
        </p:nvSpPr>
        <p:spPr>
          <a:xfrm>
            <a:off x="9052560" y="4361688"/>
            <a:ext cx="25603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DED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62288" y="4544568"/>
            <a:ext cx="234086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SQLi/XSS等を検査・ブロック</a:t>
            </a:r>
            <a:endParaRPr lang="en-US" sz="1320" dirty="0"/>
          </a:p>
        </p:txBody>
      </p:sp>
      <p:sp>
        <p:nvSpPr>
          <p:cNvPr id="54" name="Shape 52"/>
          <p:cNvSpPr/>
          <p:nvPr/>
        </p:nvSpPr>
        <p:spPr>
          <a:xfrm>
            <a:off x="685800" y="5806440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" y="5952744"/>
            <a:ext cx="105064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設定、適用対象、ログ確認をセットで運用することで、説明可能なゼロトラスト運用に近づけます。</a:t>
            </a:r>
            <a:endParaRPr lang="en-US" sz="1550" dirty="0"/>
          </a:p>
        </p:txBody>
      </p:sp>
      <p:sp>
        <p:nvSpPr>
          <p:cNvPr id="56" name="Shape 5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設定前後の効果：ZIAで外向き通信を制御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 / AFTER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914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A4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6002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207568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カテゴリ制御や許可リストがなく、業務外Webへのアクセスが残る。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17320"/>
            <a:ext cx="73152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6002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56248" y="207568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URL FilteringでAllow / Block / Cautionを適用し、Web Logsで確認。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063240"/>
            <a:ext cx="73152" cy="1234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2461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/ Port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372160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不要な宛先IPやポートへの通信を把握しづらい。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3063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063240"/>
            <a:ext cx="73152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2461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/ Port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56248" y="372160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 Firewall Filteringで宛先IP/Portを制御し、Firewall Logsで確認。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39496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5541264"/>
            <a:ext cx="105064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ZIAの目的：公開Web / 外部IP / Portの利用状況を可視化し、業務上必要な通信に絞る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設定前後の効果：ZPAで社内アプリを保護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829800" y="1737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5B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 / AFTER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585216"/>
            <a:ext cx="11384280" cy="0"/>
          </a:xfrm>
          <a:prstGeom prst="line">
            <a:avLst/>
          </a:prstGeom>
          <a:noFill/>
          <a:ln w="15240">
            <a:solidFill>
              <a:srgbClr val="1FBF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914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A4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6002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App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207568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VPN的にネットワークへ入る構成では、横展開リスクが残る。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17320"/>
            <a:ext cx="73152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6002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Private App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56248" y="207568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Access Policyでアプリ単位の許可に変更し、ZPA Logsで確認。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063240"/>
            <a:ext cx="73152" cy="1234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2461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Web攻撃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372160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社内Webアプリへの攻撃内容をアプリ前段で検査しづらい。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30632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7DC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063240"/>
            <a:ext cx="73152" cy="123444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2461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28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Web攻撃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56248" y="3721608"/>
            <a:ext cx="47731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 AppProtectionでSQLi/XSS等を検査・ブロックし、AppProtection Logsで確認。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39496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002855"/>
          </a:solidFill>
          <a:ln w="12700">
            <a:solidFill>
              <a:srgbClr val="00285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5541264"/>
            <a:ext cx="105064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ZPAの目的：社内アプリをインターネットから隠し、必要なユーザーだけに最小権限で公開する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EAF6FC"/>
          </a:solidFill>
          <a:ln w="12700">
            <a:solidFill>
              <a:srgbClr val="EAF6F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Zscaler ZIA / ZPA Filtering ｜ お客様向け説明資料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47572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4454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1412</Words>
  <Application>Microsoft Macintosh PowerPoint</Application>
  <PresentationFormat>ワイド画面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Zscaler ZIA/ZPA Filtering Customer Presentation</dc:title>
  <dc:subject>Customer-ready explanation deck with enlarged typography and spacing</dc:subject>
  <dc:creator>OpenAI</dc:creator>
  <cp:lastModifiedBy>Microsoft Office User</cp:lastModifiedBy>
  <cp:revision>2</cp:revision>
  <dcterms:created xsi:type="dcterms:W3CDTF">2026-08-06T10:46:06Z</dcterms:created>
  <dcterms:modified xsi:type="dcterms:W3CDTF">2026-08-06T10:48:09Z</dcterms:modified>
</cp:coreProperties>
</file>