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Yu Gothic"/>
              </a:rPr>
              <a:t>EOL DEV AWS環境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65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</a:rPr>
              <a:t>構築概要・アーキテクチャ・設定値説明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BFA"/>
                </a:solidFill>
                <a:latin typeface="Yu Gothic"/>
              </a:rPr>
              <a:t>GitHub / Terraform / Amplify / CloudFront / Route 53 / ACM / S3 / IAM / AWS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663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DEV Web Application | commonid-frontside-dev.aflac-ads.co.jp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1. 今回の構築目的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>
                <a:solidFill>
                  <a:srgbClr val="1F2937"/>
                </a:solidFill>
                <a:latin typeface="Yu Gothic"/>
              </a:defRPr>
            </a:pPr>
            <a:r>
              <a:t>・ GitHubでWebアプリのソースコードとTerraformコードをGit管理し、変更履歴・差分・Rollbackを可能にする。</a:t>
            </a:r>
          </a:p>
          <a:p>
            <a:pPr algn="l">
              <a:spcAft>
                <a:spcPts val="700"/>
              </a:spcAft>
              <a:defRPr sz="1700">
                <a:solidFill>
                  <a:srgbClr val="1F2937"/>
                </a:solidFill>
                <a:latin typeface="Yu Gothic"/>
              </a:defRPr>
            </a:pPr>
            <a:r>
              <a:t>・ AmplifyでGitHubからWebアプリをBuild / Deployし、DEV環境へ継続的に反映する。</a:t>
            </a:r>
          </a:p>
          <a:p>
            <a:pPr algn="l">
              <a:spcAft>
                <a:spcPts val="700"/>
              </a:spcAft>
              <a:defRPr sz="1700">
                <a:solidFill>
                  <a:srgbClr val="1F2937"/>
                </a:solidFill>
                <a:latin typeface="Yu Gothic"/>
              </a:defRPr>
            </a:pPr>
            <a:r>
              <a:t>・ CloudFront + ACM + Route 53で、独自ドメインによるHTTPSアクセスを提供する。</a:t>
            </a:r>
          </a:p>
          <a:p>
            <a:pPr algn="l">
              <a:spcAft>
                <a:spcPts val="700"/>
              </a:spcAft>
              <a:defRPr sz="1700">
                <a:solidFill>
                  <a:srgbClr val="1F2937"/>
                </a:solidFill>
                <a:latin typeface="Yu Gothic"/>
              </a:defRPr>
            </a:pPr>
            <a:r>
              <a:t>・ S3は「Terraform State」と「アプリケーションデータ」を用途分離し、アクセス権限も分離する。</a:t>
            </a:r>
          </a:p>
          <a:p>
            <a:pPr algn="l">
              <a:spcAft>
                <a:spcPts val="700"/>
              </a:spcAft>
              <a:defRPr sz="1700">
                <a:solidFill>
                  <a:srgbClr val="1F2937"/>
                </a:solidFill>
                <a:latin typeface="Yu Gothic"/>
              </a:defRPr>
            </a:pPr>
            <a:r>
              <a:t>・ IAM Groupで BillViewer / Developer / InfraEngineer / Administrator の役割を分離する。</a:t>
            </a:r>
          </a:p>
          <a:p>
            <a:pPr algn="l">
              <a:spcAft>
                <a:spcPts val="700"/>
              </a:spcAft>
              <a:defRPr sz="1700">
                <a:solidFill>
                  <a:srgbClr val="1F2937"/>
                </a:solidFill>
                <a:latin typeface="Yu Gothic"/>
              </a:defRPr>
            </a:pPr>
            <a:r>
              <a:t>・ AWS Budgetsでコストを監視し、設定したしきい値でメール通知する。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2. 今回のDEV環境：実際の主な設定値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822960"/>
          <a:ext cx="1129283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今回の設定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主な目的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公開URL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https://commonid-frontside-dev.aflac-ads.co.jp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DEV Webアプリの利用者向けURL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Route 53 Hosted Zone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commonid-frontside-dev.aflac-ads.co.jp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DNS名前解決・ACM DNS Validation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Amplify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WEB_COMPUTE / Next.js SSR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GitHubからBuild / Deploy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CloudFront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PriceClass_200 / IPv6有効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HTTPS入口・CDN・Origin振分け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 Static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/assets/* → Private S3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静的ファイルをOAC経由で配信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 Uploads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Private / Versioning / SSE-S3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ユーザーアップロード等の保存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ACM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Public Certificate / DNS Validation / us-east-1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CloudFrontのHTTPS証明書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Budget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月額 $100 / 50%・80%・100%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コスト超過のメール通知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Terraform State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専用S3 Bucket / eol/dev/services.tfstate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Terraformの状態・Lock管理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" y="62453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Yu Gothic"/>
              </a:rPr>
              <a:t>※ Budget の 80% は Forecasted、50% と 100% は Actual として設定。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3. 全体アーキテクチャ（Draw.io）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86384"/>
            <a:ext cx="1154887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80467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95959"/>
                </a:solidFill>
                <a:latin typeface="Yu Gothic"/>
              </a:rPr>
              <a:t>開発・IaC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514600"/>
            <a:ext cx="1154887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53288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95959"/>
                </a:solidFill>
                <a:latin typeface="Yu Gothic"/>
              </a:rPr>
              <a:t>Webアクセス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663440"/>
            <a:ext cx="1154887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4681727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95959"/>
                </a:solidFill>
                <a:latin typeface="Yu Gothic"/>
              </a:rPr>
              <a:t>AWS管理系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33856"/>
            <a:ext cx="1965960" cy="9326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243584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30A0"/>
                </a:solidFill>
                <a:latin typeface="Yu Gothic"/>
              </a:rP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572768"/>
            <a:ext cx="181965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Git / Terraform
Demo Web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133856"/>
            <a:ext cx="2331720" cy="9326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8648" y="1243584"/>
            <a:ext cx="220370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30A0"/>
                </a:solidFill>
                <a:latin typeface="Yu Gothic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1572768"/>
            <a:ext cx="2185415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Repository / Branch
Version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1133856"/>
            <a:ext cx="2240280" cy="9326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1243584"/>
            <a:ext cx="21122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Yu Gothic"/>
              </a:rPr>
              <a:t>Terraform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2704" y="1572768"/>
            <a:ext cx="209397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plan / apply
AWS 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133856"/>
            <a:ext cx="2514600" cy="9326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8" y="1243584"/>
            <a:ext cx="23865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AD47"/>
                </a:solidFill>
                <a:latin typeface="Yu Gothic"/>
              </a:rPr>
              <a:t>S3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572768"/>
            <a:ext cx="236829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State + Lock
[eol/dev/services.tfstate]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71800"/>
            <a:ext cx="2057400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7" y="3081528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30A0"/>
                </a:solidFill>
                <a:latin typeface="Yu Gothic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410712"/>
            <a:ext cx="191109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Browser
HTTPS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2971800"/>
            <a:ext cx="2057400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27248" y="3081528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75B5"/>
                </a:solidFill>
                <a:latin typeface="Yu Gothic"/>
              </a:rPr>
              <a:t>Route 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6392" y="3410712"/>
            <a:ext cx="191109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Hosted Zone
commonid-frontside-dev...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2971800"/>
            <a:ext cx="2057400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87568" y="3081528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75B5"/>
                </a:solidFill>
                <a:latin typeface="Yu Gothic"/>
              </a:rPr>
              <a:t>CloudFront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6712" y="3410712"/>
            <a:ext cx="191109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HTTPS / CDN
Origin routing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2743200"/>
            <a:ext cx="1691640" cy="9418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7888" y="2852928"/>
            <a:ext cx="1563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Yu Gothic"/>
              </a:rPr>
              <a:t>Amplify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3182112"/>
            <a:ext cx="1545336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Next.js SSR
DEV Branch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3822191"/>
            <a:ext cx="1691640" cy="9418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76688" y="3931920"/>
            <a:ext cx="1563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AD47"/>
                </a:solidFill>
                <a:latin typeface="Yu Gothic"/>
              </a:rPr>
              <a:t>S3 Static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5832" y="4261104"/>
            <a:ext cx="1545336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/assets/*
Private + OAC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029200"/>
            <a:ext cx="1874519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" y="5138928"/>
            <a:ext cx="174650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F75B5"/>
                </a:solidFill>
                <a:latin typeface="Yu Gothic"/>
              </a:rPr>
              <a:t>ACM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468112"/>
            <a:ext cx="172821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CloudFront証明書
us-east-1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34640" y="5029200"/>
            <a:ext cx="1874519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98648" y="5138928"/>
            <a:ext cx="174650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Yu Gothic"/>
              </a:rPr>
              <a:t>Budget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7792" y="5468112"/>
            <a:ext cx="172821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50 / 80 / 100%
Email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02352" y="5029200"/>
            <a:ext cx="1874519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6360" y="5138928"/>
            <a:ext cx="174650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30A0"/>
                </a:solidFill>
                <a:latin typeface="Yu Gothic"/>
              </a:rPr>
              <a:t>IAM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5468112"/>
            <a:ext cx="172821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Group-based
RBAC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88352" y="5029200"/>
            <a:ext cx="233172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52360" y="5138928"/>
            <a:ext cx="220370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0AD47"/>
                </a:solidFill>
                <a:latin typeface="Yu Gothic"/>
              </a:rPr>
              <a:t>S3 Uploads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61504" y="5468112"/>
            <a:ext cx="2185415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Yu Gothic"/>
              </a:rPr>
              <a:t>Private / Versioning
SSE-S3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468880" y="1600200"/>
            <a:ext cx="365760" cy="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166360" y="1600200"/>
            <a:ext cx="393192" cy="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99831" y="1600200"/>
            <a:ext cx="429769" cy="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606040" y="3465576"/>
            <a:ext cx="457200" cy="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20640" y="3465576"/>
            <a:ext cx="502920" cy="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80960" y="3246120"/>
            <a:ext cx="502919" cy="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680960" y="3703320"/>
            <a:ext cx="2331720" cy="530352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834640" y="1828800"/>
            <a:ext cx="1097280" cy="114300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583680" y="2057400"/>
            <a:ext cx="0" cy="914400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492240" y="3959352"/>
            <a:ext cx="182880" cy="1069848"/>
          </a:xfrm>
          <a:prstGeom prst="line">
            <a:avLst/>
          </a:prstGeom>
          <a:ln w="2286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508760" y="1810512"/>
            <a:ext cx="4050792" cy="3218688"/>
          </a:xfrm>
          <a:prstGeom prst="line">
            <a:avLst/>
          </a:prstGeom>
          <a:ln w="1397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749039" y="2066543"/>
            <a:ext cx="2926081" cy="2962657"/>
          </a:xfrm>
          <a:prstGeom prst="line">
            <a:avLst/>
          </a:prstGeom>
          <a:ln w="1397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989320" y="2066543"/>
            <a:ext cx="45720" cy="2962657"/>
          </a:xfrm>
          <a:prstGeom prst="line">
            <a:avLst/>
          </a:prstGeom>
          <a:ln w="1397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452360" y="2066543"/>
            <a:ext cx="1005840" cy="2962657"/>
          </a:xfrm>
          <a:prstGeom prst="line">
            <a:avLst/>
          </a:prstGeom>
          <a:ln w="1397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3657600" y="1133856"/>
            <a:ext cx="2377440" cy="932687"/>
          </a:xfrm>
          <a:prstGeom prst="line">
            <a:avLst/>
          </a:prstGeom>
          <a:ln w="1397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02920" y="6016752"/>
            <a:ext cx="11064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  <a:latin typeface="Yu Gothic"/>
              </a:rPr>
              <a:t>Webアクセス：User → Route 53 → CloudFront → （Amplify SSR / S3 Static）  ｜  IaC：GitHub → Terraform → AWS  ｜  State：Terraform → S3 Backend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4. Webアクセスの流れ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Aptos"/>
              </a:rPr>
              <a:t>https://commonid-frontside-dev.aflac-ads.co.jp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331720" cy="20116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938528"/>
            <a:ext cx="2039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5B5"/>
                </a:solidFill>
                <a:latin typeface="Yu Gothic"/>
              </a:rPr>
              <a:t>① Route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304288"/>
            <a:ext cx="203911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DNS
ドメイン名を
CloudFrontへAlias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79" y="2743200"/>
            <a:ext cx="4572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828800"/>
            <a:ext cx="2331720" cy="20116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1938528"/>
            <a:ext cx="2039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5B5"/>
                </a:solidFill>
                <a:latin typeface="Yu Gothic"/>
              </a:rPr>
              <a:t>② CloudFront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304288"/>
            <a:ext cx="203911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Edge / CDN
HTTPS終端・
Origin振分け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2743200"/>
            <a:ext cx="4572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828800"/>
            <a:ext cx="2331720" cy="20116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938528"/>
            <a:ext cx="2039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Yu Gothic"/>
              </a:rPr>
              <a:t>③ Amplify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304288"/>
            <a:ext cx="203911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Next.js SSR
通常のWeb/SSR
リクエスト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59" y="2743200"/>
            <a:ext cx="4572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98280" y="1828800"/>
            <a:ext cx="2331720" cy="20116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4584" y="1938528"/>
            <a:ext cx="20391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Yu Gothic"/>
              </a:rPr>
              <a:t>④ S3 Static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304288"/>
            <a:ext cx="203911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Yu Gothic"/>
              </a:rPr>
              <a:t>OAC + Cache
/assets/* の
静的ファイル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34340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Yu Gothic"/>
              </a:rPr>
              <a:t>ポイント：CloudFrontを共通の公開入口にし、リクエスト内容によってOriginを分ける。
・通常のページ／SSR：Amplify
・静的アセット：/assets/* → Private S3
S3へ直接アクセスさせず、CloudFront OAC経由で配信することで公開範囲を限定する。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5. GitHub：WebアプリとTerraformコードの両方を版管理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5394960" cy="19202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024128"/>
            <a:ext cx="5102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30A0"/>
                </a:solidFill>
                <a:latin typeface="Yu Gothic"/>
              </a:rPr>
              <a:t>Webアプリコード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389888"/>
            <a:ext cx="510235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GitHub Repository → Amplify
Branch push / merge を起点に Build・Deploy。
変更履歴・差分・RollbackをGitで管理。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914400"/>
            <a:ext cx="5394960" cy="19202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9944" y="1024128"/>
            <a:ext cx="5102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Yu Gothic"/>
              </a:rPr>
              <a:t>Terraformコード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1389888"/>
            <a:ext cx="510235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GitHub Repository → Terraform CLI
.tf / .tfvars.example / README 等を版管理。
terraform plan → apply でAWSリソースを変更。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11109960" cy="15544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3355848"/>
            <a:ext cx="10817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75B5"/>
                </a:solidFill>
                <a:latin typeface="Yu Gothic"/>
              </a:rPr>
              <a:t>重要な分離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21608"/>
            <a:ext cx="1081735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GitHub：コードと変更履歴を管理
S3 Backend：Terraform Stateを管理
Secret / tfstate / tfplan / access key等はRepositoryへコミットしない。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Yu Gothic"/>
              </a:rPr>
              <a:t>つまり、「GitHubがコードの正本」「S3 BackendがTerraform状態の正本」という役割分担。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6. Amplify：WebアプリのBuild / Deploy担当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822960"/>
          <a:ext cx="1115568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設定項目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今回の設定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作用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App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eol-dev-web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DEV用Amplify App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Platform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WEB_COMPUTE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SSR対応のWeb Compute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Repository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GitHub Repository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ソースコード取得元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Branch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DEV branch（変数化）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Branch単位でDEVを管理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Framework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Next.js - SSR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SSRとして実行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Auto Build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有効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GitHubの変更を自動Build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Environment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APP_ENV=dev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アプリ側へDEV環境を伝える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Auto Branch Deletion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有効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不要になったBranch環境を自動削除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Service Role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専用IAM Role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4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SSRログ等の必要権限のみを付与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" y="6263640"/>
            <a:ext cx="10881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Yu Gothic"/>
              </a:rPr>
              <a:t>Amplifyの役割は「アプリケーションのBuild / Deploy / Hosting」。Terraformはその周辺AWSリソースの構成管理を担当。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7. CloudFront：設定値とリクエスト振分け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713232"/>
          <a:ext cx="11384280" cy="565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今回の設定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理由 / 作用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Custom Domain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commonid-frontside-dev.aflac-ads.co.jp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独自ドメインをCloudFrontに割り当てる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Price Class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PriceClass_200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DEV環境で利用範囲とコストのバランスを取る設定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IPv6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有効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IPv6クライアントからも利用可能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Viewer Protocol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redirect-to-https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HTTPアクセスをHTTPSへ統一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TLS Minimum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TLSv1.2_2021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古いTLSを避ける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Default Origin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Amplify SSR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通常のWeb/SSRリクエストを転送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/assets/* Origin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Private S3 Static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静的ファイルをS3へ振分け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/assets/* Cache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Managed-CachingOptimized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静的コンテンツを効率よくキャッシュ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Amplify Cache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Managed-CachingDisabled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DEVではSSR/認証系の誤キャッシュを避ける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 Access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OAC + SigV4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S3をPrivateに保ち、CloudFrontだけにGetObjectを許可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Compress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有効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レスポンス圧縮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8. Route 53 / ACM / CloudFront：HTTPS成立まで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3383280" cy="21488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069848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75B5"/>
                </a:solidFill>
                <a:latin typeface="Yu Gothic"/>
              </a:rPr>
              <a:t>Route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435608"/>
            <a:ext cx="309067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Hosted Zone：
commonid-frontside-dev.aflac-ads.co.jp
A / AAAA Alias → CloudFront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960120"/>
            <a:ext cx="3383280" cy="21488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069848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Yu Gothic"/>
              </a:rPr>
              <a:t>ACM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435608"/>
            <a:ext cx="309067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Public Certificate
DNS Validation
CloudFront用は us-east-1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960120"/>
            <a:ext cx="3383280" cy="214884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67344" y="1069848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30A0"/>
                </a:solidFill>
                <a:latin typeface="Yu Gothic"/>
              </a:rPr>
              <a:t>CloudFront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435608"/>
            <a:ext cx="309067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Custom Alias
Viewer Certificate=ACM
HTTPS termination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200" y="2011680"/>
            <a:ext cx="484632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90688" y="2011680"/>
            <a:ext cx="493776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47472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Yu Gothic"/>
              </a:rPr>
              <a:t>構築順序の意味：
① Public Hosted Zoneを用意 → ② Parent Zone側でNS Delegation → ③ ACM DNS Validation → ④ CloudFrontに証明書を関連付け → ⑤ Route 53 A / AAAA AliasでCloudFrontへ向ける。
親ドメインからのNS Delegationが正しくないと、外部からDEV Hosted Zoneが解決できず、ACM DNS Validationも成立しない。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9. S3：3つの用途とセキュリティ設定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3520440" cy="205740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978407"/>
            <a:ext cx="32278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Yu Gothic"/>
              </a:rPr>
              <a:t>① Terraform State Bucket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344168"/>
            <a:ext cx="3227832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Yu Gothic"/>
              </a:rPr>
              <a:t>terraform.tfstate / lock
Key：eol/dev/services.tfstate
IaCの状態管理用。アプリデータとは完全分離。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868680"/>
            <a:ext cx="3520440" cy="205740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71416" y="978407"/>
            <a:ext cx="32278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75B5"/>
                </a:solidFill>
                <a:latin typeface="Yu Gothic"/>
              </a:rPr>
              <a:t>② Static 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1344168"/>
            <a:ext cx="3227832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Yu Gothic"/>
              </a:rPr>
              <a:t>/assets/* などの静的ファイル
Private Bucket
CloudFront OACのみGetObject
Versioning / SSE-S3 / Public Access 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868680"/>
            <a:ext cx="3520440" cy="205740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978407"/>
            <a:ext cx="32278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Yu Gothic"/>
              </a:rPr>
              <a:t>③ Uploads Bucket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344168"/>
            <a:ext cx="3227832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F2937"/>
                </a:solidFill>
                <a:latin typeface="Yu Gothic"/>
              </a:rPr>
              <a:t>ユーザーアップロード等
Private Bucket
Versioning / SSE-S3 / Public Access Block
Web公開Originではない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10972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Yu Gothic"/>
              </a:rPr>
              <a:t>S3の「フォルダ」は実体としてのディレクトリではなく Object Key の Prefix。
例：assets/logo.png の「assets/」はPrefix。Terraform Stateの eol/dev/services.tfstate も同じ考え方。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617720"/>
            <a:ext cx="8458200" cy="10972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75104" y="4727448"/>
            <a:ext cx="81655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30A0"/>
                </a:solidFill>
                <a:latin typeface="Yu Gothic"/>
              </a:rPr>
              <a:t>共通セキュリティ設定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" y="5093208"/>
            <a:ext cx="816559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BucketOwnerEnforced / Public Access Block 全項目true / Versioning Enabled / SSE-S3(AES256)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10. Terraform：コードとStateの役割分担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039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Aptos"/>
              </a:rPr>
              <a:t>GitHub = Source / S3 =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429000" cy="1874519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527048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30A0"/>
                </a:solidFill>
                <a:latin typeface="Yu Gothic"/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92808"/>
            <a:ext cx="3136392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*.tf
README.md
terraform.tfvars.example
変更履歴 / Pull Request /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1874519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7136" y="1527048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Yu Gothic"/>
              </a:rPr>
              <a:t>Terraform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892808"/>
            <a:ext cx="3136392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terraform fmt
terraform validate
terraform plan
terraform apply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429000" cy="1874519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1527048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Yu Gothic"/>
              </a:rPr>
              <a:t>S3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1892808"/>
            <a:ext cx="3136392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Yu Gothic"/>
              </a:rPr>
              <a:t>eol/dev/services.tfstate
State / Lock
Versioning推奨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359152"/>
            <a:ext cx="393192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99831" y="2359152"/>
            <a:ext cx="384048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886200"/>
            <a:ext cx="10881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Yu Gothic"/>
              </a:rPr>
              <a:t>同じDEV Root Module内で budget.tf / s3.tf / amplify.tf / acm.tf / cloudfront.tf / route53.tf / iam.tf などを管理。
ファイルを分けても、同一Root Moduleであれば一つの構成として plan / apply できる。
StateはGitHubへ置かず、専用S3 Backendで管理する。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11. AWS Budgets：3段階のメール通知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960120"/>
            <a:ext cx="3246120" cy="20116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069848"/>
            <a:ext cx="2953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75B5"/>
                </a:solidFill>
                <a:latin typeface="Yu Gothic"/>
              </a:rPr>
              <a:t>50%：Actual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35608"/>
            <a:ext cx="295351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Yu Gothic"/>
              </a:rPr>
              <a:t>実績コストが月額予算の50%を超えた場合
→ メール通知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960120"/>
            <a:ext cx="3246120" cy="20116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069848"/>
            <a:ext cx="2953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Yu Gothic"/>
              </a:rPr>
              <a:t>80%：Forecasted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1435608"/>
            <a:ext cx="295351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Yu Gothic"/>
              </a:rPr>
              <a:t>予測コストが月額予算の80%を超える見込みの場合
→ メール通知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960120"/>
            <a:ext cx="3246120" cy="201168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069848"/>
            <a:ext cx="2953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Yu Gothic"/>
              </a:rPr>
              <a:t>100%：Actual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435608"/>
            <a:ext cx="295351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Yu Gothic"/>
              </a:rPr>
              <a:t>実績コストが月額予算を超えた場合
→ メール通知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106984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 err="1">
                <a:solidFill>
                  <a:srgbClr val="1F4E79"/>
                </a:solidFill>
                <a:latin typeface="Aptos"/>
              </a:rPr>
              <a:t>月額予算</a:t>
            </a:r>
            <a:r>
              <a:rPr sz="2200" b="1" dirty="0">
                <a:solidFill>
                  <a:srgbClr val="1F4E79"/>
                </a:solidFill>
                <a:latin typeface="Aptos"/>
              </a:rPr>
              <a:t>：$</a:t>
            </a:r>
            <a:r>
              <a:rPr lang="en-US" altLang="zh-CN" sz="2200" b="1" dirty="0">
                <a:solidFill>
                  <a:srgbClr val="1F4E79"/>
                </a:solidFill>
                <a:latin typeface="Aptos"/>
              </a:rPr>
              <a:t>8.08</a:t>
            </a:r>
            <a:r>
              <a:rPr sz="2200" b="1" dirty="0">
                <a:solidFill>
                  <a:srgbClr val="1F4E79"/>
                </a:solidFill>
                <a:latin typeface="Aptos"/>
              </a:rPr>
              <a:t>（現在のTerraform設定値）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F2937"/>
                </a:solidFill>
                <a:latin typeface="Yu Gothic"/>
              </a:rPr>
              <a:t>通知先：AWSアカウントの登録メールアドレス（今回の設定値）
注意：AWS Budgetsは「アラート」であり、利用料金を強制的に$100で停止するHard Limitではない。
そのため、DEV環境のコスト監視・早期検知を目的として利用する。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12. IAM：Group単位で権限を分離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686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Group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主な権限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設計意図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BillViewer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AWSBillingReadOnlyAccess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請求・コスト確認を担当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Developer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Amplify Deploy / S3 Application Access / CloudFront Invalidation / Route53 Read / ACM Read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アプリ開発・デプロイ中心。インフラ変更権限は限定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InfraEngineer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ACM:* / Amplify:* / CloudFront:* / Route53:* / S3:*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DEVインフラの構築・運用を担当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InfraEngineerのDeny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Terraform State Bucketへのs3:*を明示Deny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Stateの破壊・直接操作を防止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Administrator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AdministratorAccess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緊急時・管理者用。通常ユーザーは未割当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9496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Yu Gothic"/>
              </a:rPr>
              <a:t>人に直接Policyを付けるのではなく、Group → Policy → User の構成にすることで、異動・追加・削除時の権限変更を一元化。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13. サービス別：パラメータ設定と役割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658368"/>
          <a:ext cx="1147572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Service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主要パラメータ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このWeb Appでの役割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GitHub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Repository / Branch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Webアプリ + TerraformコードのVersion Control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Amplify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WEB_COMPUTE / Next.js SSR / Auto Build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アプリのBuild・Deploy・SSR Hosting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CloudFront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PriceClass_200 / Alias / TLS1.2_2021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公開入口・HTTPS・CDN・Origin Routing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Route 53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Public Hosted Zone / A・AAAA Alias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名前解決、CloudFrontへの接続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ACM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DNS Validation / us-east-1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CloudFront用TLS証明書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 Static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Private / OAC / Versioning / SSE-S3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静的アセット保存・配信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 Uploads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Private / Versioning / SSE-S3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アップロードデータ保存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Terraform Backend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 / state key / lock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Infrastructure State管理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9545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AWS Budgets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$100 / 50・80・100%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コスト監視・メール通知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9550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IAM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BillViewer / Developer / InfraEngineer / Administrator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人・役割ごとの権限分離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14. なぜこの構成にしたのか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868680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978407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30A0"/>
                </a:solidFill>
                <a:latin typeface="Yu Gothic"/>
              </a:rP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344168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コードの履歴・レビュー・Rollbackを一元管理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868680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55664" y="978407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Yu Gothic"/>
              </a:rPr>
              <a:t>Terraform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1344168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AWS構成をコード化して再現性を確保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30552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240280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Yu Gothic"/>
              </a:rPr>
              <a:t>Amplify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606040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WebアプリのBuild / Deployを簡素化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30552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240280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Yu Gothic"/>
              </a:rPr>
              <a:t>CloudFront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606040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HTTPS・CDN・Origin分離を一つの入口に集約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92424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3502152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Yu Gothic"/>
              </a:rPr>
              <a:t>Route 53 + ACM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3867912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独自ドメイン + 正式なTLS証明書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92424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3502152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Yu Gothic"/>
              </a:rPr>
              <a:t>S3 Private + OAC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867912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静的ファイルを直接公開せずCloudFront経由に限定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54296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" y="4764024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Yu Gothic"/>
              </a:rPr>
              <a:t>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5129783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DEVでコスト超過を早期検知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654296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4764024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30A0"/>
                </a:solidFill>
                <a:latin typeface="Yu Gothic"/>
              </a:rPr>
              <a:t>IAM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129783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Yu Gothic"/>
              </a:rPr>
              <a:t>役割単位のLeast Privilegeに近づける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15. 実際の運用フロー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30A0"/>
                </a:solidFill>
                <a:latin typeface="Yu Gothic"/>
              </a:rPr>
              <a:t>A. アプリケーション変更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34416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30A0"/>
                </a:solidFill>
                <a:latin typeface="Yu Gothic"/>
              </a:rPr>
              <a:t>開発者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0992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Git Push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1792224"/>
            <a:ext cx="338328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23444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80944" y="134416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30A0"/>
                </a:solidFill>
                <a:latin typeface="Yu Gothic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170992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Branch更新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79" y="1792224"/>
            <a:ext cx="338329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23444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2664" y="134416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30A0"/>
                </a:solidFill>
                <a:latin typeface="Yu Gothic"/>
              </a:rPr>
              <a:t>Amplify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170992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Build / Deploy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1792224"/>
            <a:ext cx="338327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23444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44383" y="134416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5B5"/>
                </a:solidFill>
                <a:latin typeface="Yu Gothic"/>
              </a:rPr>
              <a:t>CloudFront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170992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公開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19" y="1792224"/>
            <a:ext cx="338329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23444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76104" y="134416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F75B5"/>
                </a:solidFill>
                <a:latin typeface="Yu Gothic"/>
              </a:rPr>
              <a:t>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170992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HTTPSアクセス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Yu Gothic"/>
              </a:rPr>
              <a:t>B. インフラ変更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3756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" y="344728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Yu Gothic"/>
              </a:rPr>
              <a:t>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381304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F2937"/>
                </a:solidFill>
                <a:latin typeface="Yu Gothic"/>
              </a:rPr>
              <a:t>Terraform Code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23160" y="3895344"/>
            <a:ext cx="338328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834639" y="333756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80944" y="344728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Yu Gothic"/>
              </a:rPr>
              <a:t>GitHub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0944" y="381304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F2937"/>
                </a:solidFill>
                <a:latin typeface="Yu Gothic"/>
              </a:rPr>
              <a:t>Version Control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54879" y="3895344"/>
            <a:ext cx="338329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166359" y="333756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12664" y="344728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D7D31"/>
                </a:solidFill>
                <a:latin typeface="Yu Gothic"/>
              </a:rPr>
              <a:t>Terraform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81304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F2937"/>
                </a:solidFill>
                <a:latin typeface="Yu Gothic"/>
              </a:rPr>
              <a:t>plan / apply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86600" y="3895344"/>
            <a:ext cx="338327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98079" y="333756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44383" y="344728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Yu Gothic"/>
              </a:rPr>
              <a:t>AWS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4383" y="381304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F2937"/>
                </a:solidFill>
                <a:latin typeface="Yu Gothic"/>
              </a:rPr>
              <a:t>Resource Change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18319" y="3895344"/>
            <a:ext cx="338329" cy="0"/>
          </a:xfrm>
          <a:prstGeom prst="line">
            <a:avLst/>
          </a:prstGeom>
          <a:ln w="2159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29800" y="3337560"/>
            <a:ext cx="1920240" cy="1115568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76104" y="3447288"/>
            <a:ext cx="16276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Yu Gothic"/>
              </a:rPr>
              <a:t>S3 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6104" y="3813048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F2937"/>
                </a:solidFill>
                <a:latin typeface="Yu Gothic"/>
              </a:rPr>
              <a:t>State / Lock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074920"/>
            <a:ext cx="1088136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Yu Gothic"/>
              </a:rPr>
              <a:t>アプリ変更とインフラ変更を分離することで、Webコンテンツの変更とAWS構成の変更を別々にレビュー・管理できる。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16. 構築順序と依存関係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941832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585216" y="978407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978407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AWS Account / CLI Profile / Terraform Backendの準備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86868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941832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4471416" y="978407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978407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Budget / IAM / S3等の基盤リソースを構築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86868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941832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8357616" y="978407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978407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Route 53 Hosted Zone作成 → Parent ZoneでNS Delegation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13432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2386584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" y="2423160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2423160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GitHub Repository / Demo Webアプリを準備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313432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2386584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4471416" y="2423160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2423160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AmplifyとGitHubを接続し、Build / Deployを確認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313432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2" y="2386584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7" name="Oval 26"/>
          <p:cNvSpPr/>
          <p:nvPr/>
        </p:nvSpPr>
        <p:spPr>
          <a:xfrm>
            <a:off x="8357616" y="2423160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0" y="2423160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ACM CertificateをDNS Validationで発行（us-east-1）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58184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38313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585216" y="3867912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3867912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CloudFront Distribution作成 → ACM / Origin / OACを関連付け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758184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62272" y="38313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  <p:sp>
        <p:nvSpPr>
          <p:cNvPr id="35" name="Oval 34"/>
          <p:cNvSpPr/>
          <p:nvPr/>
        </p:nvSpPr>
        <p:spPr>
          <a:xfrm>
            <a:off x="4471416" y="3867912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3867912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Route 53 A / AAAA AliasをCloudFrontへ設定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3758184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48472" y="38313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39" name="Oval 38"/>
          <p:cNvSpPr/>
          <p:nvPr/>
        </p:nvSpPr>
        <p:spPr>
          <a:xfrm>
            <a:off x="8357616" y="3867912"/>
            <a:ext cx="347472" cy="347472"/>
          </a:xfrm>
          <a:prstGeom prst="ellipse">
            <a:avLst/>
          </a:prstGeom>
          <a:solidFill>
            <a:srgbClr val="2F75B5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0" y="3867912"/>
            <a:ext cx="27889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Yu Gothic"/>
              </a:rPr>
              <a:t>Custom Domain / HTTPS / /assets/* / SSRを最終確認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17. 完成後の確認ポイント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868680"/>
          <a:ext cx="109270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確認項目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期待結果</a:t>
                      </a:r>
                    </a:p>
                  </a:txBody>
                  <a:tcPr marL="54864" marR="36576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https://commonid-frontside-dev.aflac-ads.co.jp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HTTPSで正常表示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Certificate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ACM public certificate / valid / CloudFrontに関連付け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/assets/*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CloudFront → Private S3へ到達できる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S3直接アクセス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Public Access BlockによりAccessDenied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Amplify Build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GitHubのDEV Branch更新でBuild成功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Terraform Plan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既存構成に対して不要な差分がない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AWS Budgets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50% / 80% / 100% の通知設定が存在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IAM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20">
                          <a:solidFill>
                            <a:srgbClr val="1F2937"/>
                          </a:solidFill>
                          <a:latin typeface="Yu Gothic"/>
                        </a:defRPr>
                      </a:pPr>
                      <a:r>
                        <a:t>Groupに応じて想定範囲の権限だけを持つ</a:t>
                      </a:r>
                    </a:p>
                  </a:txBody>
                  <a:tcPr marL="54864" marR="36576" marT="27432" marB="27432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18. 今回の構築成果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868680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978407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30A0"/>
                </a:solidFill>
                <a:latin typeface="Yu Gothic"/>
              </a:rPr>
              <a:t>Code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44168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GitHubでWebアプリ + Terraformを版管理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868680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978407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Yu Gothic"/>
              </a:rPr>
              <a:t>Infrastructure as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344168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TerraformでAWS構成を再現可能に管理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8839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258568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Yu Gothic"/>
              </a:rPr>
              <a:t>Application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24327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AmplifyでGitHub → Build → Deploy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148839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258568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75B5"/>
                </a:solidFill>
                <a:latin typeface="Yu Gothic"/>
              </a:rPr>
              <a:t>Web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24327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Route 53 → CloudFront → HTTPS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29000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538728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Yu Gothic"/>
              </a:rPr>
              <a:t>Static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04487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Private S3 + OAC + /assets/*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429000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538728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30A0"/>
                </a:solidFill>
                <a:latin typeface="Yu Gothic"/>
              </a:rPr>
              <a:t>Security / IAM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904487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Group単位の権限分離 + State Bucket保護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09159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818888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Yu Gothic"/>
              </a:rPr>
              <a:t>Cost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84648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AWS Budgetsによる3段階メール通知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709159"/>
            <a:ext cx="5349240" cy="1033271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818888"/>
            <a:ext cx="50566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Yu Gothic"/>
              </a:rPr>
              <a:t>State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5184648"/>
            <a:ext cx="5056631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Yu Gothic"/>
              </a:rPr>
              <a:t>S3 Backend + State / 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Yu Gothic"/>
              </a:rPr>
              <a:t>「コード管理」「IaC」「デプロイ」「Web公開」「権限」「コスト」を一つのDEV環境として整理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7315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19. 参考資料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8229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Yu Gothic"/>
              </a:rPr>
              <a:t>HashiCorp Terraform – S3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91440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F75B5"/>
                </a:solidFill>
                <a:latin typeface="Aptos"/>
              </a:rPr>
              <a:t>https://developer.hashicorp.com/terraform/language/backend/s3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Yu Gothic"/>
              </a:rPr>
              <a:t>HashiCorp Terraform – State / Backends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74519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F75B5"/>
                </a:solidFill>
                <a:latin typeface="Aptos"/>
              </a:rPr>
              <a:t>https://developer.hashicorp.com/terraform/language/state/backends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Yu Gothic"/>
              </a:rPr>
              <a:t>AWS Amplify – GitHub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3464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F75B5"/>
                </a:solidFill>
                <a:latin typeface="Aptos"/>
              </a:rPr>
              <a:t>https://docs.aws.amazon.com/amplify/latest/userguide/setting-up-GitHub-access.html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947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Yu Gothic"/>
              </a:rPr>
              <a:t>Amazon S3 – Using prefixes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9476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F75B5"/>
                </a:solidFill>
                <a:latin typeface="Aptos"/>
              </a:rPr>
              <a:t>https://docs.aws.amazon.com/AmazonS3/latest/userguide/using-prefixes.html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5488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Yu Gothic"/>
              </a:rPr>
              <a:t>Amazon S3 – Folders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75488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F75B5"/>
                </a:solidFill>
                <a:latin typeface="Aptos"/>
              </a:rPr>
              <a:t>https://docs.aws.amazon.com/AmazonS3/latest/userguide/using-folders.html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56248"/>
            <a:ext cx="11521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ptos"/>
              </a:rPr>
              <a:t>EOL DEV AWS環境 | 構築概要・アーキテクチャ説明 |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2281</Words>
  <Application>Microsoft Macintosh PowerPoint</Application>
  <PresentationFormat>ワイド画面</PresentationFormat>
  <Paragraphs>399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Yu Gothic</vt:lpstr>
      <vt:lpstr>Aptos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4</cp:revision>
  <dcterms:created xsi:type="dcterms:W3CDTF">2013-01-27T09:14:16Z</dcterms:created>
  <dcterms:modified xsi:type="dcterms:W3CDTF">2026-09-17T00:28:12Z</dcterms:modified>
  <cp:category/>
</cp:coreProperties>
</file>