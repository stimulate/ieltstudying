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a8554273e4437" /><Relationship Type="http://schemas.openxmlformats.org/officeDocument/2006/relationships/extended-properties" Target="/docProps/app.xml" Id="R3d0227e11aba4635" /><Relationship Type="http://schemas.openxmlformats.org/officeDocument/2006/relationships/officeDocument" Target="/ppt/presentation.xml" Id="R4435451952dd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3ea3896b44c60"/>
  </p:sldMasterIdLst>
  <p:notesMasterIdLst>
    <p:notesMasterId xmlns:r="http://schemas.openxmlformats.org/officeDocument/2006/relationships" r:id="R98d4a5aba29b4f02"/>
  </p:notesMasterIdLst>
  <p:sldIdLst>
    <p:sldId xmlns:r="http://schemas.openxmlformats.org/officeDocument/2006/relationships" id="256" r:id="Rcc5398201ecd4149"/>
    <p:sldId xmlns:r="http://schemas.openxmlformats.org/officeDocument/2006/relationships" id="257" r:id="Rab48c50a85ba4c9d"/>
    <p:sldId xmlns:r="http://schemas.openxmlformats.org/officeDocument/2006/relationships" id="258" r:id="R3032377bb4ef48bf"/>
    <p:sldId xmlns:r="http://schemas.openxmlformats.org/officeDocument/2006/relationships" id="259" r:id="R3470dcbebdb24646"/>
    <p:sldId xmlns:r="http://schemas.openxmlformats.org/officeDocument/2006/relationships" id="260" r:id="Re07bb44480fb4d56"/>
    <p:sldId xmlns:r="http://schemas.openxmlformats.org/officeDocument/2006/relationships" id="261" r:id="Rda0a6c5c8b7b4ca1"/>
    <p:sldId xmlns:r="http://schemas.openxmlformats.org/officeDocument/2006/relationships" id="262" r:id="Reedbc2b2e547407f"/>
    <p:sldId xmlns:r="http://schemas.openxmlformats.org/officeDocument/2006/relationships" id="263" r:id="R502e6f3c951c4b93"/>
    <p:sldId xmlns:r="http://schemas.openxmlformats.org/officeDocument/2006/relationships" id="264" r:id="R58a20ce56eb44842"/>
    <p:sldId xmlns:r="http://schemas.openxmlformats.org/officeDocument/2006/relationships" id="265" r:id="R74aeedb4617f4ddf"/>
    <p:sldId xmlns:r="http://schemas.openxmlformats.org/officeDocument/2006/relationships" id="266" r:id="Rfa76f848829141b4"/>
    <p:sldId xmlns:r="http://schemas.openxmlformats.org/officeDocument/2006/relationships" id="267" r:id="R4823db33bb234fc6"/>
    <p:sldId xmlns:r="http://schemas.openxmlformats.org/officeDocument/2006/relationships" id="268" r:id="Rae474ce3136b4c8e"/>
    <p:sldId xmlns:r="http://schemas.openxmlformats.org/officeDocument/2006/relationships" id="269" r:id="R2e0954b1f5f04f7c"/>
    <p:sldId xmlns:r="http://schemas.openxmlformats.org/officeDocument/2006/relationships" id="270" r:id="Rd6ef4f11bb4e49fc"/>
    <p:sldId xmlns:r="http://schemas.openxmlformats.org/officeDocument/2006/relationships" id="271" r:id="R9d94427f31cd4ec8"/>
    <p:sldId xmlns:r="http://schemas.openxmlformats.org/officeDocument/2006/relationships" id="272" r:id="R8ff64ce71b45475a"/>
    <p:sldId xmlns:r="http://schemas.openxmlformats.org/officeDocument/2006/relationships" id="273" r:id="R3cff5afc9b6d4ffc"/>
    <p:sldId xmlns:r="http://schemas.openxmlformats.org/officeDocument/2006/relationships" id="274" r:id="Rcd15feada85c4365"/>
    <p:sldId xmlns:r="http://schemas.openxmlformats.org/officeDocument/2006/relationships" id="275" r:id="R4e0070db361942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52bd062a842d3" /><Relationship Type="http://schemas.openxmlformats.org/officeDocument/2006/relationships/slideMaster" Target="/ppt/slideMasters/slideMaster1.xml" Id="R75d3ea3896b44c60" /><Relationship Type="http://schemas.openxmlformats.org/officeDocument/2006/relationships/notesMaster" Target="/ppt/notesMasters/notesMaster1.xml" Id="R98d4a5aba29b4f02" /><Relationship Type="http://schemas.openxmlformats.org/officeDocument/2006/relationships/presProps" Target="/ppt/presProps.xml" Id="R9ed61293039e4e4c" /><Relationship Type="http://schemas.openxmlformats.org/officeDocument/2006/relationships/tableStyles" Target="/ppt/tableStyles.xml" Id="Recd4f291821f41eb" /><Relationship Type="http://schemas.openxmlformats.org/officeDocument/2006/relationships/slide" Target="/ppt/slides/slide1.xml" Id="Rcc5398201ecd4149" /><Relationship Type="http://schemas.openxmlformats.org/officeDocument/2006/relationships/slide" Target="/ppt/slides/slide2.xml" Id="Rab48c50a85ba4c9d" /><Relationship Type="http://schemas.openxmlformats.org/officeDocument/2006/relationships/slide" Target="/ppt/slides/slide3.xml" Id="R3032377bb4ef48bf" /><Relationship Type="http://schemas.openxmlformats.org/officeDocument/2006/relationships/slide" Target="/ppt/slides/slide4.xml" Id="R3470dcbebdb24646" /><Relationship Type="http://schemas.openxmlformats.org/officeDocument/2006/relationships/slide" Target="/ppt/slides/slide5.xml" Id="Re07bb44480fb4d56" /><Relationship Type="http://schemas.openxmlformats.org/officeDocument/2006/relationships/slide" Target="/ppt/slides/slide6.xml" Id="Rda0a6c5c8b7b4ca1" /><Relationship Type="http://schemas.openxmlformats.org/officeDocument/2006/relationships/slide" Target="/ppt/slides/slide7.xml" Id="Reedbc2b2e547407f" /><Relationship Type="http://schemas.openxmlformats.org/officeDocument/2006/relationships/slide" Target="/ppt/slides/slide8.xml" Id="R502e6f3c951c4b93" /><Relationship Type="http://schemas.openxmlformats.org/officeDocument/2006/relationships/slide" Target="/ppt/slides/slide9.xml" Id="R58a20ce56eb44842" /><Relationship Type="http://schemas.openxmlformats.org/officeDocument/2006/relationships/slide" Target="/ppt/slides/slide10.xml" Id="R74aeedb4617f4ddf" /><Relationship Type="http://schemas.openxmlformats.org/officeDocument/2006/relationships/slide" Target="/ppt/slides/slide11.xml" Id="Rfa76f848829141b4" /><Relationship Type="http://schemas.openxmlformats.org/officeDocument/2006/relationships/slide" Target="/ppt/slides/slide12.xml" Id="R4823db33bb234fc6" /><Relationship Type="http://schemas.openxmlformats.org/officeDocument/2006/relationships/slide" Target="/ppt/slides/slide13.xml" Id="Rae474ce3136b4c8e" /><Relationship Type="http://schemas.openxmlformats.org/officeDocument/2006/relationships/slide" Target="/ppt/slides/slide14.xml" Id="R2e0954b1f5f04f7c" /><Relationship Type="http://schemas.openxmlformats.org/officeDocument/2006/relationships/slide" Target="/ppt/slides/slide15.xml" Id="Rd6ef4f11bb4e49fc" /><Relationship Type="http://schemas.openxmlformats.org/officeDocument/2006/relationships/slide" Target="/ppt/slides/slide16.xml" Id="R9d94427f31cd4ec8" /><Relationship Type="http://schemas.openxmlformats.org/officeDocument/2006/relationships/slide" Target="/ppt/slides/slide17.xml" Id="R8ff64ce71b45475a" /><Relationship Type="http://schemas.openxmlformats.org/officeDocument/2006/relationships/slide" Target="/ppt/slides/slide18.xml" Id="R3cff5afc9b6d4ffc" /><Relationship Type="http://schemas.openxmlformats.org/officeDocument/2006/relationships/slide" Target="/ppt/slides/slide19.xml" Id="Rcd15feada85c4365" /><Relationship Type="http://schemas.openxmlformats.org/officeDocument/2006/relationships/slide" Target="/ppt/slides/slide20.xml" Id="R4e0070db3619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a2cee6dcd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0b4e3ef23041f2" /><Relationship Type="http://schemas.openxmlformats.org/officeDocument/2006/relationships/notesMaster" Target="/ppt/notesMasters/notesMaster1.xml" Id="Rd51558a310eb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f7598922c14fdc" /><Relationship Type="http://schemas.openxmlformats.org/officeDocument/2006/relationships/notesMaster" Target="/ppt/notesMasters/notesMaster1.xml" Id="R608a39d23efb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740759cace4727" /><Relationship Type="http://schemas.openxmlformats.org/officeDocument/2006/relationships/notesMaster" Target="/ppt/notesMasters/notesMaster1.xml" Id="R638db1994ae946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5e56ecc9f04a04" /><Relationship Type="http://schemas.openxmlformats.org/officeDocument/2006/relationships/notesMaster" Target="/ppt/notesMasters/notesMaster1.xml" Id="R19566063335d4b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9ffc70aa1473f" /><Relationship Type="http://schemas.openxmlformats.org/officeDocument/2006/relationships/notesMaster" Target="/ppt/notesMasters/notesMaster1.xml" Id="R4c7783f49ae640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939f9bc53438a" /><Relationship Type="http://schemas.openxmlformats.org/officeDocument/2006/relationships/notesMaster" Target="/ppt/notesMasters/notesMaster1.xml" Id="R3c10e79780cb4b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1696511b84d4f" /><Relationship Type="http://schemas.openxmlformats.org/officeDocument/2006/relationships/notesMaster" Target="/ppt/notesMasters/notesMaster1.xml" Id="Rb2a8b739d4f048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c38f3c9da9403d" /><Relationship Type="http://schemas.openxmlformats.org/officeDocument/2006/relationships/notesMaster" Target="/ppt/notesMasters/notesMaster1.xml" Id="R6c8cdef3ac41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a4e7d03aec444a" /><Relationship Type="http://schemas.openxmlformats.org/officeDocument/2006/relationships/notesMaster" Target="/ppt/notesMasters/notesMaster1.xml" Id="R6e5c6c4190c846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c98ad3a6b74552" /><Relationship Type="http://schemas.openxmlformats.org/officeDocument/2006/relationships/notesMaster" Target="/ppt/notesMasters/notesMaster1.xml" Id="Ra97dcbb5fcd04d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a8b112fce34730" /><Relationship Type="http://schemas.openxmlformats.org/officeDocument/2006/relationships/notesMaster" Target="/ppt/notesMasters/notesMaster1.xml" Id="R5d910fc61bee49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2af7542ff24dc1" /><Relationship Type="http://schemas.openxmlformats.org/officeDocument/2006/relationships/notesMaster" Target="/ppt/notesMasters/notesMaster1.xml" Id="Rfb28c876fb3544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52b80f2e6f41b5" /><Relationship Type="http://schemas.openxmlformats.org/officeDocument/2006/relationships/notesMaster" Target="/ppt/notesMasters/notesMaster1.xml" Id="R01afa266ce1c4e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e070b4d7804b86" /><Relationship Type="http://schemas.openxmlformats.org/officeDocument/2006/relationships/notesMaster" Target="/ppt/notesMasters/notesMaster1.xml" Id="Rb815ab4bb25b42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f34a85d19142bc" /><Relationship Type="http://schemas.openxmlformats.org/officeDocument/2006/relationships/notesMaster" Target="/ppt/notesMasters/notesMaster1.xml" Id="R61534554130c40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8e039c4ab84b2d" /><Relationship Type="http://schemas.openxmlformats.org/officeDocument/2006/relationships/notesMaster" Target="/ppt/notesMasters/notesMaster1.xml" Id="R4537d4d7532b4f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4d9756057a4881" /><Relationship Type="http://schemas.openxmlformats.org/officeDocument/2006/relationships/notesMaster" Target="/ppt/notesMasters/notesMaster1.xml" Id="Rc56cbb4f04f742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f9401e673a40ae" /><Relationship Type="http://schemas.openxmlformats.org/officeDocument/2006/relationships/notesMaster" Target="/ppt/notesMasters/notesMaster1.xml" Id="R0458fb48fbfb4c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89126edf644a05" /><Relationship Type="http://schemas.openxmlformats.org/officeDocument/2006/relationships/notesMaster" Target="/ppt/notesMasters/notesMaster1.xml" Id="Rf97b20b3df8742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a98cd86cd04cdb" /><Relationship Type="http://schemas.openxmlformats.org/officeDocument/2006/relationships/notesMaster" Target="/ppt/notesMasters/notesMaster1.xml" Id="R016cd81c538c46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AWS icons: draw.io AWS4 stencils, https://github.com/jgraph/drawio/blob/dev/src/main/webapp/stencils/aws4.xml . Layout based on user deck. Budget values differ in original source; flagged for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0d21686cd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ccc77f6954dd1" /><Relationship Type="http://schemas.openxmlformats.org/officeDocument/2006/relationships/slideLayout" Target="/ppt/slideLayouts/slideLayout1.xml" Id="Rd8d0abb9c8e74e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0abb9c8e74e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20f3836964352" /><Relationship Type="http://schemas.openxmlformats.org/officeDocument/2006/relationships/notesSlide" Target="/ppt/notesSlides/notesSlide1.xml" Id="Rbe907f2a387d47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bbe17da9848ad" /><Relationship Type="http://schemas.openxmlformats.org/officeDocument/2006/relationships/notesSlide" Target="/ppt/notesSlides/notesSlide2.xml" Id="Raa044ce3a02e48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cd5df7db843ad" /><Relationship Type="http://schemas.openxmlformats.org/officeDocument/2006/relationships/notesSlide" Target="/ppt/notesSlides/notesSlide3.xml" Id="Rc4f355dab3e44e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64725aab544be" /><Relationship Type="http://schemas.openxmlformats.org/officeDocument/2006/relationships/image" Target="/ppt/media/image.png" Id="Rc7ccc7db02eb48fe" /><Relationship Type="http://schemas.openxmlformats.org/officeDocument/2006/relationships/image" Target="/ppt/media/image2.png" Id="R1399bb30e4f0407e" /><Relationship Type="http://schemas.openxmlformats.org/officeDocument/2006/relationships/image" Target="/ppt/media/image3.png" Id="Rb9d8301e0b834e0e" /><Relationship Type="http://schemas.openxmlformats.org/officeDocument/2006/relationships/image" Target="/ppt/media/image4.png" Id="Ra86a64b5f1e84436" /><Relationship Type="http://schemas.openxmlformats.org/officeDocument/2006/relationships/image" Target="/ppt/media/image5.png" Id="R2d8991ee45154fe5" /><Relationship Type="http://schemas.openxmlformats.org/officeDocument/2006/relationships/image" Target="/ppt/media/image6.png" Id="R375672b08dd94982" /><Relationship Type="http://schemas.openxmlformats.org/officeDocument/2006/relationships/image" Target="/ppt/media/image7.png" Id="Rcd165c8752e04c12" /><Relationship Type="http://schemas.openxmlformats.org/officeDocument/2006/relationships/image" Target="/ppt/media/image8.png" Id="R7feb132685c64791" /><Relationship Type="http://schemas.openxmlformats.org/officeDocument/2006/relationships/image" Target="/ppt/media/image9.png" Id="R939452eca274479c" /><Relationship Type="http://schemas.openxmlformats.org/officeDocument/2006/relationships/image" Target="/ppt/media/image10.png" Id="Rd7a71a1d25874461" /><Relationship Type="http://schemas.openxmlformats.org/officeDocument/2006/relationships/notesSlide" Target="/ppt/notesSlides/notesSlide4.xml" Id="R7cbc2d9012694a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8dfd458cb43b2" /><Relationship Type="http://schemas.openxmlformats.org/officeDocument/2006/relationships/image" Target="/ppt/media/image11.png" Id="Rf223db3b0f62473e" /><Relationship Type="http://schemas.openxmlformats.org/officeDocument/2006/relationships/image" Target="/ppt/media/image12.png" Id="R29283367d39940dc" /><Relationship Type="http://schemas.openxmlformats.org/officeDocument/2006/relationships/image" Target="/ppt/media/image13.png" Id="R33f341bdbffb4893" /><Relationship Type="http://schemas.openxmlformats.org/officeDocument/2006/relationships/image" Target="/ppt/media/image14.png" Id="Rb6d0109decba4d78" /><Relationship Type="http://schemas.openxmlformats.org/officeDocument/2006/relationships/notesSlide" Target="/ppt/notesSlides/notesSlide5.xml" Id="R15c7a4cd10cb4c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f718cdc5642c8" /><Relationship Type="http://schemas.openxmlformats.org/officeDocument/2006/relationships/notesSlide" Target="/ppt/notesSlides/notesSlide6.xml" Id="Rdb4eca352a9e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9025d854240fc" /><Relationship Type="http://schemas.openxmlformats.org/officeDocument/2006/relationships/notesSlide" Target="/ppt/notesSlides/notesSlide7.xml" Id="Rd4bf8db25f7640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7410f7b3d4882" /><Relationship Type="http://schemas.openxmlformats.org/officeDocument/2006/relationships/notesSlide" Target="/ppt/notesSlides/notesSlide8.xml" Id="R94b67f37ec4741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84f6dcd04f1e" /><Relationship Type="http://schemas.openxmlformats.org/officeDocument/2006/relationships/image" Target="/ppt/media/image15.png" Id="Ra4155a9ba1854372" /><Relationship Type="http://schemas.openxmlformats.org/officeDocument/2006/relationships/image" Target="/ppt/media/image16.png" Id="R8cc511b4803545ef" /><Relationship Type="http://schemas.openxmlformats.org/officeDocument/2006/relationships/image" Target="/ppt/media/image17.png" Id="R235fdd1599c0404b" /><Relationship Type="http://schemas.openxmlformats.org/officeDocument/2006/relationships/notesSlide" Target="/ppt/notesSlides/notesSlide9.xml" Id="R456fafa7d37441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8fffbbf054c9e" /><Relationship Type="http://schemas.openxmlformats.org/officeDocument/2006/relationships/notesSlide" Target="/ppt/notesSlides/notesSlide10.xml" Id="Rf659834e8ab14f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1dca902594037" /><Relationship Type="http://schemas.openxmlformats.org/officeDocument/2006/relationships/notesSlide" Target="/ppt/notesSlides/notesSlide11.xml" Id="R8aa54b0ff79b4e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391a662854280" /><Relationship Type="http://schemas.openxmlformats.org/officeDocument/2006/relationships/notesSlide" Target="/ppt/notesSlides/notesSlide12.xml" Id="Re382d05f8b544c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692eb1a93466a" /><Relationship Type="http://schemas.openxmlformats.org/officeDocument/2006/relationships/notesSlide" Target="/ppt/notesSlides/notesSlide13.xml" Id="Rb7c307857c1846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225833aae4de6" /><Relationship Type="http://schemas.openxmlformats.org/officeDocument/2006/relationships/notesSlide" Target="/ppt/notesSlides/notesSlide14.xml" Id="R486649fb598242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ca73035534289" /><Relationship Type="http://schemas.openxmlformats.org/officeDocument/2006/relationships/notesSlide" Target="/ppt/notesSlides/notesSlide15.xml" Id="Re02bec9a95a248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1c763357d43d7" /><Relationship Type="http://schemas.openxmlformats.org/officeDocument/2006/relationships/image" Target="/ppt/media/image18.png" Id="R293311c0b0b14f67" /><Relationship Type="http://schemas.openxmlformats.org/officeDocument/2006/relationships/image" Target="/ppt/media/image19.png" Id="R83856cc254e84515" /><Relationship Type="http://schemas.openxmlformats.org/officeDocument/2006/relationships/image" Target="/ppt/media/image20.png" Id="Ra89b9a435f7a4aab" /><Relationship Type="http://schemas.openxmlformats.org/officeDocument/2006/relationships/image" Target="/ppt/media/image21.png" Id="R17ea04b54054479f" /><Relationship Type="http://schemas.openxmlformats.org/officeDocument/2006/relationships/image" Target="/ppt/media/image22.png" Id="Rc8d01408eb5b464c" /><Relationship Type="http://schemas.openxmlformats.org/officeDocument/2006/relationships/image" Target="/ppt/media/image23.png" Id="Rf2e13df0174d4c02" /><Relationship Type="http://schemas.openxmlformats.org/officeDocument/2006/relationships/notesSlide" Target="/ppt/notesSlides/notesSlide16.xml" Id="Rf7727c7893f343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11b66b3d74039" /><Relationship Type="http://schemas.openxmlformats.org/officeDocument/2006/relationships/notesSlide" Target="/ppt/notesSlides/notesSlide17.xml" Id="R469fa1b2e73849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42713a38e47e9" /><Relationship Type="http://schemas.openxmlformats.org/officeDocument/2006/relationships/notesSlide" Target="/ppt/notesSlides/notesSlide18.xml" Id="Rb8e1a91abf0043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57d7ac1fa4c74" /><Relationship Type="http://schemas.openxmlformats.org/officeDocument/2006/relationships/notesSlide" Target="/ppt/notesSlides/notesSlide19.xml" Id="R38758ca7364e43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c9f7fca0d41c4" /><Relationship Type="http://schemas.openxmlformats.org/officeDocument/2006/relationships/notesSlide" Target="/ppt/notesSlides/notesSlide20.xml" Id="R97cd360bc71b40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DC9DF-B961-406C-895F-0F71BF19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3656E-4014-42A5-8AE4-21B9576B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4654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AWS DEV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6B53D-7CAF-4F77-AE9A-C4F61E4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EOL DEV AWS環境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D5F55-A6C9-4F7C-AF86-B9F8328D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構築概要・アーキテクチャ・設定値説明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13A00-CCCC-4173-968A-B60ADAD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AAB7C4"/>
                </a:solidFill>
                <a:latin typeface="Noto Sans CJK JP"/>
                <a:ea typeface="Noto Sans CJK JP"/>
                <a:cs typeface="Noto Sans CJK JP"/>
              </a:rPr>
              <a:t>GitHub  /  Terraform  /  Amplify  /  CloudFront  /  Route 53  /  ACM  /  S3  /  IAM  /  AWS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4897F-E816-41E7-AFE2-8677E69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64770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D3B49"/>
          </a:solidFill>
          <a:ln xmlns:a="http://schemas.openxmlformats.org/drawingml/2006/main" w="9525">
            <a:solidFill>
              <a:srgbClr val="4655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98222-099A-403A-B836-D7835257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DEV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97EC-B0E9-4E81-B686-898B002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commonid-frontside-dev.aflac-ads.co.jp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2F9F1-3244-4F02-AEF3-E0E7616D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191A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8191A2"/>
                </a:solidFill>
                <a:latin typeface="Noto Sans CJK JP"/>
                <a:ea typeface="Noto Sans CJK JP"/>
                <a:cs typeface="Noto Sans CJK JP"/>
              </a:rPr>
              <a:t>EOL DEV AWS環境  |  構築概要説明</a:t>
            </a:r>
          </a:p>
        </p:txBody>
      </p:sp>
    </p:spTree>
    <p:extLst>
      <p:ext uri="{BB962C8B-B14F-4D97-AF65-F5344CB8AC3E}">
        <p14:creationId xmlns:p14="http://schemas.microsoft.com/office/powerpoint/2010/main" val="617201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19971-593A-42DA-9D92-5230C75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F054B-E698-4843-A099-90C602AD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003FB-ACD2-482E-BC42-DD5B9C5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今回の構築目的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92E0E-F525-4E04-AD30-6E37826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EOL DEV AWS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0FED6-BFB9-443D-8257-81C540C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56CD2-9AA1-440C-B6B0-A95F39CA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5429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930F3-8BE2-4C62-82F4-851C877A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5ADE6-01AA-4462-B37B-C64CC21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コード管理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A9E45-0440-497E-9664-C11F121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GitHubでWebアプリとTerraformを版管理し、差分・レビュー・Rollbackを可能にする。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60A3F-EE11-4248-BCF4-8E9589FA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76300"/>
            <a:ext cx="5429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31952-154F-4A04-A56F-2CB222E6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763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8F326-0E37-40C8-A9EC-B0A843A2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906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継続デリバリー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4B5C8-DA2E-40D7-BCB2-9B692F8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954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AmplifyがGitHubのDEV BranchをBuild / Deployし、変更を継続的に反映する。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B8889-6684-41E4-BBD2-BE466DE2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76500"/>
            <a:ext cx="5429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E1D6D-00DF-45E5-BC43-BCE41893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765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72D3"/>
          </a:solidFill>
          <a:ln xmlns:a="http://schemas.openxmlformats.org/drawingml/2006/main" w="0">
            <a:solidFill>
              <a:srgbClr val="0972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12811-6268-474E-8EEA-039B0D56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安全なWeb公開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5A682-4A0E-4553-9E7C-85804B6C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53・ACM・CloudFrontで独自ドメインのHTTPSアクセスを提供する。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7F19B-14FA-48C9-9508-F87899AC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5429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4A4C6-3A1A-4616-BD89-737C8C50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8F4E9-50D9-48C0-BDF6-029A1901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データ分離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0F69B-1A8C-427F-A097-15FD72C2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State、静的ファイル、アップロードデータをS3で用途別に分離する。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E82A4-7F3F-4ED9-898D-B00A1DB0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76700"/>
            <a:ext cx="5429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E5B4D-DCE2-4164-AC43-5B13BADC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767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C6228-93BC-4A95-830A-888F5E60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権限管理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E2E5B-DE49-45A6-9414-7A38737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IAM GroupでBillViewer / Developer / InfraEngineer / Administratorを分離する。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37A74-E001-4D8E-9CA2-C2E0374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5429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417F3-2711-4293-9842-5FA90DE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515"/>
          </a:solidFill>
          <a:ln xmlns:a="http://schemas.openxmlformats.org/drawingml/2006/main" w="0">
            <a:solidFill>
              <a:srgbClr val="D9151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AAFB3-A2F4-4FF2-A175-BFB7D3A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コスト監視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8CCD6-6EE3-4D11-848E-8779783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10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AWS Budgetsで50%・80%・100%のしきい値を監視し、メール通知する。</a:t>
            </a:r>
          </a:p>
        </p:txBody>
      </p:sp>
    </p:spTree>
    <p:extLst>
      <p:ext uri="{BB962C8B-B14F-4D97-AF65-F5344CB8AC3E}">
        <p14:creationId xmlns:p14="http://schemas.microsoft.com/office/powerpoint/2010/main" val="795081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F7729-0AC5-4DFD-98C2-CD6756F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3358E-FDF7-4A38-A93F-D9A94034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FBA5B-0368-4F38-8795-1B097CF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DEV環境の主要設定値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48097-6BAA-4C4D-B110-7749AC4B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PARAMETER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41467-02A3-4510-AC97-F8304A5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9DEB1-E9E3-4086-9D36-BAF09FCD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ENV: DEV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0BFD0-E080-4D35-97E7-53C63E5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247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REGION: us-east-1 ※ACM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74936-8C5E-4A84-B125-115DC285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52475"/>
            <a:ext cx="1762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D91515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BUDGET: $100 / month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38150" y="1143000"/>
          <a:ext xmlns:a="http://schemas.openxmlformats.org/drawingml/2006/main" cx="11315700" cy="487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33875"/>
                <a:gridCol w="4600575"/>
              </a:tblGrid>
              <a:tr h="48768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今回の設定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主な目的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公開URL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https://commonid-frontside-dev.aflac-ads.co.jp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DEV Webアプリの利用者向けURL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Route 53 Hosted Zone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commonid-frontside-dev.aflac-ads.co.jp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DNS名前解決・ACM DNS Validation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Amplify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WEB_COMPUTE / Next.js SSR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GitHubからBuild / Deploy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CloudFront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PriceClass_200 / IPv6有効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HTTPS入口・CDN・Origin振分け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 Static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/assets/* → Private S3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静的ファイルをOAC経由で配信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 Uploads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Private / Versioning / SSE-S3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ユーザーアップロード等の保存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ACM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Public Certificate / DNS Validation / us-east-1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CloudFrontのHTTPS証明書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Budget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月額 $100 / 50%・80%・100%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コスト超過のメール通知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Terraform State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専用S3 Bucket / eol/dev/services.tfstate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Terraformの状態・Lock管理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640E3-1238-4B37-9641-3A2DCF49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62675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Budgetの80%はForecasted、50%と100%はActualとして設定。</a:t>
            </a:r>
          </a:p>
        </p:txBody>
      </p:sp>
    </p:spTree>
    <p:extLst>
      <p:ext uri="{BB962C8B-B14F-4D97-AF65-F5344CB8AC3E}">
        <p14:creationId xmlns:p14="http://schemas.microsoft.com/office/powerpoint/2010/main" val="221874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E8C4BC-E832-44E7-B4E7-ABF3784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73190-5119-4826-B90E-DA7D988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31717-8ED8-400B-A37B-6CF9EB7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全体アーキテクチャ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4F49C-9728-48C0-B0E0-8C7CDFDA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AWS / DRAW.IO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1E2BA-183D-4F35-8A8A-D0AD668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B926D-9A9F-4387-8180-3C7CD86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76300"/>
            <a:ext cx="8991600" cy="5200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3511C-1EB4-4788-8864-460B41BD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14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AWS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81FFB-3A48-4E32-A63D-3E31180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52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External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7D76A-27FE-4FA1-AA6C-91ADEDA4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19240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2F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cc7db02eb48fe"/>
          <a:stretch xmlns:a="http://schemas.openxmlformats.org/drawingml/2006/main"/>
        </p:blipFill>
        <p:spPr>
          <a:xfrm xmlns:a="http://schemas.openxmlformats.org/drawingml/2006/main">
            <a:off x="571500" y="19716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81DB5-44F6-46B6-8E73-ECBA63E8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357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69623-93AF-4BFC-B8A0-50D615B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62175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Browser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9D9D4-ECED-4FA1-A7E9-B3707C31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19240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36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26CE1-B17A-491E-A23F-23D38F5A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8A167-9F28-4CF9-9691-A15646A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5757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CD5E3-230A-424A-A792-853E1C4B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86175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App + Terraform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6C99E-E30F-41E3-AC93-90D8468C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9240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705E6-9F1A-4C79-B4DE-CA1189F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IaC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8D74F-6897-4F97-B3E5-89E0E63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E5389-2E37-46C4-8172-E94D75B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2550"/>
            <a:ext cx="127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CLI / plan + apply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E4D64-19F7-4F63-B193-DC0D3346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466850"/>
            <a:ext cx="21907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4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9bb30e4f0407e"/>
          <a:stretch xmlns:a="http://schemas.openxmlformats.org/drawingml/2006/main"/>
        </p:blipFill>
        <p:spPr>
          <a:xfrm xmlns:a="http://schemas.openxmlformats.org/drawingml/2006/main">
            <a:off x="3286125" y="16002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1E061-6E25-401F-AFD0-90878BD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5621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9B15E-AB31-479E-9CB4-18AEA2C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90700"/>
            <a:ext cx="1543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DNS / CloudFront Alias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E3334-BF48-4CB1-9F03-87B088A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2675"/>
            <a:ext cx="2095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4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8301e0b834e0e"/>
          <a:stretch xmlns:a="http://schemas.openxmlformats.org/drawingml/2006/main"/>
        </p:blipFill>
        <p:spPr>
          <a:xfrm xmlns:a="http://schemas.openxmlformats.org/drawingml/2006/main">
            <a:off x="6057900" y="24860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5D4C9-A564-4D87-85C8-D24C1036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7925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DFD2A-7365-468B-9A4D-C23F7ACC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76525"/>
            <a:ext cx="1447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HTTPS / CDN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6CE1D-A55D-433D-89C1-D544F50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24000"/>
            <a:ext cx="2190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34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a64b5f1e84436"/>
          <a:stretch xmlns:a="http://schemas.openxmlformats.org/drawingml/2006/main"/>
        </p:blipFill>
        <p:spPr>
          <a:xfrm xmlns:a="http://schemas.openxmlformats.org/drawingml/2006/main">
            <a:off x="9305925" y="16573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95F7D-72E8-4F81-926B-69C3D7B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6192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Amplify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A2228C-7D7A-4468-9A16-C91FA793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84785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Next.js SSR / DEV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3DB893-0E5A-4F6B-AB50-AF6E589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14675"/>
            <a:ext cx="2190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1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991ee45154fe5"/>
          <a:stretch xmlns:a="http://schemas.openxmlformats.org/drawingml/2006/main"/>
        </p:blipFill>
        <p:spPr>
          <a:xfrm xmlns:a="http://schemas.openxmlformats.org/drawingml/2006/main">
            <a:off x="9305925" y="32480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D7B3E2-80F7-436E-8701-74FEE49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0992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 Static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6FBAC2-2149-497B-B85B-3255453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385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Private / OAC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066564-27AB-459D-A926-B21B1A9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8250"/>
            <a:ext cx="2095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34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672b08dd94982"/>
          <a:stretch xmlns:a="http://schemas.openxmlformats.org/drawingml/2006/main"/>
        </p:blipFill>
        <p:spPr>
          <a:xfrm xmlns:a="http://schemas.openxmlformats.org/drawingml/2006/main">
            <a:off x="6057900" y="1371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A44764-73C7-4C78-B0EE-0D88302A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3350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ACM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F672B1-B9E4-4A1A-9279-D28D14EB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1447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TLS / us-east-1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496D06-7323-425F-854F-6AD8AE70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10125"/>
            <a:ext cx="23336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1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65c8752e04c12"/>
          <a:stretch xmlns:a="http://schemas.openxmlformats.org/drawingml/2006/main"/>
        </p:blipFill>
        <p:spPr>
          <a:xfrm xmlns:a="http://schemas.openxmlformats.org/drawingml/2006/main">
            <a:off x="3286125" y="49434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7EA3CA-55DE-4FAE-B80E-8AE915CF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9053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 Backend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E8BEA4-DA6E-4535-969F-3F4CF9B7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133975"/>
            <a:ext cx="1685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State / Lock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AF201B-6776-471E-B9EA-A515FA7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0125"/>
            <a:ext cx="2095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34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b132685c64791"/>
          <a:stretch xmlns:a="http://schemas.openxmlformats.org/drawingml/2006/main"/>
        </p:blipFill>
        <p:spPr>
          <a:xfrm xmlns:a="http://schemas.openxmlformats.org/drawingml/2006/main">
            <a:off x="6057900" y="49434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BFD669-13DF-41B5-81C7-DC98A32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05375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IAM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B3842E-512B-4B51-A444-2BE7EF74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33975"/>
            <a:ext cx="1447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Group-based RBAC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81D27D-64F4-4460-8049-EDBB0E79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14825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1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452eca274479c"/>
          <a:stretch xmlns:a="http://schemas.openxmlformats.org/drawingml/2006/main"/>
        </p:blipFill>
        <p:spPr>
          <a:xfrm xmlns:a="http://schemas.openxmlformats.org/drawingml/2006/main">
            <a:off x="9305925" y="44481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9CE3D6-912A-4C73-8D03-44D400D0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100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Budgets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5B25B9-5D67-4E80-A4EC-D6ADB20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3867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50 / 80 / 100%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F7882F-D24F-4418-9A29-8A1F25E4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10175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1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71a1d25874461"/>
          <a:stretch xmlns:a="http://schemas.openxmlformats.org/drawingml/2006/main"/>
        </p:blipFill>
        <p:spPr>
          <a:xfrm xmlns:a="http://schemas.openxmlformats.org/drawingml/2006/main">
            <a:off x="9305925" y="5343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24CF21-E6B7-4B5E-8027-5B36717E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30542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 Uploads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5344B4-8BF1-4B1A-A9C2-A577CE0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5340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Private / SSE-S3</a:t>
            </a:r>
          </a:p>
        </p:txBody>
      </p:sp>
      <p:cxnSp>
        <p:nvCxnSpPr>
          <p:cNvPr id="128" name=""/>
          <p:cNvCxnSpPr>
            <a:stCxn xmlns:a="http://schemas.openxmlformats.org/drawingml/2006/main" id="9" idx="0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419225" y="1838325"/>
            <a:ext cx="1752600" cy="95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5F6B7A"/>
            </a:solidFill>
            <a:prstDash val="dash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381250" y="2209800"/>
            <a:ext cx="356235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039100" y="1914525"/>
            <a:ext cx="1152525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2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039100" y="2762250"/>
            <a:ext cx="1152525" cy="742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132" name=""/>
          <p:cNvCxnSpPr>
            <a:stCxn xmlns:a="http://schemas.openxmlformats.org/drawingml/2006/main" id="37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991350" y="19621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dash"/>
            <a:tail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19225" y="410527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dash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1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381250" y="5210175"/>
            <a:ext cx="79057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dash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EF931C-A0DD-441A-956C-74D5E72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609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DNS query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5CE537-176A-4D4A-A27B-641F0D0A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2279B5-9E81-4B82-BA54-6C53B2D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5262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Default / SSR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324690-0422-455E-B6E9-E46F321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/assets/*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210A52-F6FE-42F6-9DB3-306A0A76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GitHub → Amplify: Build / Deploy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226D3D-F539-45F9-90A9-C513F5A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5762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Terraform: AWSリソース構成管理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11DA3E-2499-4F85-A7FE-FDCC4D6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2672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IAM / Budgets / S3 Uploadsは管理・保存用サービス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8B1146-8681-45A7-9CE8-380F612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実線：Web配信   破線：DNS・証明書・State管理   AWSサービスはCloud境界内に配置</a:t>
            </a:r>
          </a:p>
        </p:txBody>
      </p:sp>
    </p:spTree>
    <p:extLst>
      <p:ext uri="{BB962C8B-B14F-4D97-AF65-F5344CB8AC3E}">
        <p14:creationId xmlns:p14="http://schemas.microsoft.com/office/powerpoint/2010/main" val="169968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54CC22-8E6C-45DB-BC3F-86FC610B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A36CD-7E94-4E8E-A6D5-A842764D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49D70-EE6A-4043-A10A-D85C4283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Webアクセスの流れ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9BC35-2C5C-4E63-8B8D-4B5C0040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REQUEST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BCCEE-ACCA-41DF-B151-B3E771A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EC356-EE92-42F3-A709-9EEB7DAD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https://commonid-frontside-dev.aflac-ads.co.jp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5A830-95A8-46BB-A36B-09ED6CCF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1431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3db3b0f62473e"/>
          <a:stretch xmlns:a="http://schemas.openxmlformats.org/drawingml/2006/main"/>
        </p:blipFill>
        <p:spPr>
          <a:xfrm xmlns:a="http://schemas.openxmlformats.org/drawingml/2006/main">
            <a:off x="733425" y="17049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C8D96-5BE1-4FB4-8B5E-F6B23AF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6687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9661B-FC3D-4313-9CD2-802991D3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95475"/>
            <a:ext cx="1495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DNS / CloudFront Alias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2075-81E1-48E5-BFC5-951B0CC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21431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83367d39940dc"/>
          <a:stretch xmlns:a="http://schemas.openxmlformats.org/drawingml/2006/main"/>
        </p:blipFill>
        <p:spPr>
          <a:xfrm xmlns:a="http://schemas.openxmlformats.org/drawingml/2006/main">
            <a:off x="3590925" y="17049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61B5D-BA6F-4721-B5DB-384420D2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66875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6093A-48CB-4C83-969E-31AD6403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895475"/>
            <a:ext cx="1495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HTTPS termination / CDN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A2FA1-3DDC-4E69-874A-62353FAB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23950"/>
            <a:ext cx="21431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341bdbffb4893"/>
          <a:stretch xmlns:a="http://schemas.openxmlformats.org/drawingml/2006/main"/>
        </p:blipFill>
        <p:spPr>
          <a:xfrm xmlns:a="http://schemas.openxmlformats.org/drawingml/2006/main">
            <a:off x="6829425" y="12573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2367A-211B-4C79-A661-CC2D4D3B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21920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Amplify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CBABE-B861-4B7F-85EC-85F52CE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447800"/>
            <a:ext cx="1495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通常ページ / SSR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90B82-2287-45C6-8519-E32A302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14600"/>
            <a:ext cx="21431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0109decba4d78"/>
          <a:stretch xmlns:a="http://schemas.openxmlformats.org/drawingml/2006/main"/>
        </p:blipFill>
        <p:spPr>
          <a:xfrm xmlns:a="http://schemas.openxmlformats.org/drawingml/2006/main">
            <a:off x="6829425" y="2647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005B5-6256-4993-A13A-470624E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098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 Static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EA166-0030-483D-A9BE-17C2559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38450"/>
            <a:ext cx="1495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/assets/* / OAC</a:t>
            </a:r>
          </a:p>
        </p:txBody>
      </p: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62250" y="20193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19750" y="1571625"/>
            <a:ext cx="1095375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619750" y="2019300"/>
            <a:ext cx="109537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7D4DA-081C-4A7A-8562-E2D73624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1  DNS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74DC1-5058-4CD1-ADBB-1A34BF6B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2  Public entry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A07B2-4FE7-467C-8ED5-B87D790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66825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A3F6B-85A8-4D6B-8E3D-8172BEEB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668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FFF1D-B631-4E00-9F6A-B84C096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811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Origin routing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A4F98-4A3C-435F-BEB9-2AC75C9B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85925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通常ページとSSRリクエストはAmplifyへ転送。</a:t>
            </a:r>
          </a:p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/assets/* はPrivate S3へ転送。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EB0DB-5AB5-42D7-AE74-CD833E0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286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8A7CF-AADA-4E48-933F-E6B2C18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E9C1BA-B472-4929-A500-03D57FE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52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Security 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2ECBBE-CB92-473B-988D-F7C486C2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57550"/>
            <a:ext cx="196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S3への直接アクセスを防ぎ、</a:t>
            </a:r>
          </a:p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CloudFrontのOAC経由で配信する。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08828-152A-4F56-9420-B536E2C4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CloudFrontを共通の公開入口にし、パスに応じてOriginを振り分ける。</a:t>
            </a:r>
          </a:p>
        </p:txBody>
      </p:sp>
    </p:spTree>
    <p:extLst>
      <p:ext uri="{BB962C8B-B14F-4D97-AF65-F5344CB8AC3E}">
        <p14:creationId xmlns:p14="http://schemas.microsoft.com/office/powerpoint/2010/main" val="747125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3EF5E-1181-4D4D-8171-D8FC6D6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ED02A-0523-4D36-BF7D-2A127331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1A0BA-92F6-447A-997F-8115E5BE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GitHub：WebアプリとTerraformコードの版管理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B328C-C020-42FF-A1BA-52261A32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SOURCE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C249B-AD18-454D-9FDB-CF7D2A9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4CDFF-45A6-48C6-9973-363694F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53149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031CC-CFC6-4CD6-9D45-513AD2A3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A316-2597-4C0B-BADB-F813BF91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Webアプリコード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7CADC-A504-4C4C-B423-67D3A63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 Repository → Amplify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Branch push / mergeを起点にBuild・Deploy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変更履歴・差分・RollbackをGitで管理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55B85-4379-4806-89EF-DB81A9FE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33450"/>
            <a:ext cx="53149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9EF90-2D4D-4629-A270-B7B9BB23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33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A57C2-7B26-43FC-BBDF-332A77E1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047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Terraformコード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8DDC9-CB61-48CB-BB8F-5C7ADE29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52550"/>
            <a:ext cx="4991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 Repository → Terraform CLI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.tf / .tfvars.example / README等を版管理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plan → applyでAWSを変更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3688F-455D-43FB-9E0A-9892644A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820400" cy="196215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AE869-B80D-48C3-B50C-98B9C690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役割分担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6A331-0907-4552-9CEA-F8A1C9E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9FA06-BE67-45F8-9C72-23DEFC4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コードと変更履歴の正本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5C9FC-C47E-4D2D-ACB2-E645DBA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S3 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5DB30-6525-4568-BCA4-6EB67EA9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Stateの正本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E8C48-E0CB-4BF6-85FB-2F5363C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Repositoryへコミットしない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E4348-A018-4702-A0AB-1BD5065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371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D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Secret / tfstate / tfplan / access key</a:t>
            </a:r>
          </a:p>
        </p:txBody>
      </p:sp>
    </p:spTree>
    <p:extLst>
      <p:ext uri="{BB962C8B-B14F-4D97-AF65-F5344CB8AC3E}">
        <p14:creationId xmlns:p14="http://schemas.microsoft.com/office/powerpoint/2010/main" val="537422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3D7FC-9FB0-4E1B-BE55-38AA8A91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E5385-A9C2-44D0-8940-6EF07EA2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28964-D60A-4ECC-944C-37C6FA69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Amplify：Build / Deploy設定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B4AF4-E544-42B4-823F-0A76C0A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PARAMETER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1AAAF-751F-487C-86F9-B369E46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D5B46-AAC0-4805-8A02-4BF45D8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WEB_COMPUTE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B301C-16C8-46A4-BB8F-496ACFA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524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Next.js SSR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09BC8-6394-4AB2-8C5C-9D200500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52475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Auto Build: ON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38150" y="1152525"/>
          <a:ext xmlns:a="http://schemas.openxmlformats.org/drawingml/2006/main" cx="113157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4838700"/>
              </a:tblGrid>
              <a:tr h="4857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設定項目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今回の設定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作用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App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eol-dev-web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DEV用Amplify App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Platform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WEB_COMPUTE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SSR対応のWeb Compute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Repository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GitHub Repository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ソースコード取得元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Branch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DEV branch（変数化）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Branch単位でDEVを管理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Framework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Next.js - SSR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SSRとして実行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Auto Build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GitHubの変更を自動Build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Environment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APP_ENV=dev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アプリ側へDEV環境を伝える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Auto Branch Deletion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不要になったBranch環境を自動削除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Service Role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専用IAM Role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SSRログ等に必要な権限のみ付与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44B33-E533-45F9-AAA7-9744446B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62675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AmplifyはアプリのBuild / Deploy / Hostingを担当し、Terraformは周辺AWSリソースを管理する。</a:t>
            </a:r>
          </a:p>
        </p:txBody>
      </p:sp>
    </p:spTree>
    <p:extLst>
      <p:ext uri="{BB962C8B-B14F-4D97-AF65-F5344CB8AC3E}">
        <p14:creationId xmlns:p14="http://schemas.microsoft.com/office/powerpoint/2010/main" val="1540279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1F826-199F-4148-9174-AF05C1ED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E4116-CAC8-457C-9277-E223732C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2D5E-E3EC-4EA2-B440-EEB5D69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CloudFront：配信・キャッシュ・セキュリティ設定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AC876-4405-4820-9659-96A247A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PARAMETER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1A999-8442-4C6B-AE78-365B2400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8 / 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38150" y="847725"/>
          <a:ext xmlns:a="http://schemas.openxmlformats.org/drawingml/2006/main" cx="11315700" cy="5353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4838700"/>
              </a:tblGrid>
              <a:tr h="446088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今回の設定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理由 / 作用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Custom Domain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commonid-frontside-dev.aflac-ads.co.jp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独自ドメインをCloudFrontに割り当て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Price Class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PriceClass_200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利用範囲とDEVコストのバランス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IPv6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IPv6クライアントから利用可能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Viewer Protocol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redirect-to-https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HTTPアクセスをHTTPSへ統一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TLS Minimum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TLSv1.2_2021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古いTLSを回避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Default Origin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Amplify SSR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通常のWeb / SSRリクエストを転送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/assets/* Origin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Private S3 Static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静的ファイルをS3へ振分け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/assets/* Cache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Managed-CachingOptimized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静的コンテンツをキャッシュ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Amplify Cache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Managed-CachingDisabled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DEVでSSR / 認証系の誤キャッシュを回避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 Access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OAC + SigV4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CloudFrontだけにGetObjectを許可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Compress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有効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レスポンス圧縮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442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8373A-12E6-438A-8985-F9A8175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59774-BA64-4D0A-82AC-8E2DC4C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4A542-928B-49C1-8FEB-A02D242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Route 53 / ACM / CloudFront：HTTPS成立まで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78E09-938D-43AD-B19C-6EF429B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DEPENDENCY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0A7FB-92EF-4CAE-94D7-5789E4DD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B81CB-0E28-4032-8A66-79188657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476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55a9ba1854372"/>
          <a:stretch xmlns:a="http://schemas.openxmlformats.org/drawingml/2006/main"/>
        </p:blipFill>
        <p:spPr>
          <a:xfrm xmlns:a="http://schemas.openxmlformats.org/drawingml/2006/main">
            <a:off x="638175" y="1371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37517-B4D8-4DB3-B95E-66E32B93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3350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627A1-1134-4194-BC13-1078A571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562100"/>
            <a:ext cx="1828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Hosted Zone / A・AAAA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A0095-32CF-4ADE-A04C-E7E8577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238250"/>
            <a:ext cx="2476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511b4803545ef"/>
          <a:stretch xmlns:a="http://schemas.openxmlformats.org/drawingml/2006/main"/>
        </p:blipFill>
        <p:spPr>
          <a:xfrm xmlns:a="http://schemas.openxmlformats.org/drawingml/2006/main">
            <a:off x="3752850" y="1371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1F466-57DA-4863-8224-9C8D562D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3350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ACM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ACB6F-4516-4458-AA09-A40E1D2C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62100"/>
            <a:ext cx="1828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DNS Validation / us-east-1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C9F07-D17B-49DD-BD2D-D41FA1CE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238250"/>
            <a:ext cx="2476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36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fdd1599c0404b"/>
          <a:stretch xmlns:a="http://schemas.openxmlformats.org/drawingml/2006/main"/>
        </p:blipFill>
        <p:spPr>
          <a:xfrm xmlns:a="http://schemas.openxmlformats.org/drawingml/2006/main">
            <a:off x="6867525" y="1371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AFB15-A9D6-42CB-AC6A-07C40871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33350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E8198-D629-496F-A1F4-2AE391ED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562100"/>
            <a:ext cx="1828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Alias / ACM Certificate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171450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115050" y="171450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E092A-9998-4AD5-BA49-F92FF43F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E740D-6E63-4397-B02A-14870AB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Public Hosted Zone作成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65A97-4A55-4677-B426-E709E76D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861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B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419DB-A1EA-4239-B390-0ACD0908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241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7CC0F-F081-439A-A317-A1ACF322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47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Parent ZoneでNS Delegation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5081C-F945-4C14-AEC0-8C8216EC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861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B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F7D0D-8910-4A8E-989E-DA671AED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67CFF-BFA2-4F8B-ACAA-AA84346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47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ACM DNS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7225DD-4B4E-4095-BA82-CF3CCEA3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861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BD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2070B-D874-4647-9FF4-6D93D907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241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50795-91B1-4657-8897-506B701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47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CloudFrontへ証明書関連付け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BFBA8-608E-4C18-B6F1-873E27EA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861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BD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8EB7C-0902-49E3-9634-2C22BB05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241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D22219-5864-460C-98CF-86FC6A1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47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 / AAAA Aliasを設定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9B1B37-B48C-4220-A6FA-6C1D79D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10668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05401F-73D1-4553-B160-BF59A5B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515"/>
          </a:solidFill>
          <a:ln xmlns:a="http://schemas.openxmlformats.org/drawingml/2006/main" w="0">
            <a:solidFill>
              <a:srgbClr val="D9151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EF4593-1CE2-4DB9-BBEF-DA29337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1034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重要な依存関係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4F88B8-1359-495C-AEE5-F0A271D1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24350"/>
            <a:ext cx="1034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親ドメインからのNS Delegationが正しくない場合、外部からDEV Hosted Zoneを解決できず、ACM DNS Validationも成立しない。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BA1275-11B3-45EB-8B01-D874509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CloudFront用ACM証明書は us-east-1 に作成する。</a:t>
            </a:r>
          </a:p>
        </p:txBody>
      </p:sp>
    </p:spTree>
    <p:extLst>
      <p:ext uri="{BB962C8B-B14F-4D97-AF65-F5344CB8AC3E}">
        <p14:creationId xmlns:p14="http://schemas.microsoft.com/office/powerpoint/2010/main" val="1657565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93CD5-4418-42F8-931E-09D4078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7E4E-6514-4FD0-8134-F45C33B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091A7-3773-407D-A893-06A0CA15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S3：用途分離とセキュリティ設定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698A1-C02E-45D9-B292-ABD430A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STORAGE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673CD-DB5A-469A-8C0A-BEDF0FEB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9780-BA3E-4147-AA14-A539D78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A6005-C753-4EF1-ABF7-59E3BF92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A6BB6-D5FC-4C7C-8788-1DABCC1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Terraform State Bucket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DE43B-AEEE-43B3-B463-267B386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320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terraform.tfstate / lock</a:t>
            </a:r>
          </a:p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Key: eol/dev/services.tfstate</a:t>
            </a:r>
          </a:p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IaC状態管理専用。アプリデータと分離。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C5FC6-6767-4B57-8E8D-302B2CAB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5250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7A758-2DBB-458A-91A9-53841F3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52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72D3"/>
          </a:solidFill>
          <a:ln xmlns:a="http://schemas.openxmlformats.org/drawingml/2006/main" w="0">
            <a:solidFill>
              <a:srgbClr val="0972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940E-B082-4150-87AC-B3EBAFE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066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Static Bucket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C4B0C-5524-47FD-80CE-B48AAFA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71600"/>
            <a:ext cx="320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/assets/* 静的ファイル</a:t>
            </a:r>
          </a:p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Private / CloudFront OACのみGetObject</a:t>
            </a:r>
          </a:p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Versioning / SSE-S3 / Public Access 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84B5C-ABFD-4A86-89D8-C4C84FEA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95250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9DED1-B915-4BF9-A2B5-F03AA47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952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C5D58-D991-4A50-9F95-374AD682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Uploads Bucket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D281A-4B35-4A92-969E-A6042B0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320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ユーザーアップロード等</a:t>
            </a:r>
          </a:p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Private / Versioning / SSE-S3</a:t>
            </a:r>
          </a:p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Web公開Originではない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B168D-E745-4D2B-A04C-F5EE9A2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05175"/>
            <a:ext cx="109347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36B2E-E2A6-4BB6-A810-CD3DA6A1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共通セキュリティ設定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243ED-6A28-4A4F-81AF-9FFB493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333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BucketOwnerEnforced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F5F58-FF85-485C-94BA-0E616DC2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2333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Public Access Block: all 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E1A16-DE92-4D77-8770-ECF53444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2333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Versioning: Enabled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13E49-A134-4D65-BEF1-046E691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333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SSE-S3: AES256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E16BB-55CF-4D77-81CA-B818A8F3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00625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S3の「フォルダ」はObject KeyのPrefix。例：assets/logo.png の assets/、eol/dev/services.tfstate の eol/dev/。</a:t>
            </a:r>
          </a:p>
        </p:txBody>
      </p:sp>
    </p:spTree>
    <p:extLst>
      <p:ext uri="{BB962C8B-B14F-4D97-AF65-F5344CB8AC3E}">
        <p14:creationId xmlns:p14="http://schemas.microsoft.com/office/powerpoint/2010/main" val="1661224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7A293-69DA-4A89-BDAB-0C8F0D4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49BEB-2BCE-4BF1-A166-6390527E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D1C4D-87C8-4693-98CB-7DC2B6C0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Terraform：コードとStateの役割分担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30422-5218-4DD8-A524-9FF5774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IAC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EAC84-6C20-443E-B9F4-41D7AE49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11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846D3-5002-4294-9351-6C7AC7E1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762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28F35-2409-44DF-A159-553E289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E7A64-591E-4253-BA07-2AB6E653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52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GitHub /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82AF6-28D2-4F0C-AE05-3DDC1034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2438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*.tf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README.md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terraform.tfvars.example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Pull Request /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6D465-17F4-494C-83EF-6E8C0A94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38250"/>
            <a:ext cx="2762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27C8F-A907-4B77-A284-DFB7758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3825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9333C-E265-451A-9260-C858453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52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Terraform CLI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A4DF7-080C-4239-AFC2-3723ED4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2438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fmt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validate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plan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 apply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DC43A-C977-4CBA-896A-45332092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38250"/>
            <a:ext cx="2762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AE18F-D442-442D-B674-76D998E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3825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DB2E4-9A2F-4949-85F5-748E0294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3525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S3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AFFA1-0171-4F6F-8C37-0753EE96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57350"/>
            <a:ext cx="2438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eol/dev/services.tfstate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State / Lock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Versioning推奨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86125" y="23812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29500" y="23812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3A36D-0BBD-4A78-A8F6-23A6ADC4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1104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D2DA1-4AC9-4695-A523-58601693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72D3"/>
          </a:solidFill>
          <a:ln xmlns:a="http://schemas.openxmlformats.org/drawingml/2006/main" w="0">
            <a:solidFill>
              <a:srgbClr val="0972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F474B-D00C-4E84-A8A6-5E2ABC75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Root Module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E5E28-87EF-4F74-954B-7461B4C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9600"/>
            <a:ext cx="10725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budget.tf / s3.tf / amplify.tf / acm.tf / cloudfront.tf / route53.tf / iam.tf</a:t>
            </a:r>
          </a:p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ファイルを分けても、同一Root Moduleなら一つの構成としてplan / applyできる。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F90B0-08CC-49B8-B40E-4566B45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72125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StateはGitHubへ置かず、専用S3 Backendで管理する。</a:t>
            </a:r>
          </a:p>
        </p:txBody>
      </p:sp>
    </p:spTree>
    <p:extLst>
      <p:ext uri="{BB962C8B-B14F-4D97-AF65-F5344CB8AC3E}">
        <p14:creationId xmlns:p14="http://schemas.microsoft.com/office/powerpoint/2010/main" val="100920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E68E9-CFB6-49AD-A7DC-1A15ECE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848D0-A293-4777-8A46-15D6044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DB449-B4DC-43E5-A9D1-FA657DB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AWS Budgets：3段階のメール通知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E37F7-0857-4383-B996-F64F51AA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COST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E71DB-DDA2-4635-94D1-F1BE70DF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862D3-BB3E-4C0F-81DB-F9DFD76B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BB33C-48C8-4FD4-ACF5-72387524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72D3"/>
          </a:solidFill>
          <a:ln xmlns:a="http://schemas.openxmlformats.org/drawingml/2006/main" w="0">
            <a:solidFill>
              <a:srgbClr val="0972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B248F-C75D-4109-8E24-B7A4468E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096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50%  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563AF-25B8-45A6-80E8-AA5AA852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14475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実績コストが月額予算の50%を超えた場合にメール通知。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0118A-7759-4375-B969-B0B9DA73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0953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708BE-0AE3-4FF1-BCF3-1ABF0BF6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095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11784-402C-46B3-B494-1A96AC0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2096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80%  Forecasted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744F7-9839-4A41-AEAC-5A5A8CC1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14475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予測コストが月額予算の80%を超える見込みの場合にメール通知。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72599-AACA-4775-B82E-B7DD137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953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5B4B4-226A-490D-A22C-D743EEFE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95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515"/>
          </a:solidFill>
          <a:ln xmlns:a="http://schemas.openxmlformats.org/drawingml/2006/main" w="0">
            <a:solidFill>
              <a:srgbClr val="D915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DC7F2-0283-4367-B4AE-702927C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2096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100%  Actual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415E5-CC12-463B-B84A-C7CA5D5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14475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実績コストが月額予算を超えた場合にメール通知。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4DC73-7AA4-4980-923B-078DC27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1144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CC8B9-107E-4032-B87E-E067899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概要表の記載値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415D5-403A-45CB-BEED-70CD1AB1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$100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4FBE9-68AF-44AA-82CC-7B90A3DB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Terraform設定値（原稿）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2F93B-9EE4-4F8F-9ECB-F751A9A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$8.08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E8413-81A1-456B-8360-4148A301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81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通知先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981CD-F951-406D-BBA0-FC6F131B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AWSアカウント登録メール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8C008-56B1-4783-9B6F-0A95D06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11144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E8C18-1140-4524-983E-B3DF9066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515"/>
          </a:solidFill>
          <a:ln xmlns:a="http://schemas.openxmlformats.org/drawingml/2006/main" w="0">
            <a:solidFill>
              <a:srgbClr val="D9151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1BF2C-2FBB-43B7-B543-8425FE5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29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注意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B14AC-9044-438E-AED0-F4CEBF5C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3395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原稿に月額$100と$8.08の記載が混在。実際の予算額はTerraform設定と照合が必要。AWS Budgetsは通知機能であり、強制停止機能ではない。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241441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6F8B9-964E-464A-B1DF-2426C12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5C80F-F5BE-4D8F-8A00-7AAC831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D46D0-BE65-4B24-B769-79B1D7A8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IAM：Group単位の権限分離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E1D92-B0DD-4482-A90E-85C4397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PARAMETER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D8DC5-430B-4376-B29A-5A56C381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13 / 20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38150" y="1000125"/>
          <a:ext xmlns:a="http://schemas.openxmlformats.org/drawingml/2006/main" cx="113157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29250"/>
                <a:gridCol w="3600450"/>
              </a:tblGrid>
              <a:tr h="6905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Group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主な権限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設計意図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BillViewer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AWSBillingReadOnlyAccess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請求・コスト確認を担当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Developer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Amplify Deploy / S3 Application Access / CloudFront Invalidation / Route53 Read / ACM Read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アプリ開発・デプロイ中心。インフラ変更権限は限定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InfraEngineer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ACM:* / Amplify:* / CloudFront:* / Route53:* / S3:*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DEVインフラの構築・運用を担当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InfraEngineer Deny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Terraform State Bucketへのs3:*を明示Deny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Stateの破壊・直接操作を防止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Administrator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AdministratorAccess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緊急時・管理者用。通常ユーザーは未割当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58E0B-6920-4F0B-B85C-C0823A1E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29250"/>
            <a:ext cx="113157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7F0FB"/>
          </a:solidFill>
          <a:ln xmlns:a="http://schemas.openxmlformats.org/drawingml/2006/main" w="9525">
            <a:solidFill>
              <a:srgbClr val="7D36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15A6A-E688-44B0-88B6-51F264CA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6C5BA-A7B2-425C-B222-06BA5D7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0A772-0F35-411D-88BD-378D94C8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81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0651C-B59F-4E13-ADDC-7EFC7BC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72A74-F20D-42BB-8FF4-81993C10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581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D8CC2-A416-4155-922B-39292086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81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人に直接Policyを付けず、異動・追加・削除時の変更を一元化</a:t>
            </a:r>
          </a:p>
        </p:txBody>
      </p:sp>
    </p:spTree>
    <p:extLst>
      <p:ext uri="{BB962C8B-B14F-4D97-AF65-F5344CB8AC3E}">
        <p14:creationId xmlns:p14="http://schemas.microsoft.com/office/powerpoint/2010/main" val="468049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4FA9E-C8C9-424A-8935-70521C90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8B908-808D-4AEA-9C9F-0B3001A5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54C71-96E8-41F2-984B-F92B7F46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サービス別パラメータと役割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A8BCD-8027-45FA-97A8-DC14A704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PARAMETER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6AEFE-A072-4A07-843B-9E8C3B8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14 / 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38150" y="847725"/>
          <a:ext xmlns:a="http://schemas.openxmlformats.org/drawingml/2006/main" cx="11315700" cy="5353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552950"/>
              </a:tblGrid>
              <a:tr h="486641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Service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主要パラメータ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このWeb Appでの役割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GitHub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Repository / Branch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Webアプリ + TerraformコードのVersion Control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Amplify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WEB_COMPUTE / Next.js SSR / Auto Build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アプリのBuild・Deploy・SSR Hosting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CloudFront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PriceClass_200 / Alias / TLS1.2_2021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公開入口・HTTPS・CDN・Origin Routing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Route 53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Public Hosted Zone / A・AAAA Alias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名前解決、CloudFrontへの接続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ACM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DNS Validation / us-east-1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CloudFront用TLS証明書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 Static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Private / OAC / Versioning / SSE-S3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静的アセット保存・配信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 Uploads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Private / Versioning / SSE-S3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アップロードデータ保存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Terraform Backend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 / state key / lock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Infrastructure State管理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AWS Budgets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$100 / 50・80・100%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コスト監視・メール通知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486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IAM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BillViewer / Developer / InfraEngineer / Administrator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人・役割ごとの権限分離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0768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42EC52-662E-4ECE-9956-83902E82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67762-28DD-4F2E-B54A-3640B115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E5D5F-FC60-421A-AC0E-FE563C9A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この構成を採用した理由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4B26B-AC8A-4407-AD28-8F0DDB5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DESIGN RATIONALE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6A8BD-CF54-44E1-A31E-27E2A890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728E1-ABBD-4CC0-BE0E-56DC0633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AD84D-02BD-4F7A-A41E-546C7901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95887-72D4-4F31-B6FB-6D73440C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60A3F-11E5-4E4E-A16B-C3F4333B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履歴・レビュー・Rollback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93C1D-CEA4-4BD5-BD97-9D06DBB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95350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63887-C522-4449-A8B2-4A56142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953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EC124-2D13-417E-98BD-8DE7D01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096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Terraform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62CE0-EC94-4FCB-887A-06D39679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1445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AWS構成の再現性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8858C-E50A-41D2-A0C6-C4C37229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00275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96919-06B5-46B6-8951-D8103A06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002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084FD-FA31-4FD4-927D-D9BBD1A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Amplify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272BD-9706-4741-AFD6-02CB5D9A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Build / Deployの簡素化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E8ACC-6A92-4B75-8E3C-629D31E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2BDC2-7556-4270-AEFE-0F412EA0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72D3"/>
          </a:solidFill>
          <a:ln xmlns:a="http://schemas.openxmlformats.org/drawingml/2006/main" w="0">
            <a:solidFill>
              <a:srgbClr val="0972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139A7-9B00-48DB-B8DB-D6970567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145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CloudFront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75420-0EA3-4BAC-A4BD-AB39805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HTTPS・CDN・Origin分離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A11E2-7E7A-418F-8E90-BA18B27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05200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7F1A6-AEC2-43AA-8700-540164A6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05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600FF-55CD-4036-864B-46EF95C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Route 53 + ACM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D7330-5F78-4462-A1D2-DD5184D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独自ドメイン + TLS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5018F-4B45-43FA-A7EB-8A8A0A8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C144A-FDBF-40A7-9BB1-00B0603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1093D8-A0D0-493A-9A67-5E40BDD5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S3 Private + OAC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E7BFEF-F11C-4189-ABED-6510F04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S3の直接公開を防止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184B2-3274-4A73-8C42-0EDBFFD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0125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EA7C1-4767-4BF7-BE2F-88DFB93C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0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515"/>
          </a:solidFill>
          <a:ln xmlns:a="http://schemas.openxmlformats.org/drawingml/2006/main" w="0">
            <a:solidFill>
              <a:srgbClr val="D9151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99A00-B130-4A77-B600-9E41A3C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Budgets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F3BCD-0BEC-41BD-A98A-EAC5D99C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コスト超過の早期検知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2B5AB-ED24-439A-A00C-1F903FB8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10125"/>
            <a:ext cx="542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0E57DE-E01B-4536-B1AE-D782959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101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61EFA5-6F7B-4419-8702-1303CA8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24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IAM Group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9F9131-B763-4F76-BDDD-09B26D57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29225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役割単位の権限分離</a:t>
            </a:r>
          </a:p>
        </p:txBody>
      </p:sp>
    </p:spTree>
    <p:extLst>
      <p:ext uri="{BB962C8B-B14F-4D97-AF65-F5344CB8AC3E}">
        <p14:creationId xmlns:p14="http://schemas.microsoft.com/office/powerpoint/2010/main" val="351126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78DA0C-8EB2-4849-9D37-0AC16AD2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0E42-1DC2-4E9D-AFF3-AFBABBF3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374A9-67DE-4B53-B276-4F2F9DEE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実際の運用フロー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6527A-87B1-437D-8D4A-BC25B7E8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56AE6-6A6C-43B2-B642-04B67D26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544B6-736C-4ECE-A202-DD015648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A. アプリケーション変更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70192-C181-4B54-BB8E-415970A3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2F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311c0b0b14f67"/>
          <a:stretch xmlns:a="http://schemas.openxmlformats.org/drawingml/2006/main"/>
        </p:blipFill>
        <p:spPr>
          <a:xfrm xmlns:a="http://schemas.openxmlformats.org/drawingml/2006/main">
            <a:off x="571500" y="1447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667C8-249A-4DF4-881C-D582CCD3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09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Developer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3CA6E-437A-4281-BDAE-4FDB6A06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Git push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54D74-B4C0-48EA-8440-0EDC80E3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144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36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9534C-1C8A-4289-82EA-FCDF2700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4763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A0430-2D6F-4331-AC21-A89465D8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09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6AB06-AF77-4C41-88EC-B77843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383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Branch更新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33AC-4DCB-41B8-BBF4-7C57DB5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144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56cc254e84515"/>
          <a:stretch xmlns:a="http://schemas.openxmlformats.org/drawingml/2006/main"/>
        </p:blipFill>
        <p:spPr>
          <a:xfrm xmlns:a="http://schemas.openxmlformats.org/drawingml/2006/main">
            <a:off x="5124450" y="1447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266BE-897F-41CD-A852-589F8CE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09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Amplify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3670C-4604-4117-86E6-F9D7879B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383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Build / 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5B9EA-AA56-4938-B574-91FD0AB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144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b9a435f7a4aab"/>
          <a:stretch xmlns:a="http://schemas.openxmlformats.org/drawingml/2006/main"/>
        </p:blipFill>
        <p:spPr>
          <a:xfrm xmlns:a="http://schemas.openxmlformats.org/drawingml/2006/main">
            <a:off x="7400925" y="1447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348B0-E0EB-41D4-879D-79AF748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409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04D37-BB2F-42D1-B6CB-3B983B2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383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公開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EBA3A-A351-4D31-B2E3-B5A23C82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144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2F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a04b54054479f"/>
          <a:stretch xmlns:a="http://schemas.openxmlformats.org/drawingml/2006/main"/>
        </p:blipFill>
        <p:spPr>
          <a:xfrm xmlns:a="http://schemas.openxmlformats.org/drawingml/2006/main">
            <a:off x="9677400" y="1447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B7263-F459-46B9-837C-4B645130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09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ECB10-9744-4CDB-9A48-3353BBB8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383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HTTPS</a:t>
            </a:r>
          </a:p>
        </p:txBody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266950" y="1666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43425" y="1666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19900" y="1666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96375" y="1666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CF55E-18EF-40D6-B76E-43486C5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B. インフラ変更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B76C0-6067-40AD-9486-CC0DAA2A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2F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01408eb5b464c"/>
          <a:stretch xmlns:a="http://schemas.openxmlformats.org/drawingml/2006/main"/>
        </p:blipFill>
        <p:spPr>
          <a:xfrm xmlns:a="http://schemas.openxmlformats.org/drawingml/2006/main">
            <a:off x="571500" y="3390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6BE8A-C9DD-4BAA-A9D6-F57A6C66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Developer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9FC39-6DCC-48A6-B2D5-4B126571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Terraform code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B1CE03-090B-4788-BDA3-00B90D7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575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36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7FBCA-2A39-4BB7-BF71-D212099F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Git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327913-48B1-4ADE-B357-1C1B7B6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528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B80275-490F-45FC-9356-A1197338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814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Version control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485D61-9750-4828-BF8D-0B9C92F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093155-70C3-4EEF-AD04-6070E508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19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IaC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65B251-CF2A-453A-9236-868042AD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528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A9ADAE-06AC-4B55-AC6D-68AE4203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814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plan / apply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184D8F-2128-4D76-9D56-27C2ACC5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575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70929E-0CE2-4616-ADFD-B70D1979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19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AWS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D2914B-35E7-4B58-BB3A-886C2407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528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AWS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F23EC1-A98C-4EFF-A408-B7B29DF1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5814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Resource change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00CE6B-6A46-40D4-9776-DCAC3AF3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809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13df0174d4c02"/>
          <a:stretch xmlns:a="http://schemas.openxmlformats.org/drawingml/2006/main"/>
        </p:blipFill>
        <p:spPr>
          <a:xfrm xmlns:a="http://schemas.openxmlformats.org/drawingml/2006/main">
            <a:off x="9677400" y="3390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C1262F-6840-49F1-8BA2-545A6647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528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 Backend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29C1A6-A45E-48B7-A09F-C4C64D7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81400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State / Lock</a:t>
            </a:r>
          </a:p>
        </p:txBody>
      </p:sp>
      <p:cxnSp>
        <p:nvCxnSpPr>
          <p:cNvPr id="108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2266950" y="36099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543425" y="36099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819900" y="36099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9096375" y="36099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72D3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6F2E3C-AD65-4402-9990-18F81E5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アプリ変更とインフラ変更を分離し、WebコンテンツとAWS構成を別々にレビュー・管理する。</a:t>
            </a:r>
          </a:p>
        </p:txBody>
      </p:sp>
    </p:spTree>
    <p:extLst>
      <p:ext uri="{BB962C8B-B14F-4D97-AF65-F5344CB8AC3E}">
        <p14:creationId xmlns:p14="http://schemas.microsoft.com/office/powerpoint/2010/main" val="13017663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5F7FF6-A727-4058-9EB4-6151A305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BD4F7-F30E-4EA0-99BE-4D091AD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E9532-B9F6-4438-821B-5C730C4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構築順序と依存関係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C4120-C977-494E-881A-2E08A061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IMPLEMENTATION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DF045-D16F-4626-800A-1638D5A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BAEBF-DB75-47B3-BCF3-847A524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5825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615D-1D16-4070-B8E6-D3CA566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0CB61-7142-44E5-9807-E6DD4A5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00012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AWS Account / CLI Profile / Terraform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9AEEE-798D-477A-9B44-FAC86AC8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430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A33AA-6B15-4B67-AD02-542095C9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885825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5A2B8-A6B1-4EA7-8DC9-F2ED8A0F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287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FC4CB-01A1-43C1-A43D-FEB23EC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00012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Budget / IAM / S3 基盤リソース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4D444-57BD-4AC1-A08D-59D6FE4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7430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16604-7B90-411B-9F2E-C1E9064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85825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5C9A3-D839-430C-BB95-12E972B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287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1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F6AE4-F82C-4724-A6A2-D82661AC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00012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 Hosted Zone / NS Delegation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10870-23BB-4259-BBCA-C3BC821A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430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08DE1-1B1A-4B75-9300-4F35CB0E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045B8-3185-423A-A2AD-68658877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6C9FA-FAD3-41A8-8396-962BD99F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 Repository / Demo Web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DE88A-B9DF-4D71-8FE1-098E5091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8889D-461D-41E2-A106-0330411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473C7-A961-4CD6-A904-F33DAA7E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032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B2FD0-FA57-4456-A44E-99AA473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71750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Amplify + GitHub / Build確認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7EE8F-ABFB-4C7A-97FC-D6611243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147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B42A1-1E1C-45D6-88E8-19A16173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13126-56C1-418F-8518-D278FD57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972D3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A35CD-F146-4A89-AA10-89FEA7E7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ACM Certificate / DNS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E6873-0B98-48EB-8DED-4A259CD7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147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BEEE5-9F80-4A55-AB6E-D6C8CBE3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D5F42-A372-40DD-BEC4-07080A63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AF9A5-69BA-41EC-B99F-D75D81ED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4337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CloudFront / ACM / Origin / OAC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F44C0-E755-4FB4-8E40-25A7FA59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863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148E8-BF37-4C42-B28D-33284382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29075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9567A-7B12-4582-855B-A8406D8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B823A6-25EA-480E-A049-6923904A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4337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 A・AAAA Alias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4C4BA7-A744-4901-9F48-477934A8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863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depends on previous step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C919EA-2FCE-4339-8F1E-9B419DF2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749DCC-DF32-4495-80EB-FAF3C7B5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95F574-7B23-4924-9AA0-87DC6A8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4337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Custom Domain / HTTPS / assets / SSR確認</a:t>
            </a:r>
          </a:p>
        </p:txBody>
      </p:sp>
    </p:spTree>
    <p:extLst>
      <p:ext uri="{BB962C8B-B14F-4D97-AF65-F5344CB8AC3E}">
        <p14:creationId xmlns:p14="http://schemas.microsoft.com/office/powerpoint/2010/main" val="18156160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B120B-83CE-46C4-A298-06AC7D34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B424B-2AA7-474A-9A12-478D8E3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D83AF-7A5C-451E-A998-7799DD4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完成後の確認ポイント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E3CFE-9957-403C-A31B-C317D70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VALIDATION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E5DB9-424C-41CA-85FB-0F4C3E8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18 / 20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904875" y="990600"/>
          <a:ext xmlns:a="http://schemas.openxmlformats.org/drawingml/2006/main" cx="1038225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286500"/>
              </a:tblGrid>
              <a:tr h="51329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確認項目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期待結果</a:t>
                      </a:r>
                    </a:p>
                  </a:txBody>
                  <a:tcPr marL="95250" marR="95250" marT="57150" marB="57150" anchor="ctr">
                    <a:solidFill>
                      <a:srgbClr val="232F3E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https://commonid-frontside-dev.aflac-ads.co.jp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HTTPSで正常表示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Certificate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ACM public certificate / valid / CloudFrontに関連付け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/assets/*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CloudFront → Private S3へ到達できる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S3直接アクセス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Public Access BlockによりAccessDenied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Amplify Build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GitHubのDEV Branch更新でBuild成功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Terraform Plan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既存構成に対して不要な差分がない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AWS Budgets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50% / 80% / 100% の通知設定が存在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32F3E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IAM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91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Groupに応じて想定範囲の権限だけを持つ</a:t>
                      </a:r>
                    </a:p>
                  </a:txBody>
                  <a:tcPr marL="95250" marR="95250" marT="38100" marB="3810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0D86C-50A9-46EE-A830-790BFDC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97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8F0"/>
          </a:solidFill>
          <a:ln xmlns:a="http://schemas.openxmlformats.org/drawingml/2006/main" w="9525">
            <a:solidFill>
              <a:srgbClr val="1D8102"/>
            </a:solidFill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8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9F909-1DCA-409D-954D-7E95C060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すべての項目を確認してDEV環境を受入</a:t>
            </a:r>
          </a:p>
        </p:txBody>
      </p:sp>
    </p:spTree>
    <p:extLst>
      <p:ext uri="{BB962C8B-B14F-4D97-AF65-F5344CB8AC3E}">
        <p14:creationId xmlns:p14="http://schemas.microsoft.com/office/powerpoint/2010/main" val="3786532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B16378-8382-4A32-A097-FAF69AB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E47A1-980C-42D6-8F2B-D9878E97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6F83B-6551-4E4A-B96E-5D2C88EE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今回の構築成果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C7064-B673-4938-9D31-0B993CE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DELIVERABLES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06193-D6B9-40B4-8D40-86810A9C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19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30523-CDAF-487D-B956-0F3F8374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2ECA0-FB4C-4B78-BA06-549F9150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0FADE-001C-49DD-B11E-F547B63A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Code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78895-28C0-4A39-A9F5-8F1F493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GitHubでアプリ + Terraformを版管理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C8279-B9DE-4A11-B296-7788436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95350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9E1F5-EF6D-4D55-BA93-9FF252A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953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25923-782C-439A-A040-6AC6E01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096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Infrastructure as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5F56A-E170-418B-BBA0-CFBEF322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1445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TerraformでAWS構成を再現可能に管理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33FA7-E9E3-46DE-B8F0-0D2265D8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05025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199A0-451D-48F3-AB29-C3F110AF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0502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F0307-6958-43C7-9F6A-B8CE8918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Application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086A1-D64C-422E-B5F5-761FDBF6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AmplifyでGitHub → Build → 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56968-F6C4-4245-9916-6C272024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05025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5F388-B159-4AE0-91EE-F2564656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0502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72D3"/>
          </a:solidFill>
          <a:ln xmlns:a="http://schemas.openxmlformats.org/drawingml/2006/main" w="0">
            <a:solidFill>
              <a:srgbClr val="0972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B2CCE-6665-4CBD-8B6C-7263F0C9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193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Web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4A137-D02E-4757-8FAB-EAAB6CC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24125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Route 53 → CloudFront → HTTPS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6CCC3-FEED-48AD-932F-2E15020E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14700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6830F-9F16-4E02-A21B-21CF1403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147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A23D6-C5E4-4484-AE11-BF3D709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Static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723B6-9414-43CE-A4FD-27909F6D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Private S3 + OAC + /assets/*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DAEC4-14F0-4579-A9C6-21C71FAE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F92D5-2738-4880-B898-4B34BCA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6B2"/>
          </a:solidFill>
          <a:ln xmlns:a="http://schemas.openxmlformats.org/drawingml/2006/main" w="0">
            <a:solidFill>
              <a:srgbClr val="7D36B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3FBA0-770E-4A3D-8F3E-76C2CA5A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7D36B2"/>
                </a:solidFill>
                <a:latin typeface="Noto Sans CJK JP"/>
                <a:ea typeface="Noto Sans CJK JP"/>
                <a:cs typeface="Noto Sans CJK JP"/>
              </a:rPr>
              <a:t>Security / IAM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54713-A53F-4F88-90D9-04988E1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Group単位の権限分離 + State保護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D971F-30B5-4F0A-B519-FDC2F9C9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24375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DFB99E-BFF8-4028-914E-B131795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243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515"/>
          </a:solidFill>
          <a:ln xmlns:a="http://schemas.openxmlformats.org/drawingml/2006/main" w="0">
            <a:solidFill>
              <a:srgbClr val="D9151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AB563B-47C3-4DD8-B12B-583C1E5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D91515"/>
                </a:solidFill>
                <a:latin typeface="Noto Sans CJK JP"/>
                <a:ea typeface="Noto Sans CJK JP"/>
                <a:cs typeface="Noto Sans CJK JP"/>
              </a:rPr>
              <a:t>Cost 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1BB5F-FA01-49CA-ADE5-A46E846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AWS Budgetsの3段階通知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066343-4F79-4C72-B55F-D883A80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24375"/>
            <a:ext cx="542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22C12-B3FB-430C-9492-39541482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243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102"/>
          </a:solidFill>
          <a:ln xmlns:a="http://schemas.openxmlformats.org/drawingml/2006/main" w="0">
            <a:solidFill>
              <a:srgbClr val="1D810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A6BAF6-A694-4F1F-9243-C987BEF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D8102"/>
                </a:solidFill>
                <a:latin typeface="Noto Sans CJK JP"/>
                <a:ea typeface="Noto Sans CJK JP"/>
                <a:cs typeface="Noto Sans CJK JP"/>
              </a:rPr>
              <a:t>State Management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4A1F98-EB3B-4F0A-AE92-22E7F9E1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43475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0">
                <a:solidFill>
                  <a:srgbClr val="16191F"/>
                </a:solidFill>
                <a:latin typeface="Noto Sans CJK JP"/>
                <a:ea typeface="Noto Sans CJK JP"/>
                <a:cs typeface="Noto Sans CJK JP"/>
              </a:rPr>
              <a:t>S3 Backend + State / Lock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E259D8-36BB-4356-B1D6-03656339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0"/>
            <a:ext cx="1133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25" b="0">
                <a:solidFill>
                  <a:srgbClr val="5F6B7A"/>
                </a:solidFill>
                <a:latin typeface="Noto Sans CJK JP"/>
                <a:ea typeface="Noto Sans CJK JP"/>
                <a:cs typeface="Noto Sans CJK JP"/>
              </a:rPr>
              <a:t>コード管理、IaC、デプロイ、Web公開、権限、コストを一つのDEV環境として整理。</a:t>
            </a:r>
          </a:p>
        </p:txBody>
      </p:sp>
    </p:spTree>
    <p:extLst>
      <p:ext uri="{BB962C8B-B14F-4D97-AF65-F5344CB8AC3E}">
        <p14:creationId xmlns:p14="http://schemas.microsoft.com/office/powerpoint/2010/main" val="4812830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9ACDD-2FA0-4A74-815E-7DE8753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F3E"/>
          </a:solidFill>
          <a:ln xmlns:a="http://schemas.openxmlformats.org/drawingml/2006/main" w="0">
            <a:solidFill>
              <a:srgbClr val="232F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796B-6CF1-4C10-BA7D-DE00DCB2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809BF-B4E9-449B-9C1D-FC1888E8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参考資料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1EF66-3B6E-4136-B519-C7753ADC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38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00" b="0">
                <a:solidFill>
                  <a:srgbClr val="D5DBDB"/>
                </a:solidFill>
                <a:latin typeface="Noto Sans CJK JP"/>
                <a:ea typeface="Noto Sans CJK JP"/>
                <a:cs typeface="Noto Sans CJK JP"/>
              </a:rPr>
              <a:t>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F76A3-67C7-46F1-AB72-2BFF782A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0">
                <a:solidFill>
                  <a:srgbClr val="7B8794"/>
                </a:solidFill>
                <a:latin typeface="Noto Sans CJK JP"/>
                <a:ea typeface="Noto Sans CJK JP"/>
                <a:cs typeface="Noto Sans CJK JP"/>
              </a:rP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DD54C-797A-458C-AE13-839CC2F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144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CA629-8369-45CC-9A31-5D12358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14436-CD41-438D-9F43-F5DD212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28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HashiCorp Terraform — S3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86519-BDFB-4564-A1AE-831F829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287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https://developer.hashicorp.com/terraform/language/backend/s3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15454-DF0C-46C3-AFFC-B7A6ABC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11144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E188C-1CFD-4E2E-9488-D7379E50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03EF0-9B0A-44F5-BF90-01276796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19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HashiCorp Terraform — State / Backends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6FB7C-64CC-42B3-BB20-4978B074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193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https://developer.hashicorp.com/terraform/language/state/backends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C8AA0-756B-4C58-AF9A-6C8C0EB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11144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BC187-0FA9-4850-8E9C-04EFA7FD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0BD48-9E16-471B-8890-CBAD20A2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9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AWS Amplify — GitHub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91C63-9C0B-4C20-B3E9-A98C74FF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099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https://docs.aws.amazon.com/amplify/latest/userguide/setting-up-GitHub-access.html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1E1CE-C838-42E8-8CB4-3F3723B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4300"/>
            <a:ext cx="11144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96E30-7076-4A57-A41B-885A27C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FB76F-2638-4668-BDE1-50155619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Amazon S3 — Using prefixes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109C7-4708-4C91-9E2F-53A8B3AE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https://docs.aws.amazon.com/AmazonS3/latest/userguide/using-prefixes.html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D247E-4C93-451C-B8FB-029C0835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14900"/>
            <a:ext cx="11144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5DB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BC7F3-D188-4465-BF5F-47E4C9A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FF9900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778B7-47D4-4C91-B06C-81235CAA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91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232F3E"/>
                </a:solidFill>
                <a:latin typeface="Noto Sans CJK JP"/>
                <a:ea typeface="Noto Sans CJK JP"/>
                <a:cs typeface="Noto Sans CJK JP"/>
              </a:rPr>
              <a:t>Amazon S3 — Folders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C01E8-5CC0-4BD1-B40B-0C0B8DD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911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0972D3"/>
                </a:solidFill>
                <a:latin typeface="Noto Sans CJK JP"/>
                <a:ea typeface="Noto Sans CJK JP"/>
                <a:cs typeface="Noto Sans CJK JP"/>
              </a:rPr>
              <a:t>https://docs.aws.amazon.com/AmazonS3/latest/userguide/using-folders.html</a:t>
            </a:r>
          </a:p>
        </p:txBody>
      </p:sp>
    </p:spTree>
    <p:extLst>
      <p:ext uri="{BB962C8B-B14F-4D97-AF65-F5344CB8AC3E}">
        <p14:creationId xmlns:p14="http://schemas.microsoft.com/office/powerpoint/2010/main" val="1824552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2026-09-17T01:30:25.0830000Z</dcterms:created>
  <dcterms:modified xsi:type="dcterms:W3CDTF">2026-09-17T01:30:25.0830000Z</dcterms:modified>
</coreProperties>
</file>