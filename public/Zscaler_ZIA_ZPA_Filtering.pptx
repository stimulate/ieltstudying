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BDE7F5"/>
          </a:solidFill>
          <a:ln w="12700">
            <a:solidFill>
              <a:srgbClr val="BDE7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56832"/>
            <a:ext cx="4114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Zscaler ZIA / ZPA Filtering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692640" y="6656832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お客様向け説明資料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002B5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002B5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22BEEB"/>
          </a:solidFill>
          <a:ln w="12700">
            <a:solidFill>
              <a:srgbClr val="22BE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49808"/>
            <a:ext cx="7315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Zscaler（Zenith of Scalability）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ZIA / ZPA Web・IPフィルタリング機能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33172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DDF4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Webサイト・宛先IP・Private Appを製品別に整理し、設定方法と効果を説明します</a:t>
            </a:r>
            <a:endParaRPr lang="en-US" sz="1420" dirty="0"/>
          </a:p>
        </p:txBody>
      </p:sp>
      <p:pic>
        <p:nvPicPr>
          <p:cNvPr id="6" name="Image 0" descr="/mnt/data/c881eceb-b101-4d63-85e2-696e276aa2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850492"/>
            <a:ext cx="3063240" cy="24595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3232" y="384048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F5FBFF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3232" y="3840480"/>
            <a:ext cx="73152" cy="1143000"/>
          </a:xfrm>
          <a:prstGeom prst="rect">
            <a:avLst/>
          </a:prstGeom>
          <a:solidFill>
            <a:srgbClr val="22BEEB"/>
          </a:solidFill>
          <a:ln w="12700">
            <a:solidFill>
              <a:srgbClr val="22BE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3986784"/>
            <a:ext cx="2642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ZIA：Website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4315968"/>
            <a:ext cx="26426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URLカテゴリ・Custom URL Category・Allow / Block / Caution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3977640" y="384048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FFFFF5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977640" y="3840480"/>
            <a:ext cx="73152" cy="1143000"/>
          </a:xfrm>
          <a:prstGeom prst="rect">
            <a:avLst/>
          </a:prstGeom>
          <a:solidFill>
            <a:srgbClr val="FFD84E"/>
          </a:solidFill>
          <a:ln w="12700">
            <a:solidFill>
              <a:srgbClr val="FFD84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78808" y="3986784"/>
            <a:ext cx="2642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ZIA：IP / Port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178808" y="4315968"/>
            <a:ext cx="26426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宛先IP・FQDN・Protocol・Port・Network Service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7242048" y="384048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F3FFF9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242048" y="3840480"/>
            <a:ext cx="73152" cy="1143000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43216" y="3986784"/>
            <a:ext cx="2642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ZPA：Private App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443216" y="4315968"/>
            <a:ext cx="26426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Application Segment・Access Policy・AppProtection</a:t>
            </a:r>
            <a:endParaRPr lang="en-US" sz="880" dirty="0"/>
          </a:p>
        </p:txBody>
      </p:sp>
      <p:sp>
        <p:nvSpPr>
          <p:cNvPr id="19" name="Text 16"/>
          <p:cNvSpPr/>
          <p:nvPr/>
        </p:nvSpPr>
        <p:spPr>
          <a:xfrm>
            <a:off x="685800" y="62636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お客様向け説明資料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002B5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2004"/>
          </a:xfrm>
          <a:prstGeom prst="rect">
            <a:avLst/>
          </a:prstGeom>
          <a:solidFill>
            <a:srgbClr val="22BEEB"/>
          </a:solidFill>
          <a:ln w="12700">
            <a:solidFill>
              <a:srgbClr val="22BE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2801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本資料で説明する範囲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0" y="1920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5B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OVERVIEW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360" y="9144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Zscalerを「何でもWeb Filtering」としてまとめず、制御対象ごとに設定場所を明確にします。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1517904"/>
            <a:ext cx="384048" cy="384048"/>
          </a:xfrm>
          <a:prstGeom prst="ellipse">
            <a:avLst/>
          </a:prstGeom>
          <a:solidFill>
            <a:srgbClr val="005BAC"/>
          </a:solidFill>
          <a:ln w="12700">
            <a:solidFill>
              <a:srgbClr val="005B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18488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234440" y="1490472"/>
            <a:ext cx="100126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4440" y="1490472"/>
            <a:ext cx="73152" cy="512064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35608" y="1636776"/>
            <a:ext cx="9683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背景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35608" y="1965960"/>
            <a:ext cx="9683496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境界型FW/VPNの課題とゼロトラストへの移行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685800" y="2322576"/>
            <a:ext cx="384048" cy="384048"/>
          </a:xfrm>
          <a:prstGeom prst="ellipse">
            <a:avLst/>
          </a:prstGeom>
          <a:solidFill>
            <a:srgbClr val="22BEEB"/>
          </a:solidFill>
          <a:ln w="12700">
            <a:solidFill>
              <a:srgbClr val="22BE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42316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234440" y="2295144"/>
            <a:ext cx="100126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34440" y="2295144"/>
            <a:ext cx="73152" cy="512064"/>
          </a:xfrm>
          <a:prstGeom prst="rect">
            <a:avLst/>
          </a:prstGeom>
          <a:solidFill>
            <a:srgbClr val="22BEEB"/>
          </a:solidFill>
          <a:ln w="12700">
            <a:solidFill>
              <a:srgbClr val="22BE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35608" y="2441448"/>
            <a:ext cx="9683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Website Filtering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35608" y="2770632"/>
            <a:ext cx="9683496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ZIA URL FilteringでWebサイト・カテゴリを制御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85800" y="3127248"/>
            <a:ext cx="384048" cy="384048"/>
          </a:xfrm>
          <a:prstGeom prst="ellipse">
            <a:avLst/>
          </a:prstGeom>
          <a:solidFill>
            <a:srgbClr val="FFD84E"/>
          </a:solidFill>
          <a:ln w="12700">
            <a:solidFill>
              <a:srgbClr val="FFD8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2278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234440" y="3099816"/>
            <a:ext cx="100126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34440" y="3099816"/>
            <a:ext cx="73152" cy="512064"/>
          </a:xfrm>
          <a:prstGeom prst="rect">
            <a:avLst/>
          </a:prstGeom>
          <a:solidFill>
            <a:srgbClr val="FFD84E"/>
          </a:solidFill>
          <a:ln w="12700">
            <a:solidFill>
              <a:srgbClr val="FFD8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5608" y="3246120"/>
            <a:ext cx="9683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IP Filtering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35608" y="3575304"/>
            <a:ext cx="9683496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ZIA Firewall Filteringで宛先IP・Portを制御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85800" y="3931920"/>
            <a:ext cx="384048" cy="384048"/>
          </a:xfrm>
          <a:prstGeom prst="ellipse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03250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234440" y="3904488"/>
            <a:ext cx="100126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34440" y="3904488"/>
            <a:ext cx="73152" cy="512064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35608" y="4050792"/>
            <a:ext cx="9683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Private Access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435608" y="4379976"/>
            <a:ext cx="9683496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ZPAで社内アプリを非公開化し、アプリ単位で許可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685800" y="4736592"/>
            <a:ext cx="384048" cy="384048"/>
          </a:xfrm>
          <a:prstGeom prst="ellipse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83717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234440" y="4709160"/>
            <a:ext cx="100126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34440" y="4709160"/>
            <a:ext cx="73152" cy="512064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35608" y="4855464"/>
            <a:ext cx="9683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設定後の効果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435608" y="5184648"/>
            <a:ext cx="9683496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ツーサン株式会社様を例にした適用イメージ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002B5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2004"/>
          </a:xfrm>
          <a:prstGeom prst="rect">
            <a:avLst/>
          </a:prstGeom>
          <a:solidFill>
            <a:srgbClr val="22BEEB"/>
          </a:solidFill>
          <a:ln w="12700">
            <a:solidFill>
              <a:srgbClr val="22BE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2801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背景：脅威傾向から見るセキュリティ対策の必要性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0" y="1920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5B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THREAT LANDSCAPE</a:t>
            </a:r>
            <a:endParaRPr lang="en-US" sz="950" dirty="0"/>
          </a:p>
        </p:txBody>
      </p:sp>
      <p:pic>
        <p:nvPicPr>
          <p:cNvPr id="6" name="Image 0" descr="/mnt/data/893810d2-698f-4232-b3d2-2db29b1367f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41621"/>
            <a:ext cx="6629400" cy="372903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60920" y="914400"/>
            <a:ext cx="4114800" cy="1024128"/>
          </a:xfrm>
          <a:prstGeom prst="roundRect">
            <a:avLst>
              <a:gd name="adj" fmla="val 7143"/>
            </a:avLst>
          </a:prstGeom>
          <a:solidFill>
            <a:srgbClr val="F7FCFF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60920" y="914400"/>
            <a:ext cx="73152" cy="1024128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62088" y="1060704"/>
            <a:ext cx="3785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説明ポイント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62088" y="1389888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ランサムウェア、脆弱性悪用、情報流出に対して、入口となる通信を可視化・制御します。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7360920" y="2212848"/>
            <a:ext cx="4114800" cy="1024128"/>
          </a:xfrm>
          <a:prstGeom prst="roundRect">
            <a:avLst>
              <a:gd name="adj" fmla="val 7143"/>
            </a:avLst>
          </a:prstGeom>
          <a:solidFill>
            <a:srgbClr val="F5FCFF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60920" y="2212848"/>
            <a:ext cx="73152" cy="1024128"/>
          </a:xfrm>
          <a:prstGeom prst="rect">
            <a:avLst/>
          </a:prstGeom>
          <a:solidFill>
            <a:srgbClr val="22BEEB"/>
          </a:solidFill>
          <a:ln w="12700">
            <a:solidFill>
              <a:srgbClr val="22BE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62088" y="2359152"/>
            <a:ext cx="3785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Web / URL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562088" y="2688336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公開WebサイトやSaaSへのアクセスは、ZIA URL Filteringでカテゴリ・URL単位に制御します。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7360920" y="3511296"/>
            <a:ext cx="4114800" cy="1024128"/>
          </a:xfrm>
          <a:prstGeom prst="roundRect">
            <a:avLst>
              <a:gd name="adj" fmla="val 7143"/>
            </a:avLst>
          </a:prstGeom>
          <a:solidFill>
            <a:srgbClr val="FFFDF5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360920" y="3511296"/>
            <a:ext cx="73152" cy="1024128"/>
          </a:xfrm>
          <a:prstGeom prst="rect">
            <a:avLst/>
          </a:prstGeom>
          <a:solidFill>
            <a:srgbClr val="FFD84E"/>
          </a:solidFill>
          <a:ln w="12700">
            <a:solidFill>
              <a:srgbClr val="FFD84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62088" y="3657600"/>
            <a:ext cx="3785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IP / Port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62088" y="3986784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宛先IP、プロトコル、ポート単位の通信は、ZIA Firewall Filteringで制御します。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7360920" y="4809744"/>
            <a:ext cx="4114800" cy="1024128"/>
          </a:xfrm>
          <a:prstGeom prst="roundRect">
            <a:avLst>
              <a:gd name="adj" fmla="val 7143"/>
            </a:avLst>
          </a:prstGeom>
          <a:solidFill>
            <a:srgbClr val="F5FFF8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60920" y="4809744"/>
            <a:ext cx="73152" cy="1024128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62088" y="4956048"/>
            <a:ext cx="3785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Private App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562088" y="5285232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社内アプリはZPAでインターネットから隠し、ユーザー単位で許可します。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502920" y="6309360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図：ご提供画像をそのまま使用</a:t>
            </a:r>
            <a:endParaRPr lang="en-US" sz="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002B5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2004"/>
          </a:xfrm>
          <a:prstGeom prst="rect">
            <a:avLst/>
          </a:prstGeom>
          <a:solidFill>
            <a:srgbClr val="22BEEB"/>
          </a:solidFill>
          <a:ln w="12700">
            <a:solidFill>
              <a:srgbClr val="22BE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2801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従来型FW/VPNの課題：公開IPとネットワーク単位アクセス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0" y="1920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5B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CURRENT CHALLENGE</a:t>
            </a:r>
            <a:endParaRPr lang="en-US" sz="950" dirty="0"/>
          </a:p>
        </p:txBody>
      </p:sp>
      <p:pic>
        <p:nvPicPr>
          <p:cNvPr id="6" name="Image 0" descr="/mnt/data/f9fc14a9-53d3-4896-bd5e-f8b9eefa43f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10969"/>
            <a:ext cx="7360920" cy="413547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56448" y="96012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7F6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56448" y="960120"/>
            <a:ext cx="73152" cy="1143000"/>
          </a:xfrm>
          <a:prstGeom prst="rect">
            <a:avLst/>
          </a:prstGeom>
          <a:solidFill>
            <a:srgbClr val="D83A2E"/>
          </a:solidFill>
          <a:ln w="12700">
            <a:solidFill>
              <a:srgbClr val="D83A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57616" y="1106424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公開される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357616" y="1435608"/>
            <a:ext cx="29169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VPN機器や公開IPが攻撃対象として探索されやすくなります。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8156448" y="2304288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BF2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156448" y="2304288"/>
            <a:ext cx="73152" cy="114300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57616" y="2450592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侵入後に広がる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357616" y="2779776"/>
            <a:ext cx="29169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ネットワーク単位の許可では、認証後の横展開リスクが残ります。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8156448" y="3648456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6FBFF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56448" y="3648456"/>
            <a:ext cx="73152" cy="1143000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57616" y="3794760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運用が複雑化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57616" y="4123944"/>
            <a:ext cx="29169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拠点・例外・個別ACLが増え、ポリシー維持の負荷が高くなります。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914400" y="5715000"/>
            <a:ext cx="10332720" cy="310896"/>
          </a:xfrm>
          <a:prstGeom prst="roundRect">
            <a:avLst>
              <a:gd name="adj" fmla="val 17647"/>
            </a:avLst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87552" y="5783580"/>
            <a:ext cx="10186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目標：Web、IP、Private Appをそれぞれ適切なZscaler機能で制御する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502920" y="6309360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図：ご提供画像をそのまま使用</a:t>
            </a:r>
            <a:endParaRPr lang="en-US" sz="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002B5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2004"/>
          </a:xfrm>
          <a:prstGeom prst="rect">
            <a:avLst/>
          </a:prstGeom>
          <a:solidFill>
            <a:srgbClr val="22BEEB"/>
          </a:solidFill>
          <a:ln w="12700">
            <a:solidFill>
              <a:srgbClr val="22BE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2801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Zscalerによる移行後イメージ：攻撃対象領域を最小化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0" y="1920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5B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TARGET ARCHITECTURE</a:t>
            </a:r>
            <a:endParaRPr lang="en-US" sz="950" dirty="0"/>
          </a:p>
        </p:txBody>
      </p:sp>
      <p:pic>
        <p:nvPicPr>
          <p:cNvPr id="6" name="Image 0" descr="/mnt/data/92c6ec1e-771c-4342-bc2a-8d11286f07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06224"/>
            <a:ext cx="6400800" cy="358484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86600" y="914400"/>
            <a:ext cx="1325880" cy="438912"/>
          </a:xfrm>
          <a:prstGeom prst="rect">
            <a:avLst/>
          </a:prstGeom>
          <a:solidFill>
            <a:srgbClr val="002B5C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41464" y="960120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対象</a:t>
            </a:r>
            <a:endParaRPr lang="en-US" sz="920" dirty="0"/>
          </a:p>
        </p:txBody>
      </p:sp>
      <p:sp>
        <p:nvSpPr>
          <p:cNvPr id="9" name="Shape 6"/>
          <p:cNvSpPr/>
          <p:nvPr/>
        </p:nvSpPr>
        <p:spPr>
          <a:xfrm>
            <a:off x="8412480" y="914400"/>
            <a:ext cx="1234440" cy="438912"/>
          </a:xfrm>
          <a:prstGeom prst="rect">
            <a:avLst/>
          </a:prstGeom>
          <a:solidFill>
            <a:srgbClr val="002B5C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67344" y="960120"/>
            <a:ext cx="1124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製品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9646920" y="914400"/>
            <a:ext cx="1920240" cy="438912"/>
          </a:xfrm>
          <a:prstGeom prst="rect">
            <a:avLst/>
          </a:prstGeom>
          <a:solidFill>
            <a:srgbClr val="002B5C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701784" y="96012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設定機能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7086600" y="1353312"/>
            <a:ext cx="1325880" cy="658368"/>
          </a:xfrm>
          <a:prstGeom prst="rect">
            <a:avLst/>
          </a:prstGeom>
          <a:solidFill>
            <a:srgbClr val="FFFF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41464" y="1399032"/>
            <a:ext cx="1216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Webサイト</a:t>
            </a:r>
            <a:endParaRPr lang="en-US" sz="870" dirty="0"/>
          </a:p>
        </p:txBody>
      </p:sp>
      <p:sp>
        <p:nvSpPr>
          <p:cNvPr id="15" name="Shape 12"/>
          <p:cNvSpPr/>
          <p:nvPr/>
        </p:nvSpPr>
        <p:spPr>
          <a:xfrm>
            <a:off x="8412480" y="1353312"/>
            <a:ext cx="1234440" cy="658368"/>
          </a:xfrm>
          <a:prstGeom prst="rect">
            <a:avLst/>
          </a:prstGeom>
          <a:solidFill>
            <a:srgbClr val="FFFF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67344" y="1399032"/>
            <a:ext cx="1124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5B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ZIA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646920" y="1353312"/>
            <a:ext cx="1920240" cy="658368"/>
          </a:xfrm>
          <a:prstGeom prst="rect">
            <a:avLst/>
          </a:prstGeom>
          <a:solidFill>
            <a:srgbClr val="FFFF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701784" y="139903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URL Filtering</a:t>
            </a:r>
            <a:endParaRPr lang="en-US" sz="830" dirty="0"/>
          </a:p>
        </p:txBody>
      </p:sp>
      <p:sp>
        <p:nvSpPr>
          <p:cNvPr id="19" name="Shape 16"/>
          <p:cNvSpPr/>
          <p:nvPr/>
        </p:nvSpPr>
        <p:spPr>
          <a:xfrm>
            <a:off x="7086600" y="2011680"/>
            <a:ext cx="1325880" cy="658368"/>
          </a:xfrm>
          <a:prstGeom prst="rect">
            <a:avLst/>
          </a:prstGeom>
          <a:solidFill>
            <a:srgbClr val="F5FA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41464" y="2057400"/>
            <a:ext cx="1216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IP / Port</a:t>
            </a:r>
            <a:endParaRPr lang="en-US" sz="870" dirty="0"/>
          </a:p>
        </p:txBody>
      </p:sp>
      <p:sp>
        <p:nvSpPr>
          <p:cNvPr id="21" name="Shape 18"/>
          <p:cNvSpPr/>
          <p:nvPr/>
        </p:nvSpPr>
        <p:spPr>
          <a:xfrm>
            <a:off x="8412480" y="2011680"/>
            <a:ext cx="1234440" cy="658368"/>
          </a:xfrm>
          <a:prstGeom prst="rect">
            <a:avLst/>
          </a:prstGeom>
          <a:solidFill>
            <a:srgbClr val="F5FA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467344" y="2057400"/>
            <a:ext cx="1124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5B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ZIA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9646920" y="2011680"/>
            <a:ext cx="1920240" cy="658368"/>
          </a:xfrm>
          <a:prstGeom prst="rect">
            <a:avLst/>
          </a:prstGeom>
          <a:solidFill>
            <a:srgbClr val="F5FA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701784" y="205740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Firewall Filtering</a:t>
            </a:r>
            <a:endParaRPr lang="en-US" sz="830" dirty="0"/>
          </a:p>
        </p:txBody>
      </p:sp>
      <p:sp>
        <p:nvSpPr>
          <p:cNvPr id="25" name="Shape 22"/>
          <p:cNvSpPr/>
          <p:nvPr/>
        </p:nvSpPr>
        <p:spPr>
          <a:xfrm>
            <a:off x="7086600" y="2670048"/>
            <a:ext cx="1325880" cy="658368"/>
          </a:xfrm>
          <a:prstGeom prst="rect">
            <a:avLst/>
          </a:prstGeom>
          <a:solidFill>
            <a:srgbClr val="FFFF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141464" y="2715768"/>
            <a:ext cx="1216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社内アプリ</a:t>
            </a:r>
            <a:endParaRPr lang="en-US" sz="870" dirty="0"/>
          </a:p>
        </p:txBody>
      </p:sp>
      <p:sp>
        <p:nvSpPr>
          <p:cNvPr id="27" name="Shape 24"/>
          <p:cNvSpPr/>
          <p:nvPr/>
        </p:nvSpPr>
        <p:spPr>
          <a:xfrm>
            <a:off x="8412480" y="2670048"/>
            <a:ext cx="1234440" cy="658368"/>
          </a:xfrm>
          <a:prstGeom prst="rect">
            <a:avLst/>
          </a:prstGeom>
          <a:solidFill>
            <a:srgbClr val="FFFF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467344" y="2715768"/>
            <a:ext cx="1124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BF7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ZPA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9646920" y="2670048"/>
            <a:ext cx="1920240" cy="658368"/>
          </a:xfrm>
          <a:prstGeom prst="rect">
            <a:avLst/>
          </a:prstGeom>
          <a:solidFill>
            <a:srgbClr val="FFFF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701784" y="2715768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Application Segment</a:t>
            </a:r>
            <a:endParaRPr lang="en-US" sz="830" dirty="0"/>
          </a:p>
        </p:txBody>
      </p:sp>
      <p:sp>
        <p:nvSpPr>
          <p:cNvPr id="31" name="Shape 28"/>
          <p:cNvSpPr/>
          <p:nvPr/>
        </p:nvSpPr>
        <p:spPr>
          <a:xfrm>
            <a:off x="7086600" y="3328416"/>
            <a:ext cx="1325880" cy="658368"/>
          </a:xfrm>
          <a:prstGeom prst="rect">
            <a:avLst/>
          </a:prstGeom>
          <a:solidFill>
            <a:srgbClr val="F5FA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141464" y="3374136"/>
            <a:ext cx="1216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Webアプリ攻撃</a:t>
            </a:r>
            <a:endParaRPr lang="en-US" sz="870" dirty="0"/>
          </a:p>
        </p:txBody>
      </p:sp>
      <p:sp>
        <p:nvSpPr>
          <p:cNvPr id="33" name="Shape 30"/>
          <p:cNvSpPr/>
          <p:nvPr/>
        </p:nvSpPr>
        <p:spPr>
          <a:xfrm>
            <a:off x="8412480" y="3328416"/>
            <a:ext cx="1234440" cy="658368"/>
          </a:xfrm>
          <a:prstGeom prst="rect">
            <a:avLst/>
          </a:prstGeom>
          <a:solidFill>
            <a:srgbClr val="F5FA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467344" y="3374136"/>
            <a:ext cx="1124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BF7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ZPA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9646920" y="3328416"/>
            <a:ext cx="1920240" cy="658368"/>
          </a:xfrm>
          <a:prstGeom prst="rect">
            <a:avLst/>
          </a:prstGeom>
          <a:solidFill>
            <a:srgbClr val="F5FA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701784" y="3374136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AppProtection</a:t>
            </a:r>
            <a:endParaRPr lang="en-US" sz="830" dirty="0"/>
          </a:p>
        </p:txBody>
      </p:sp>
      <p:sp>
        <p:nvSpPr>
          <p:cNvPr id="37" name="Shape 34"/>
          <p:cNvSpPr/>
          <p:nvPr/>
        </p:nvSpPr>
        <p:spPr>
          <a:xfrm>
            <a:off x="731520" y="5166360"/>
            <a:ext cx="10789920" cy="694944"/>
          </a:xfrm>
          <a:prstGeom prst="roundRect">
            <a:avLst>
              <a:gd name="adj" fmla="val 10526"/>
            </a:avLst>
          </a:prstGeom>
          <a:solidFill>
            <a:srgbClr val="F8FCFF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31520" y="5166360"/>
            <a:ext cx="73152" cy="694944"/>
          </a:xfrm>
          <a:prstGeom prst="rect">
            <a:avLst/>
          </a:prstGeom>
          <a:solidFill>
            <a:srgbClr val="22BEEB"/>
          </a:solidFill>
          <a:ln w="12700">
            <a:solidFill>
              <a:srgbClr val="22BEE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32688" y="5312664"/>
            <a:ext cx="10460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本資料での説明方針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932688" y="5641848"/>
            <a:ext cx="10460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ZIAはインターネット / SaaS向け、ZPAはPrivate Application向けとして説明し、設定画面も製品別に分けて示します。</a:t>
            </a:r>
            <a:endParaRPr lang="en-US" sz="880" dirty="0"/>
          </a:p>
        </p:txBody>
      </p:sp>
      <p:sp>
        <p:nvSpPr>
          <p:cNvPr id="41" name="Text 38"/>
          <p:cNvSpPr/>
          <p:nvPr/>
        </p:nvSpPr>
        <p:spPr>
          <a:xfrm>
            <a:off x="502920" y="6309360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図：ご提供画像をそのまま使用</a:t>
            </a:r>
            <a:endParaRPr lang="en-US" sz="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002B5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2004"/>
          </a:xfrm>
          <a:prstGeom prst="rect">
            <a:avLst/>
          </a:prstGeom>
          <a:solidFill>
            <a:srgbClr val="22BEEB"/>
          </a:solidFill>
          <a:ln w="12700">
            <a:solidFill>
              <a:srgbClr val="22BE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2801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制御対象別：どの管理画面で設定するか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0" y="1920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5B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DECISION MAP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4360" y="8961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最初に「対象がWebsiteなのか、IP/Portなのか、Private Appなのか」を切り分けます。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508760"/>
            <a:ext cx="2514600" cy="35204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508760"/>
            <a:ext cx="73152" cy="3520440"/>
          </a:xfrm>
          <a:prstGeom prst="rect">
            <a:avLst/>
          </a:prstGeom>
          <a:solidFill>
            <a:srgbClr val="22BEEB"/>
          </a:solidFill>
          <a:ln w="12700">
            <a:solidFill>
              <a:srgbClr val="22BE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655064"/>
            <a:ext cx="2185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Website / URL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1984248"/>
            <a:ext cx="2185416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ZIA URL Filtering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URLカテゴリ・Custom URL Category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Allow / Block / Caution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例：SNS、ギャンブル、許可リスト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850392" y="5349240"/>
            <a:ext cx="1993392" cy="310896"/>
          </a:xfrm>
          <a:prstGeom prst="roundRect">
            <a:avLst>
              <a:gd name="adj" fmla="val 17647"/>
            </a:avLst>
          </a:prstGeom>
          <a:solidFill>
            <a:srgbClr val="22BEEB"/>
          </a:solidFill>
          <a:ln w="12700">
            <a:solidFill>
              <a:srgbClr val="22BE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5417820"/>
            <a:ext cx="1847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ZIA Admin Portal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474720" y="1508760"/>
            <a:ext cx="2514600" cy="35204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508760"/>
            <a:ext cx="73152" cy="3520440"/>
          </a:xfrm>
          <a:prstGeom prst="rect">
            <a:avLst/>
          </a:prstGeom>
          <a:solidFill>
            <a:srgbClr val="FFD84E"/>
          </a:solidFill>
          <a:ln w="12700">
            <a:solidFill>
              <a:srgbClr val="FFD8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75888" y="1655064"/>
            <a:ext cx="2185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Destination IP / Port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75888" y="1984248"/>
            <a:ext cx="2185416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ZIA Firewall Filtering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宛先IP/FQDN・Protocol/Port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Network Service / IP Group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例：特定IPや不要ポートを禁止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3730752" y="5349240"/>
            <a:ext cx="1993392" cy="310896"/>
          </a:xfrm>
          <a:prstGeom prst="roundRect">
            <a:avLst>
              <a:gd name="adj" fmla="val 17647"/>
            </a:avLst>
          </a:prstGeom>
          <a:solidFill>
            <a:srgbClr val="FFD84E"/>
          </a:solidFill>
          <a:ln w="12700">
            <a:solidFill>
              <a:srgbClr val="FFD8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03904" y="5417820"/>
            <a:ext cx="1847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ZIA Admin Portal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355080" y="1508760"/>
            <a:ext cx="2514600" cy="35204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1508760"/>
            <a:ext cx="73152" cy="3520440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56248" y="1655064"/>
            <a:ext cx="2185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Private Application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56248" y="1984248"/>
            <a:ext cx="2185416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ZPA Application Segment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FQDN/IP・Portでアプリ定義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ユーザー/グループ別に許可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例：社内CRM・契約管理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611112" y="5349240"/>
            <a:ext cx="1993392" cy="310896"/>
          </a:xfrm>
          <a:prstGeom prst="roundRect">
            <a:avLst>
              <a:gd name="adj" fmla="val 17647"/>
            </a:avLst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84264" y="5417820"/>
            <a:ext cx="1847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ZPA Admin Portal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9235440" y="1508760"/>
            <a:ext cx="2514600" cy="35204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35440" y="1508760"/>
            <a:ext cx="73152" cy="352044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36608" y="1655064"/>
            <a:ext cx="2185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Private Web App Attack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436608" y="1984248"/>
            <a:ext cx="2185416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ZPA AppProtection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OWASP・SQLi・XSS・CVE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Private Web Appを検査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例：社内ポータル保護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9491472" y="5349240"/>
            <a:ext cx="1993392" cy="310896"/>
          </a:xfrm>
          <a:prstGeom prst="roundRect">
            <a:avLst>
              <a:gd name="adj" fmla="val 17647"/>
            </a:avLst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64624" y="5417820"/>
            <a:ext cx="1847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ZPA Admin Portal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502920" y="6309360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Official docs: ZIA URL Filtering / Firewall Filtering, ZPA Defined Application Segments / AppProtection</a:t>
            </a:r>
            <a:endParaRPr lang="en-US" sz="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002B5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2004"/>
          </a:xfrm>
          <a:prstGeom prst="rect">
            <a:avLst/>
          </a:prstGeom>
          <a:solidFill>
            <a:srgbClr val="22BEEB"/>
          </a:solidFill>
          <a:ln w="12700">
            <a:solidFill>
              <a:srgbClr val="22BE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2801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Website Filtering：ZIA URL Filteringで設定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0" y="1920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5B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ZIA / WEBSITE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932688"/>
            <a:ext cx="580644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B8CB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932688"/>
            <a:ext cx="5806440" cy="38404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042416"/>
            <a:ext cx="5477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ZIA Admin Portal &gt; Policies &gt; Access Control &gt; Internet &amp; SaaS &gt; URL Filtering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21208" y="1335024"/>
            <a:ext cx="1097280" cy="3995928"/>
          </a:xfrm>
          <a:prstGeom prst="rect">
            <a:avLst/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" y="1463040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005B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URL Filtering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630936" y="1773936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URL Categories</a:t>
            </a:r>
            <a:endParaRPr lang="en-US" sz="640" dirty="0"/>
          </a:p>
        </p:txBody>
      </p:sp>
      <p:sp>
        <p:nvSpPr>
          <p:cNvPr id="12" name="Text 10"/>
          <p:cNvSpPr/>
          <p:nvPr/>
        </p:nvSpPr>
        <p:spPr>
          <a:xfrm>
            <a:off x="630936" y="2084832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Custom URL</a:t>
            </a:r>
            <a:endParaRPr lang="en-US" sz="640" dirty="0"/>
          </a:p>
        </p:txBody>
      </p:sp>
      <p:sp>
        <p:nvSpPr>
          <p:cNvPr id="13" name="Text 11"/>
          <p:cNvSpPr/>
          <p:nvPr/>
        </p:nvSpPr>
        <p:spPr>
          <a:xfrm>
            <a:off x="630936" y="2395728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Activation</a:t>
            </a:r>
            <a:endParaRPr lang="en-US" sz="640" dirty="0"/>
          </a:p>
        </p:txBody>
      </p:sp>
      <p:sp>
        <p:nvSpPr>
          <p:cNvPr id="14" name="Text 12"/>
          <p:cNvSpPr/>
          <p:nvPr/>
        </p:nvSpPr>
        <p:spPr>
          <a:xfrm>
            <a:off x="630936" y="2706624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Logs</a:t>
            </a:r>
            <a:endParaRPr lang="en-US" sz="640" dirty="0"/>
          </a:p>
        </p:txBody>
      </p:sp>
      <p:sp>
        <p:nvSpPr>
          <p:cNvPr id="15" name="Text 13"/>
          <p:cNvSpPr/>
          <p:nvPr/>
        </p:nvSpPr>
        <p:spPr>
          <a:xfrm>
            <a:off x="1728216" y="149961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Rule Name</a:t>
            </a:r>
            <a:endParaRPr lang="en-US" sz="620" dirty="0"/>
          </a:p>
        </p:txBody>
      </p:sp>
      <p:sp>
        <p:nvSpPr>
          <p:cNvPr id="16" name="Shape 14"/>
          <p:cNvSpPr/>
          <p:nvPr/>
        </p:nvSpPr>
        <p:spPr>
          <a:xfrm>
            <a:off x="2834640" y="1472184"/>
            <a:ext cx="3200400" cy="228600"/>
          </a:xfrm>
          <a:prstGeom prst="roundRect">
            <a:avLst>
              <a:gd name="adj" fmla="val 8000"/>
            </a:avLst>
          </a:prstGeom>
          <a:solidFill>
            <a:srgbClr val="F8FBFE"/>
          </a:solidFill>
          <a:ln w="6985">
            <a:solidFill>
              <a:srgbClr val="D5E3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35224" y="1513332"/>
            <a:ext cx="3017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TSUSAN_Web_Access_Control</a:t>
            </a:r>
            <a:endParaRPr lang="en-US" sz="620" dirty="0"/>
          </a:p>
        </p:txBody>
      </p:sp>
      <p:sp>
        <p:nvSpPr>
          <p:cNvPr id="18" name="Text 16"/>
          <p:cNvSpPr/>
          <p:nvPr/>
        </p:nvSpPr>
        <p:spPr>
          <a:xfrm>
            <a:off x="1728216" y="1883664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User / Group</a:t>
            </a:r>
            <a:endParaRPr lang="en-US" sz="620" dirty="0"/>
          </a:p>
        </p:txBody>
      </p:sp>
      <p:sp>
        <p:nvSpPr>
          <p:cNvPr id="19" name="Shape 17"/>
          <p:cNvSpPr/>
          <p:nvPr/>
        </p:nvSpPr>
        <p:spPr>
          <a:xfrm>
            <a:off x="2834640" y="1856232"/>
            <a:ext cx="3200400" cy="228600"/>
          </a:xfrm>
          <a:prstGeom prst="roundRect">
            <a:avLst>
              <a:gd name="adj" fmla="val 8000"/>
            </a:avLst>
          </a:prstGeom>
          <a:solidFill>
            <a:srgbClr val="F8FBFE"/>
          </a:solidFill>
          <a:ln w="6985">
            <a:solidFill>
              <a:srgbClr val="D5E3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35224" y="1897380"/>
            <a:ext cx="3017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営業部 / 管理部 / 全社</a:t>
            </a:r>
            <a:endParaRPr lang="en-US" sz="620" dirty="0"/>
          </a:p>
        </p:txBody>
      </p:sp>
      <p:sp>
        <p:nvSpPr>
          <p:cNvPr id="21" name="Text 19"/>
          <p:cNvSpPr/>
          <p:nvPr/>
        </p:nvSpPr>
        <p:spPr>
          <a:xfrm>
            <a:off x="1728216" y="2267712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URL Categories</a:t>
            </a:r>
            <a:endParaRPr lang="en-US" sz="620" dirty="0"/>
          </a:p>
        </p:txBody>
      </p:sp>
      <p:sp>
        <p:nvSpPr>
          <p:cNvPr id="22" name="Shape 20"/>
          <p:cNvSpPr/>
          <p:nvPr/>
        </p:nvSpPr>
        <p:spPr>
          <a:xfrm>
            <a:off x="2834640" y="2240280"/>
            <a:ext cx="3200400" cy="228600"/>
          </a:xfrm>
          <a:prstGeom prst="roundRect">
            <a:avLst>
              <a:gd name="adj" fmla="val 8000"/>
            </a:avLst>
          </a:prstGeom>
          <a:solidFill>
            <a:srgbClr val="F8FBFE"/>
          </a:solidFill>
          <a:ln w="6985">
            <a:solidFill>
              <a:srgbClr val="D5E3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35224" y="2281428"/>
            <a:ext cx="3017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Business: Allow / Gambling, Adult, Anonymizer: Block</a:t>
            </a:r>
            <a:endParaRPr lang="en-US" sz="620" dirty="0"/>
          </a:p>
        </p:txBody>
      </p:sp>
      <p:sp>
        <p:nvSpPr>
          <p:cNvPr id="24" name="Text 22"/>
          <p:cNvSpPr/>
          <p:nvPr/>
        </p:nvSpPr>
        <p:spPr>
          <a:xfrm>
            <a:off x="1728216" y="2651760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Custom URL Category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2834640" y="2624328"/>
            <a:ext cx="3200400" cy="228600"/>
          </a:xfrm>
          <a:prstGeom prst="roundRect">
            <a:avLst>
              <a:gd name="adj" fmla="val 8000"/>
            </a:avLst>
          </a:prstGeom>
          <a:solidFill>
            <a:srgbClr val="F8FBFE"/>
          </a:solidFill>
          <a:ln w="6985">
            <a:solidFill>
              <a:srgbClr val="D5E3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35224" y="2665476"/>
            <a:ext cx="3017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TSUSAN_Allowlist: tsusan.co.jp, aflac.co.jp</a:t>
            </a:r>
            <a:endParaRPr lang="en-US" sz="620" dirty="0"/>
          </a:p>
        </p:txBody>
      </p:sp>
      <p:sp>
        <p:nvSpPr>
          <p:cNvPr id="27" name="Text 25"/>
          <p:cNvSpPr/>
          <p:nvPr/>
        </p:nvSpPr>
        <p:spPr>
          <a:xfrm>
            <a:off x="1728216" y="3035808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Action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2834640" y="3008376"/>
            <a:ext cx="3200400" cy="228600"/>
          </a:xfrm>
          <a:prstGeom prst="roundRect">
            <a:avLst>
              <a:gd name="adj" fmla="val 8000"/>
            </a:avLst>
          </a:prstGeom>
          <a:solidFill>
            <a:srgbClr val="F8FBFE"/>
          </a:solidFill>
          <a:ln w="6985">
            <a:solidFill>
              <a:srgbClr val="D5E3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35224" y="3049524"/>
            <a:ext cx="3017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Allow / Block / Caution</a:t>
            </a:r>
            <a:endParaRPr lang="en-US" sz="620" dirty="0"/>
          </a:p>
        </p:txBody>
      </p:sp>
      <p:sp>
        <p:nvSpPr>
          <p:cNvPr id="30" name="Text 28"/>
          <p:cNvSpPr/>
          <p:nvPr/>
        </p:nvSpPr>
        <p:spPr>
          <a:xfrm>
            <a:off x="1728216" y="3419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Rule Order</a:t>
            </a:r>
            <a:endParaRPr lang="en-US" sz="620" dirty="0"/>
          </a:p>
        </p:txBody>
      </p:sp>
      <p:sp>
        <p:nvSpPr>
          <p:cNvPr id="31" name="Shape 29"/>
          <p:cNvSpPr/>
          <p:nvPr/>
        </p:nvSpPr>
        <p:spPr>
          <a:xfrm>
            <a:off x="2834640" y="3392424"/>
            <a:ext cx="3200400" cy="228600"/>
          </a:xfrm>
          <a:prstGeom prst="roundRect">
            <a:avLst>
              <a:gd name="adj" fmla="val 8000"/>
            </a:avLst>
          </a:prstGeom>
          <a:solidFill>
            <a:srgbClr val="F8FBFE"/>
          </a:solidFill>
          <a:ln w="6985">
            <a:solidFill>
              <a:srgbClr val="D5E3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35224" y="3433572"/>
            <a:ext cx="3017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許可リスト → カテゴリ制御 → Default</a:t>
            </a:r>
            <a:endParaRPr lang="en-US" sz="620" dirty="0"/>
          </a:p>
        </p:txBody>
      </p:sp>
      <p:sp>
        <p:nvSpPr>
          <p:cNvPr id="33" name="Shape 31"/>
          <p:cNvSpPr/>
          <p:nvPr/>
        </p:nvSpPr>
        <p:spPr>
          <a:xfrm>
            <a:off x="5138928" y="4983480"/>
            <a:ext cx="841248" cy="201168"/>
          </a:xfrm>
          <a:prstGeom prst="roundRect">
            <a:avLst>
              <a:gd name="adj" fmla="val 9091"/>
            </a:avLst>
          </a:prstGeom>
          <a:solidFill>
            <a:srgbClr val="005BAC"/>
          </a:solidFill>
          <a:ln w="12700">
            <a:solidFill>
              <a:srgbClr val="005BA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02936" y="5029200"/>
            <a:ext cx="7132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保存 / 有効化</a:t>
            </a:r>
            <a:endParaRPr lang="en-US" sz="540" dirty="0"/>
          </a:p>
        </p:txBody>
      </p:sp>
      <p:sp>
        <p:nvSpPr>
          <p:cNvPr id="35" name="Shape 33"/>
          <p:cNvSpPr/>
          <p:nvPr/>
        </p:nvSpPr>
        <p:spPr>
          <a:xfrm>
            <a:off x="6583680" y="960120"/>
            <a:ext cx="4983480" cy="987552"/>
          </a:xfrm>
          <a:prstGeom prst="roundRect">
            <a:avLst>
              <a:gd name="adj" fmla="val 7407"/>
            </a:avLst>
          </a:prstGeom>
          <a:solidFill>
            <a:srgbClr val="F7FCFF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83680" y="960120"/>
            <a:ext cx="73152" cy="987552"/>
          </a:xfrm>
          <a:prstGeom prst="rect">
            <a:avLst/>
          </a:prstGeom>
          <a:solidFill>
            <a:srgbClr val="22BEEB"/>
          </a:solidFill>
          <a:ln w="12700">
            <a:solidFill>
              <a:srgbClr val="22BE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84848" y="1106424"/>
            <a:ext cx="4654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設定するもの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784848" y="1435608"/>
            <a:ext cx="4654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Webサイトのカテゴリ判定、特定URLの許可/拒否、警告表示を設定します。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6583680" y="2148840"/>
            <a:ext cx="4983480" cy="987552"/>
          </a:xfrm>
          <a:prstGeom prst="roundRect">
            <a:avLst>
              <a:gd name="adj" fmla="val 7407"/>
            </a:avLst>
          </a:prstGeom>
          <a:solidFill>
            <a:srgbClr val="F6FBFF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83680" y="2148840"/>
            <a:ext cx="73152" cy="987552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84848" y="2295144"/>
            <a:ext cx="4654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主な条件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784848" y="2624328"/>
            <a:ext cx="4654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ユーザー、グループ、部門、ロケーション、時間帯、URLカテゴリ、Custom URL Category。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6583680" y="3337560"/>
            <a:ext cx="4983480" cy="1024128"/>
          </a:xfrm>
          <a:prstGeom prst="roundRect">
            <a:avLst>
              <a:gd name="adj" fmla="val 7143"/>
            </a:avLst>
          </a:prstGeom>
          <a:solidFill>
            <a:srgbClr val="F5FFF8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83680" y="3337560"/>
            <a:ext cx="73152" cy="1024128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84848" y="3483864"/>
            <a:ext cx="4654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ツーサン様向け例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784848" y="3813048"/>
            <a:ext cx="4654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保険会社公式サイトや業務サイトを許可し、業務外または高リスクカテゴリをBlock / Cautionに設定します。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6583680" y="5074920"/>
            <a:ext cx="4983480" cy="310896"/>
          </a:xfrm>
          <a:prstGeom prst="roundRect">
            <a:avLst>
              <a:gd name="adj" fmla="val 17647"/>
            </a:avLst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56832" y="5143500"/>
            <a:ext cx="4837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Websiteの制御はZIA URL Filteringで実施</a:t>
            </a:r>
            <a:endParaRPr lang="en-US" sz="880" dirty="0"/>
          </a:p>
        </p:txBody>
      </p:sp>
      <p:sp>
        <p:nvSpPr>
          <p:cNvPr id="49" name="Text 47"/>
          <p:cNvSpPr/>
          <p:nvPr/>
        </p:nvSpPr>
        <p:spPr>
          <a:xfrm>
            <a:off x="502920" y="6309360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Zscaler Help: Configuring the URL Filtering Policy; Configuring Custom URL Categories</a:t>
            </a:r>
            <a:endParaRPr lang="en-US" sz="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002B5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2004"/>
          </a:xfrm>
          <a:prstGeom prst="rect">
            <a:avLst/>
          </a:prstGeom>
          <a:solidFill>
            <a:srgbClr val="22BEEB"/>
          </a:solidFill>
          <a:ln w="12700">
            <a:solidFill>
              <a:srgbClr val="22BE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2801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URL Categoryの判定例：Exact Matchingとルール順序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0" y="1920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5B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ZIA / URL MATCHING</a:t>
            </a:r>
            <a:endParaRPr lang="en-US" sz="950" dirty="0"/>
          </a:p>
        </p:txBody>
      </p:sp>
      <p:pic>
        <p:nvPicPr>
          <p:cNvPr id="6" name="Image 0" descr="/mnt/data/963a2ee7-c856-490d-b2fd-974cf71674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409" y="841248"/>
            <a:ext cx="6351541" cy="5212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69480" y="960120"/>
            <a:ext cx="4160520" cy="1097280"/>
          </a:xfrm>
          <a:prstGeom prst="roundRect">
            <a:avLst>
              <a:gd name="adj" fmla="val 6667"/>
            </a:avLst>
          </a:prstGeom>
          <a:solidFill>
            <a:srgbClr val="F6FBFF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69480" y="960120"/>
            <a:ext cx="73152" cy="1097280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70648" y="1106424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Step 1：Domain Match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70648" y="1435608"/>
            <a:ext cx="3831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アクセス先URLをCustom URL Category / URL Categoryと照合し、より具体的な一致を優先します。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7269480" y="2304288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FFFBF2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269480" y="2304288"/>
            <a:ext cx="73152" cy="114300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70648" y="2450592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Step 2：Other Criteria Match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470648" y="2779776"/>
            <a:ext cx="38313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カテゴリが一致しても、Location Group / Protocol / Methodなどの条件が合わなければ次のルールへ進みます。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7269480" y="3703320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F4FFF8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269480" y="3703320"/>
            <a:ext cx="73152" cy="1143000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70648" y="3849624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設計上のポイント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470648" y="4178808"/>
            <a:ext cx="38313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許可リスト、業務サイト、カテゴリ制御、Default Ruleの順番を明確にして誤ブロックを避けます。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7452360" y="5413248"/>
            <a:ext cx="3749040" cy="310896"/>
          </a:xfrm>
          <a:prstGeom prst="roundRect">
            <a:avLst>
              <a:gd name="adj" fmla="val 17647"/>
            </a:avLst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25512" y="5481828"/>
            <a:ext cx="3602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URLカテゴリ制御はZIA側で説明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502920" y="6309360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図：ご提供画像をそのまま使用</a:t>
            </a:r>
            <a:endParaRPr lang="en-US" sz="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002B5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2004"/>
          </a:xfrm>
          <a:prstGeom prst="rect">
            <a:avLst/>
          </a:prstGeom>
          <a:solidFill>
            <a:srgbClr val="22BEEB"/>
          </a:solidFill>
          <a:ln w="12700">
            <a:solidFill>
              <a:srgbClr val="22BE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2801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IP Filtering：ZIA Firewall Filteringで設定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0" y="1920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5B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ZIA / IP &amp; PORT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932688"/>
            <a:ext cx="562356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B8CB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932688"/>
            <a:ext cx="5623560" cy="38404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042416"/>
            <a:ext cx="5294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ZIA Admin Portal &gt; Policies &gt; Access Control &gt; Firewall &gt; Firewall Filtering Policy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21208" y="1335024"/>
            <a:ext cx="1097280" cy="4041648"/>
          </a:xfrm>
          <a:prstGeom prst="rect">
            <a:avLst/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" y="1463040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005B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Firewall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630936" y="1773936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IP Groups</a:t>
            </a:r>
            <a:endParaRPr lang="en-US" sz="640" dirty="0"/>
          </a:p>
        </p:txBody>
      </p:sp>
      <p:sp>
        <p:nvSpPr>
          <p:cNvPr id="12" name="Text 10"/>
          <p:cNvSpPr/>
          <p:nvPr/>
        </p:nvSpPr>
        <p:spPr>
          <a:xfrm>
            <a:off x="630936" y="2084832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Network Services</a:t>
            </a:r>
            <a:endParaRPr lang="en-US" sz="640" dirty="0"/>
          </a:p>
        </p:txBody>
      </p:sp>
      <p:sp>
        <p:nvSpPr>
          <p:cNvPr id="13" name="Text 11"/>
          <p:cNvSpPr/>
          <p:nvPr/>
        </p:nvSpPr>
        <p:spPr>
          <a:xfrm>
            <a:off x="630936" y="2395728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DNS Control</a:t>
            </a:r>
            <a:endParaRPr lang="en-US" sz="640" dirty="0"/>
          </a:p>
        </p:txBody>
      </p:sp>
      <p:sp>
        <p:nvSpPr>
          <p:cNvPr id="14" name="Text 12"/>
          <p:cNvSpPr/>
          <p:nvPr/>
        </p:nvSpPr>
        <p:spPr>
          <a:xfrm>
            <a:off x="630936" y="2706624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Logs</a:t>
            </a:r>
            <a:endParaRPr lang="en-US" sz="640" dirty="0"/>
          </a:p>
        </p:txBody>
      </p:sp>
      <p:sp>
        <p:nvSpPr>
          <p:cNvPr id="15" name="Text 13"/>
          <p:cNvSpPr/>
          <p:nvPr/>
        </p:nvSpPr>
        <p:spPr>
          <a:xfrm>
            <a:off x="1728216" y="149961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Rule Name</a:t>
            </a:r>
            <a:endParaRPr lang="en-US" sz="620" dirty="0"/>
          </a:p>
        </p:txBody>
      </p:sp>
      <p:sp>
        <p:nvSpPr>
          <p:cNvPr id="16" name="Shape 14"/>
          <p:cNvSpPr/>
          <p:nvPr/>
        </p:nvSpPr>
        <p:spPr>
          <a:xfrm>
            <a:off x="2834640" y="1472184"/>
            <a:ext cx="3017520" cy="228600"/>
          </a:xfrm>
          <a:prstGeom prst="roundRect">
            <a:avLst>
              <a:gd name="adj" fmla="val 8000"/>
            </a:avLst>
          </a:prstGeom>
          <a:solidFill>
            <a:srgbClr val="F8FBFE"/>
          </a:solidFill>
          <a:ln w="6985">
            <a:solidFill>
              <a:srgbClr val="D5E3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35224" y="1513332"/>
            <a:ext cx="28346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TSUSAN_IP_Port_Control</a:t>
            </a:r>
            <a:endParaRPr lang="en-US" sz="620" dirty="0"/>
          </a:p>
        </p:txBody>
      </p:sp>
      <p:sp>
        <p:nvSpPr>
          <p:cNvPr id="18" name="Text 16"/>
          <p:cNvSpPr/>
          <p:nvPr/>
        </p:nvSpPr>
        <p:spPr>
          <a:xfrm>
            <a:off x="1728216" y="1883664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Source</a:t>
            </a:r>
            <a:endParaRPr lang="en-US" sz="620" dirty="0"/>
          </a:p>
        </p:txBody>
      </p:sp>
      <p:sp>
        <p:nvSpPr>
          <p:cNvPr id="19" name="Shape 17"/>
          <p:cNvSpPr/>
          <p:nvPr/>
        </p:nvSpPr>
        <p:spPr>
          <a:xfrm>
            <a:off x="2834640" y="1856232"/>
            <a:ext cx="3017520" cy="228600"/>
          </a:xfrm>
          <a:prstGeom prst="roundRect">
            <a:avLst>
              <a:gd name="adj" fmla="val 8000"/>
            </a:avLst>
          </a:prstGeom>
          <a:solidFill>
            <a:srgbClr val="F8FBFE"/>
          </a:solidFill>
          <a:ln w="6985">
            <a:solidFill>
              <a:srgbClr val="D5E3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35224" y="1897380"/>
            <a:ext cx="28346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Location / Source IP Group / User Group</a:t>
            </a:r>
            <a:endParaRPr lang="en-US" sz="620" dirty="0"/>
          </a:p>
        </p:txBody>
      </p:sp>
      <p:sp>
        <p:nvSpPr>
          <p:cNvPr id="21" name="Text 19"/>
          <p:cNvSpPr/>
          <p:nvPr/>
        </p:nvSpPr>
        <p:spPr>
          <a:xfrm>
            <a:off x="1728216" y="2267712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Destination</a:t>
            </a:r>
            <a:endParaRPr lang="en-US" sz="620" dirty="0"/>
          </a:p>
        </p:txBody>
      </p:sp>
      <p:sp>
        <p:nvSpPr>
          <p:cNvPr id="22" name="Shape 20"/>
          <p:cNvSpPr/>
          <p:nvPr/>
        </p:nvSpPr>
        <p:spPr>
          <a:xfrm>
            <a:off x="2834640" y="2240280"/>
            <a:ext cx="3017520" cy="228600"/>
          </a:xfrm>
          <a:prstGeom prst="roundRect">
            <a:avLst>
              <a:gd name="adj" fmla="val 8000"/>
            </a:avLst>
          </a:prstGeom>
          <a:solidFill>
            <a:srgbClr val="F8FBFE"/>
          </a:solidFill>
          <a:ln w="6985">
            <a:solidFill>
              <a:srgbClr val="D5E3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35224" y="2281428"/>
            <a:ext cx="28346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Destination IP Group / FQDN / Country</a:t>
            </a:r>
            <a:endParaRPr lang="en-US" sz="620" dirty="0"/>
          </a:p>
        </p:txBody>
      </p:sp>
      <p:sp>
        <p:nvSpPr>
          <p:cNvPr id="24" name="Text 22"/>
          <p:cNvSpPr/>
          <p:nvPr/>
        </p:nvSpPr>
        <p:spPr>
          <a:xfrm>
            <a:off x="1728216" y="2651760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Service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2834640" y="2624328"/>
            <a:ext cx="3017520" cy="228600"/>
          </a:xfrm>
          <a:prstGeom prst="roundRect">
            <a:avLst>
              <a:gd name="adj" fmla="val 8000"/>
            </a:avLst>
          </a:prstGeom>
          <a:solidFill>
            <a:srgbClr val="F8FBFE"/>
          </a:solidFill>
          <a:ln w="6985">
            <a:solidFill>
              <a:srgbClr val="D5E3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35224" y="2665476"/>
            <a:ext cx="28346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TCP 80/443, DNS, RDP, SMB など</a:t>
            </a:r>
            <a:endParaRPr lang="en-US" sz="620" dirty="0"/>
          </a:p>
        </p:txBody>
      </p:sp>
      <p:sp>
        <p:nvSpPr>
          <p:cNvPr id="27" name="Text 25"/>
          <p:cNvSpPr/>
          <p:nvPr/>
        </p:nvSpPr>
        <p:spPr>
          <a:xfrm>
            <a:off x="1728216" y="3035808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Action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2834640" y="3008376"/>
            <a:ext cx="3017520" cy="228600"/>
          </a:xfrm>
          <a:prstGeom prst="roundRect">
            <a:avLst>
              <a:gd name="adj" fmla="val 8000"/>
            </a:avLst>
          </a:prstGeom>
          <a:solidFill>
            <a:srgbClr val="F8FBFE"/>
          </a:solidFill>
          <a:ln w="6985">
            <a:solidFill>
              <a:srgbClr val="D5E3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35224" y="3049524"/>
            <a:ext cx="28346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Allow / Block</a:t>
            </a:r>
            <a:endParaRPr lang="en-US" sz="620" dirty="0"/>
          </a:p>
        </p:txBody>
      </p:sp>
      <p:sp>
        <p:nvSpPr>
          <p:cNvPr id="30" name="Text 28"/>
          <p:cNvSpPr/>
          <p:nvPr/>
        </p:nvSpPr>
        <p:spPr>
          <a:xfrm>
            <a:off x="1728216" y="3419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Logging</a:t>
            </a:r>
            <a:endParaRPr lang="en-US" sz="620" dirty="0"/>
          </a:p>
        </p:txBody>
      </p:sp>
      <p:sp>
        <p:nvSpPr>
          <p:cNvPr id="31" name="Shape 29"/>
          <p:cNvSpPr/>
          <p:nvPr/>
        </p:nvSpPr>
        <p:spPr>
          <a:xfrm>
            <a:off x="2834640" y="3392424"/>
            <a:ext cx="3017520" cy="228600"/>
          </a:xfrm>
          <a:prstGeom prst="roundRect">
            <a:avLst>
              <a:gd name="adj" fmla="val 8000"/>
            </a:avLst>
          </a:prstGeom>
          <a:solidFill>
            <a:srgbClr val="F8FBFE"/>
          </a:solidFill>
          <a:ln w="6985">
            <a:solidFill>
              <a:srgbClr val="D5E3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35224" y="3433572"/>
            <a:ext cx="28346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Firewall Insightsで確認</a:t>
            </a:r>
            <a:endParaRPr lang="en-US" sz="620" dirty="0"/>
          </a:p>
        </p:txBody>
      </p:sp>
      <p:sp>
        <p:nvSpPr>
          <p:cNvPr id="33" name="Shape 31"/>
          <p:cNvSpPr/>
          <p:nvPr/>
        </p:nvSpPr>
        <p:spPr>
          <a:xfrm>
            <a:off x="4956048" y="5029200"/>
            <a:ext cx="841248" cy="201168"/>
          </a:xfrm>
          <a:prstGeom prst="roundRect">
            <a:avLst>
              <a:gd name="adj" fmla="val 9091"/>
            </a:avLst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0056" y="5074920"/>
            <a:ext cx="7132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保存 / 有効化</a:t>
            </a:r>
            <a:endParaRPr lang="en-US" sz="540" dirty="0"/>
          </a:p>
        </p:txBody>
      </p:sp>
      <p:sp>
        <p:nvSpPr>
          <p:cNvPr id="35" name="Shape 33"/>
          <p:cNvSpPr/>
          <p:nvPr/>
        </p:nvSpPr>
        <p:spPr>
          <a:xfrm>
            <a:off x="6492240" y="1170432"/>
            <a:ext cx="969264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6510">
            <a:solidFill>
              <a:srgbClr val="005BA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37960" y="1280160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User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7479792" y="1435608"/>
            <a:ext cx="155448" cy="0"/>
          </a:xfrm>
          <a:prstGeom prst="line">
            <a:avLst/>
          </a:prstGeom>
          <a:noFill/>
          <a:ln w="15240">
            <a:solidFill>
              <a:srgbClr val="005BAC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635240" y="1170432"/>
            <a:ext cx="969264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6510">
            <a:solidFill>
              <a:srgbClr val="FFB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80960" y="1280160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ZIA Cloud Firewall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8622792" y="1435608"/>
            <a:ext cx="155448" cy="0"/>
          </a:xfrm>
          <a:prstGeom prst="line">
            <a:avLst/>
          </a:prstGeom>
          <a:noFill/>
          <a:ln w="15240">
            <a:solidFill>
              <a:srgbClr val="005BAC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778240" y="1170432"/>
            <a:ext cx="969264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6510">
            <a:solidFill>
              <a:srgbClr val="FFD84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23960" y="1280160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Rule Match</a:t>
            </a:r>
            <a:endParaRPr lang="en-US" sz="720" dirty="0"/>
          </a:p>
        </p:txBody>
      </p:sp>
      <p:sp>
        <p:nvSpPr>
          <p:cNvPr id="43" name="Shape 41"/>
          <p:cNvSpPr/>
          <p:nvPr/>
        </p:nvSpPr>
        <p:spPr>
          <a:xfrm>
            <a:off x="9765792" y="1435608"/>
            <a:ext cx="155448" cy="0"/>
          </a:xfrm>
          <a:prstGeom prst="line">
            <a:avLst/>
          </a:prstGeom>
          <a:noFill/>
          <a:ln w="15240">
            <a:solidFill>
              <a:srgbClr val="005BAC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921240" y="1170432"/>
            <a:ext cx="969264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6510">
            <a:solidFill>
              <a:srgbClr val="D83A2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966960" y="1280160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Allow / Block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6537960" y="214884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FFDF5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37960" y="2148840"/>
            <a:ext cx="73152" cy="96012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39128" y="2295144"/>
            <a:ext cx="4471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設定するもの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739128" y="2624328"/>
            <a:ext cx="44714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宛先IPアドレス、FQDN、国、Protocol、Port、Network Serviceなどで通信を制御します。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6537960" y="333756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7FCFF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37960" y="3337560"/>
            <a:ext cx="73152" cy="960120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39128" y="3483864"/>
            <a:ext cx="4471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Website Filteringとの違い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739128" y="3813048"/>
            <a:ext cx="44714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URLカテゴリやWebサイト分類はURL Filtering。IP/Port/Protocol中心の条件はFirewall Filteringです。</a:t>
            </a:r>
            <a:endParaRPr lang="en-US" sz="880" dirty="0"/>
          </a:p>
        </p:txBody>
      </p:sp>
      <p:sp>
        <p:nvSpPr>
          <p:cNvPr id="54" name="Shape 52"/>
          <p:cNvSpPr/>
          <p:nvPr/>
        </p:nvSpPr>
        <p:spPr>
          <a:xfrm>
            <a:off x="6537960" y="4526280"/>
            <a:ext cx="4800600" cy="868680"/>
          </a:xfrm>
          <a:prstGeom prst="roundRect">
            <a:avLst>
              <a:gd name="adj" fmla="val 8421"/>
            </a:avLst>
          </a:prstGeom>
          <a:solidFill>
            <a:srgbClr val="F4FFF8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537960" y="4526280"/>
            <a:ext cx="73152" cy="868680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39128" y="4672584"/>
            <a:ext cx="4471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ツーサン様向け例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739128" y="5001768"/>
            <a:ext cx="44714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未承認クラウド、不要ポート、直接外部IP通信をBlockし、業務通信のみを許可します。</a:t>
            </a:r>
            <a:endParaRPr lang="en-US" sz="880" dirty="0"/>
          </a:p>
        </p:txBody>
      </p:sp>
      <p:sp>
        <p:nvSpPr>
          <p:cNvPr id="58" name="Text 56"/>
          <p:cNvSpPr/>
          <p:nvPr/>
        </p:nvSpPr>
        <p:spPr>
          <a:xfrm>
            <a:off x="502920" y="6309360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Zscaler Help: Configuring the Firewall Filtering Policy; Firewall Filtering</a:t>
            </a:r>
            <a:endParaRPr lang="en-US" sz="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002B5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2004"/>
          </a:xfrm>
          <a:prstGeom prst="rect">
            <a:avLst/>
          </a:prstGeom>
          <a:solidFill>
            <a:srgbClr val="22BEEB"/>
          </a:solidFill>
          <a:ln w="12700">
            <a:solidFill>
              <a:srgbClr val="22BE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2801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Private Application：ZPA Application Segmentで定義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0" y="1920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5B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ZPA / PRIVATE ACCESS</a:t>
            </a:r>
            <a:endParaRPr lang="en-US" sz="950" dirty="0"/>
          </a:p>
        </p:txBody>
      </p:sp>
      <p:pic>
        <p:nvPicPr>
          <p:cNvPr id="6" name="Image 0" descr="/mnt/data/c881eceb-b101-4d63-85e2-696e276aa2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081" y="1005840"/>
            <a:ext cx="3587357" cy="2880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83480" y="914400"/>
            <a:ext cx="640080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B8CBE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983480" y="914400"/>
            <a:ext cx="6400800" cy="38404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48072" y="1024128"/>
            <a:ext cx="6071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ZPA Admin Portal &gt; Policies &gt; Access Control &gt; Private Applications &gt; Defined Application Segments</a:t>
            </a:r>
            <a:endParaRPr lang="en-US" sz="820" dirty="0"/>
          </a:p>
        </p:txBody>
      </p:sp>
      <p:sp>
        <p:nvSpPr>
          <p:cNvPr id="10" name="Shape 7"/>
          <p:cNvSpPr/>
          <p:nvPr/>
        </p:nvSpPr>
        <p:spPr>
          <a:xfrm>
            <a:off x="5001768" y="1316736"/>
            <a:ext cx="1097280" cy="3995928"/>
          </a:xfrm>
          <a:prstGeom prst="rect">
            <a:avLst/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11496" y="1444752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005B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App Segments</a:t>
            </a:r>
            <a:endParaRPr lang="en-US" sz="640" dirty="0"/>
          </a:p>
        </p:txBody>
      </p:sp>
      <p:sp>
        <p:nvSpPr>
          <p:cNvPr id="12" name="Text 9"/>
          <p:cNvSpPr/>
          <p:nvPr/>
        </p:nvSpPr>
        <p:spPr>
          <a:xfrm>
            <a:off x="5111496" y="1755648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Access Policy</a:t>
            </a:r>
            <a:endParaRPr lang="en-US" sz="640" dirty="0"/>
          </a:p>
        </p:txBody>
      </p:sp>
      <p:sp>
        <p:nvSpPr>
          <p:cNvPr id="13" name="Text 10"/>
          <p:cNvSpPr/>
          <p:nvPr/>
        </p:nvSpPr>
        <p:spPr>
          <a:xfrm>
            <a:off x="5111496" y="2066544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Server Groups</a:t>
            </a:r>
            <a:endParaRPr lang="en-US" sz="640" dirty="0"/>
          </a:p>
        </p:txBody>
      </p:sp>
      <p:sp>
        <p:nvSpPr>
          <p:cNvPr id="14" name="Text 11"/>
          <p:cNvSpPr/>
          <p:nvPr/>
        </p:nvSpPr>
        <p:spPr>
          <a:xfrm>
            <a:off x="5111496" y="2377440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Connectors</a:t>
            </a:r>
            <a:endParaRPr lang="en-US" sz="640" dirty="0"/>
          </a:p>
        </p:txBody>
      </p:sp>
      <p:sp>
        <p:nvSpPr>
          <p:cNvPr id="15" name="Text 12"/>
          <p:cNvSpPr/>
          <p:nvPr/>
        </p:nvSpPr>
        <p:spPr>
          <a:xfrm>
            <a:off x="5111496" y="2688336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Logs</a:t>
            </a:r>
            <a:endParaRPr lang="en-US" sz="640" dirty="0"/>
          </a:p>
        </p:txBody>
      </p:sp>
      <p:sp>
        <p:nvSpPr>
          <p:cNvPr id="16" name="Text 13"/>
          <p:cNvSpPr/>
          <p:nvPr/>
        </p:nvSpPr>
        <p:spPr>
          <a:xfrm>
            <a:off x="6208776" y="1481328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Application Name</a:t>
            </a:r>
            <a:endParaRPr lang="en-US" sz="620" dirty="0"/>
          </a:p>
        </p:txBody>
      </p:sp>
      <p:sp>
        <p:nvSpPr>
          <p:cNvPr id="17" name="Shape 14"/>
          <p:cNvSpPr/>
          <p:nvPr/>
        </p:nvSpPr>
        <p:spPr>
          <a:xfrm>
            <a:off x="7315200" y="1453896"/>
            <a:ext cx="3794760" cy="228600"/>
          </a:xfrm>
          <a:prstGeom prst="roundRect">
            <a:avLst>
              <a:gd name="adj" fmla="val 8000"/>
            </a:avLst>
          </a:prstGeom>
          <a:solidFill>
            <a:srgbClr val="F8FBFE"/>
          </a:solidFill>
          <a:ln w="6985">
            <a:solidFill>
              <a:srgbClr val="D5E3F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15784" y="1495044"/>
            <a:ext cx="36118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TSUSAN_Internal_CRM</a:t>
            </a:r>
            <a:endParaRPr lang="en-US" sz="620" dirty="0"/>
          </a:p>
        </p:txBody>
      </p:sp>
      <p:sp>
        <p:nvSpPr>
          <p:cNvPr id="19" name="Text 16"/>
          <p:cNvSpPr/>
          <p:nvPr/>
        </p:nvSpPr>
        <p:spPr>
          <a:xfrm>
            <a:off x="6208776" y="186537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Domain / IP</a:t>
            </a:r>
            <a:endParaRPr lang="en-US" sz="620" dirty="0"/>
          </a:p>
        </p:txBody>
      </p:sp>
      <p:sp>
        <p:nvSpPr>
          <p:cNvPr id="20" name="Shape 17"/>
          <p:cNvSpPr/>
          <p:nvPr/>
        </p:nvSpPr>
        <p:spPr>
          <a:xfrm>
            <a:off x="7315200" y="1837944"/>
            <a:ext cx="3794760" cy="228600"/>
          </a:xfrm>
          <a:prstGeom prst="roundRect">
            <a:avLst>
              <a:gd name="adj" fmla="val 8000"/>
            </a:avLst>
          </a:prstGeom>
          <a:solidFill>
            <a:srgbClr val="F8FBFE"/>
          </a:solidFill>
          <a:ln w="6985">
            <a:solidFill>
              <a:srgbClr val="D5E3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15784" y="1879092"/>
            <a:ext cx="36118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crm.internal.local / 10.10.20.0/24</a:t>
            </a:r>
            <a:endParaRPr lang="en-US" sz="620" dirty="0"/>
          </a:p>
        </p:txBody>
      </p:sp>
      <p:sp>
        <p:nvSpPr>
          <p:cNvPr id="22" name="Text 19"/>
          <p:cNvSpPr/>
          <p:nvPr/>
        </p:nvSpPr>
        <p:spPr>
          <a:xfrm>
            <a:off x="6208776" y="2249424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Ports</a:t>
            </a:r>
            <a:endParaRPr lang="en-US" sz="620" dirty="0"/>
          </a:p>
        </p:txBody>
      </p:sp>
      <p:sp>
        <p:nvSpPr>
          <p:cNvPr id="23" name="Shape 20"/>
          <p:cNvSpPr/>
          <p:nvPr/>
        </p:nvSpPr>
        <p:spPr>
          <a:xfrm>
            <a:off x="7315200" y="2221992"/>
            <a:ext cx="3794760" cy="228600"/>
          </a:xfrm>
          <a:prstGeom prst="roundRect">
            <a:avLst>
              <a:gd name="adj" fmla="val 8000"/>
            </a:avLst>
          </a:prstGeom>
          <a:solidFill>
            <a:srgbClr val="F8FBFE"/>
          </a:solidFill>
          <a:ln w="6985">
            <a:solidFill>
              <a:srgbClr val="D5E3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15784" y="2263140"/>
            <a:ext cx="36118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TCP 443 / 8443</a:t>
            </a:r>
            <a:endParaRPr lang="en-US" sz="620" dirty="0"/>
          </a:p>
        </p:txBody>
      </p:sp>
      <p:sp>
        <p:nvSpPr>
          <p:cNvPr id="25" name="Text 22"/>
          <p:cNvSpPr/>
          <p:nvPr/>
        </p:nvSpPr>
        <p:spPr>
          <a:xfrm>
            <a:off x="6208776" y="2633472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Server Group</a:t>
            </a:r>
            <a:endParaRPr lang="en-US" sz="620" dirty="0"/>
          </a:p>
        </p:txBody>
      </p:sp>
      <p:sp>
        <p:nvSpPr>
          <p:cNvPr id="26" name="Shape 23"/>
          <p:cNvSpPr/>
          <p:nvPr/>
        </p:nvSpPr>
        <p:spPr>
          <a:xfrm>
            <a:off x="7315200" y="2606040"/>
            <a:ext cx="3794760" cy="228600"/>
          </a:xfrm>
          <a:prstGeom prst="roundRect">
            <a:avLst>
              <a:gd name="adj" fmla="val 8000"/>
            </a:avLst>
          </a:prstGeom>
          <a:solidFill>
            <a:srgbClr val="F8FBFE"/>
          </a:solidFill>
          <a:ln w="6985">
            <a:solidFill>
              <a:srgbClr val="D5E3F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15784" y="2647188"/>
            <a:ext cx="36118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Tokyo-DC-App-Connector</a:t>
            </a:r>
            <a:endParaRPr lang="en-US" sz="620" dirty="0"/>
          </a:p>
        </p:txBody>
      </p:sp>
      <p:sp>
        <p:nvSpPr>
          <p:cNvPr id="28" name="Text 25"/>
          <p:cNvSpPr/>
          <p:nvPr/>
        </p:nvSpPr>
        <p:spPr>
          <a:xfrm>
            <a:off x="6208776" y="3017520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Access Policy</a:t>
            </a:r>
            <a:endParaRPr lang="en-US" sz="620" dirty="0"/>
          </a:p>
        </p:txBody>
      </p:sp>
      <p:sp>
        <p:nvSpPr>
          <p:cNvPr id="29" name="Shape 26"/>
          <p:cNvSpPr/>
          <p:nvPr/>
        </p:nvSpPr>
        <p:spPr>
          <a:xfrm>
            <a:off x="7315200" y="2990088"/>
            <a:ext cx="3794760" cy="228600"/>
          </a:xfrm>
          <a:prstGeom prst="roundRect">
            <a:avLst>
              <a:gd name="adj" fmla="val 8000"/>
            </a:avLst>
          </a:prstGeom>
          <a:solidFill>
            <a:srgbClr val="F8FBFE"/>
          </a:solidFill>
          <a:ln w="6985">
            <a:solidFill>
              <a:srgbClr val="D5E3F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415784" y="3031236"/>
            <a:ext cx="36118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営業部 + 管理端末のみAllow</a:t>
            </a:r>
            <a:endParaRPr lang="en-US" sz="620" dirty="0"/>
          </a:p>
        </p:txBody>
      </p:sp>
      <p:sp>
        <p:nvSpPr>
          <p:cNvPr id="31" name="Text 28"/>
          <p:cNvSpPr/>
          <p:nvPr/>
        </p:nvSpPr>
        <p:spPr>
          <a:xfrm>
            <a:off x="6208776" y="3401568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Default</a:t>
            </a:r>
            <a:endParaRPr lang="en-US" sz="620" dirty="0"/>
          </a:p>
        </p:txBody>
      </p:sp>
      <p:sp>
        <p:nvSpPr>
          <p:cNvPr id="32" name="Shape 29"/>
          <p:cNvSpPr/>
          <p:nvPr/>
        </p:nvSpPr>
        <p:spPr>
          <a:xfrm>
            <a:off x="7315200" y="3374136"/>
            <a:ext cx="3794760" cy="228600"/>
          </a:xfrm>
          <a:prstGeom prst="roundRect">
            <a:avLst>
              <a:gd name="adj" fmla="val 8000"/>
            </a:avLst>
          </a:prstGeom>
          <a:solidFill>
            <a:srgbClr val="F8FBFE"/>
          </a:solidFill>
          <a:ln w="6985">
            <a:solidFill>
              <a:srgbClr val="D5E3F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415784" y="3415284"/>
            <a:ext cx="36118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それ以外はDeny</a:t>
            </a:r>
            <a:endParaRPr lang="en-US" sz="620" dirty="0"/>
          </a:p>
        </p:txBody>
      </p:sp>
      <p:sp>
        <p:nvSpPr>
          <p:cNvPr id="34" name="Shape 31"/>
          <p:cNvSpPr/>
          <p:nvPr/>
        </p:nvSpPr>
        <p:spPr>
          <a:xfrm>
            <a:off x="10213848" y="4965192"/>
            <a:ext cx="841248" cy="201168"/>
          </a:xfrm>
          <a:prstGeom prst="roundRect">
            <a:avLst>
              <a:gd name="adj" fmla="val 9091"/>
            </a:avLst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277856" y="5010912"/>
            <a:ext cx="7132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保存 / 有効化</a:t>
            </a:r>
            <a:endParaRPr lang="en-US" sz="540" dirty="0"/>
          </a:p>
        </p:txBody>
      </p:sp>
      <p:sp>
        <p:nvSpPr>
          <p:cNvPr id="36" name="Shape 33"/>
          <p:cNvSpPr/>
          <p:nvPr/>
        </p:nvSpPr>
        <p:spPr>
          <a:xfrm>
            <a:off x="777240" y="4251960"/>
            <a:ext cx="3794760" cy="1143000"/>
          </a:xfrm>
          <a:prstGeom prst="roundRect">
            <a:avLst>
              <a:gd name="adj" fmla="val 6400"/>
            </a:avLst>
          </a:prstGeom>
          <a:solidFill>
            <a:srgbClr val="F5FFF8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77240" y="4251960"/>
            <a:ext cx="73152" cy="1143000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78408" y="4398264"/>
            <a:ext cx="3465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設定するもの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978408" y="4727448"/>
            <a:ext cx="34655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Private AppはFQDN/IP/Portでアプリとして定義し、ユーザー・グループ・端末条件でアクセスを許可します。</a:t>
            </a:r>
            <a:endParaRPr lang="en-US" sz="880" dirty="0"/>
          </a:p>
        </p:txBody>
      </p:sp>
      <p:sp>
        <p:nvSpPr>
          <p:cNvPr id="40" name="Shape 37"/>
          <p:cNvSpPr/>
          <p:nvPr/>
        </p:nvSpPr>
        <p:spPr>
          <a:xfrm>
            <a:off x="777240" y="5468112"/>
            <a:ext cx="10332720" cy="502920"/>
          </a:xfrm>
          <a:prstGeom prst="roundRect">
            <a:avLst>
              <a:gd name="adj" fmla="val 14545"/>
            </a:avLst>
          </a:prstGeom>
          <a:solidFill>
            <a:srgbClr val="F7FCFF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77240" y="5468112"/>
            <a:ext cx="73152" cy="502920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78408" y="5614416"/>
            <a:ext cx="10003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効果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978408" y="5943600"/>
            <a:ext cx="10003536" cy="-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アプリケーションはインターネットから直接見えず、ユーザーはネットワーク全体ではなく許可されたアプリのみに接続します。</a:t>
            </a:r>
            <a:endParaRPr lang="en-US" sz="880" dirty="0"/>
          </a:p>
        </p:txBody>
      </p:sp>
      <p:sp>
        <p:nvSpPr>
          <p:cNvPr id="44" name="Text 41"/>
          <p:cNvSpPr/>
          <p:nvPr/>
        </p:nvSpPr>
        <p:spPr>
          <a:xfrm>
            <a:off x="502920" y="6309360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図：ご提供画像をそのまま使用 / Zscaler Help: Configuring Defined Application Segments</a:t>
            </a:r>
            <a:endParaRPr lang="en-US" sz="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002B5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2004"/>
          </a:xfrm>
          <a:prstGeom prst="rect">
            <a:avLst/>
          </a:prstGeom>
          <a:solidFill>
            <a:srgbClr val="22BEEB"/>
          </a:solidFill>
          <a:ln w="12700">
            <a:solidFill>
              <a:srgbClr val="22BE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2801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Private Web App保護：ZPA AppProtectionでL7攻撃を検査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0" y="1920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5B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ZPA / APPPROTECTION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932688"/>
            <a:ext cx="585216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B8CB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932688"/>
            <a:ext cx="5852160" cy="38404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042416"/>
            <a:ext cx="5522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ZPA Admin Portal &gt; Policies &gt; Cybersecurity &gt; Inline Security &gt; Protection Policies &gt; AppProtection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21208" y="1335024"/>
            <a:ext cx="1097280" cy="3995928"/>
          </a:xfrm>
          <a:prstGeom prst="rect">
            <a:avLst/>
          </a:prstGeom>
          <a:solidFill>
            <a:srgbClr val="F2F7FC"/>
          </a:solidFill>
          <a:ln w="12700">
            <a:solidFill>
              <a:srgbClr val="F2F7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" y="1463040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005B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AppProtection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630936" y="1773936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Profiles</a:t>
            </a:r>
            <a:endParaRPr lang="en-US" sz="640" dirty="0"/>
          </a:p>
        </p:txBody>
      </p:sp>
      <p:sp>
        <p:nvSpPr>
          <p:cNvPr id="12" name="Text 10"/>
          <p:cNvSpPr/>
          <p:nvPr/>
        </p:nvSpPr>
        <p:spPr>
          <a:xfrm>
            <a:off x="630936" y="2084832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Rules</a:t>
            </a:r>
            <a:endParaRPr lang="en-US" sz="640" dirty="0"/>
          </a:p>
        </p:txBody>
      </p:sp>
      <p:sp>
        <p:nvSpPr>
          <p:cNvPr id="13" name="Text 11"/>
          <p:cNvSpPr/>
          <p:nvPr/>
        </p:nvSpPr>
        <p:spPr>
          <a:xfrm>
            <a:off x="630936" y="2395728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Signatures</a:t>
            </a:r>
            <a:endParaRPr lang="en-US" sz="640" dirty="0"/>
          </a:p>
        </p:txBody>
      </p:sp>
      <p:sp>
        <p:nvSpPr>
          <p:cNvPr id="14" name="Text 12"/>
          <p:cNvSpPr/>
          <p:nvPr/>
        </p:nvSpPr>
        <p:spPr>
          <a:xfrm>
            <a:off x="630936" y="2706624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Logs</a:t>
            </a:r>
            <a:endParaRPr lang="en-US" sz="640" dirty="0"/>
          </a:p>
        </p:txBody>
      </p:sp>
      <p:sp>
        <p:nvSpPr>
          <p:cNvPr id="15" name="Text 13"/>
          <p:cNvSpPr/>
          <p:nvPr/>
        </p:nvSpPr>
        <p:spPr>
          <a:xfrm>
            <a:off x="1728216" y="149961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Rule Name</a:t>
            </a:r>
            <a:endParaRPr lang="en-US" sz="620" dirty="0"/>
          </a:p>
        </p:txBody>
      </p:sp>
      <p:sp>
        <p:nvSpPr>
          <p:cNvPr id="16" name="Shape 14"/>
          <p:cNvSpPr/>
          <p:nvPr/>
        </p:nvSpPr>
        <p:spPr>
          <a:xfrm>
            <a:off x="2834640" y="1472184"/>
            <a:ext cx="3246120" cy="228600"/>
          </a:xfrm>
          <a:prstGeom prst="roundRect">
            <a:avLst>
              <a:gd name="adj" fmla="val 8000"/>
            </a:avLst>
          </a:prstGeom>
          <a:solidFill>
            <a:srgbClr val="F8FBFE"/>
          </a:solidFill>
          <a:ln w="6985">
            <a:solidFill>
              <a:srgbClr val="D5E3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35224" y="1513332"/>
            <a:ext cx="30632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TSUSAN_CRM_AppProtection</a:t>
            </a:r>
            <a:endParaRPr lang="en-US" sz="620" dirty="0"/>
          </a:p>
        </p:txBody>
      </p:sp>
      <p:sp>
        <p:nvSpPr>
          <p:cNvPr id="18" name="Text 16"/>
          <p:cNvSpPr/>
          <p:nvPr/>
        </p:nvSpPr>
        <p:spPr>
          <a:xfrm>
            <a:off x="1728216" y="1883664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Applications</a:t>
            </a:r>
            <a:endParaRPr lang="en-US" sz="620" dirty="0"/>
          </a:p>
        </p:txBody>
      </p:sp>
      <p:sp>
        <p:nvSpPr>
          <p:cNvPr id="19" name="Shape 17"/>
          <p:cNvSpPr/>
          <p:nvPr/>
        </p:nvSpPr>
        <p:spPr>
          <a:xfrm>
            <a:off x="2834640" y="1856232"/>
            <a:ext cx="3246120" cy="228600"/>
          </a:xfrm>
          <a:prstGeom prst="roundRect">
            <a:avLst>
              <a:gd name="adj" fmla="val 8000"/>
            </a:avLst>
          </a:prstGeom>
          <a:solidFill>
            <a:srgbClr val="F8FBFE"/>
          </a:solidFill>
          <a:ln w="6985">
            <a:solidFill>
              <a:srgbClr val="D5E3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35224" y="1897380"/>
            <a:ext cx="30632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TSUSAN_Internal_CRM</a:t>
            </a:r>
            <a:endParaRPr lang="en-US" sz="620" dirty="0"/>
          </a:p>
        </p:txBody>
      </p:sp>
      <p:sp>
        <p:nvSpPr>
          <p:cNvPr id="21" name="Text 19"/>
          <p:cNvSpPr/>
          <p:nvPr/>
        </p:nvSpPr>
        <p:spPr>
          <a:xfrm>
            <a:off x="1728216" y="2267712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Controls</a:t>
            </a:r>
            <a:endParaRPr lang="en-US" sz="620" dirty="0"/>
          </a:p>
        </p:txBody>
      </p:sp>
      <p:sp>
        <p:nvSpPr>
          <p:cNvPr id="22" name="Shape 20"/>
          <p:cNvSpPr/>
          <p:nvPr/>
        </p:nvSpPr>
        <p:spPr>
          <a:xfrm>
            <a:off x="2834640" y="2240280"/>
            <a:ext cx="3246120" cy="228600"/>
          </a:xfrm>
          <a:prstGeom prst="roundRect">
            <a:avLst>
              <a:gd name="adj" fmla="val 8000"/>
            </a:avLst>
          </a:prstGeom>
          <a:solidFill>
            <a:srgbClr val="F8FBFE"/>
          </a:solidFill>
          <a:ln w="6985">
            <a:solidFill>
              <a:srgbClr val="D5E3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35224" y="2281428"/>
            <a:ext cx="30632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Predefined OWASP / CVE / ThreatLabz</a:t>
            </a:r>
            <a:endParaRPr lang="en-US" sz="620" dirty="0"/>
          </a:p>
        </p:txBody>
      </p:sp>
      <p:sp>
        <p:nvSpPr>
          <p:cNvPr id="24" name="Text 22"/>
          <p:cNvSpPr/>
          <p:nvPr/>
        </p:nvSpPr>
        <p:spPr>
          <a:xfrm>
            <a:off x="1728216" y="2651760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Methods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2834640" y="2624328"/>
            <a:ext cx="3246120" cy="228600"/>
          </a:xfrm>
          <a:prstGeom prst="roundRect">
            <a:avLst>
              <a:gd name="adj" fmla="val 8000"/>
            </a:avLst>
          </a:prstGeom>
          <a:solidFill>
            <a:srgbClr val="F8FBFE"/>
          </a:solidFill>
          <a:ln w="6985">
            <a:solidFill>
              <a:srgbClr val="D5E3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35224" y="2665476"/>
            <a:ext cx="30632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GET / POST / PUT など</a:t>
            </a:r>
            <a:endParaRPr lang="en-US" sz="620" dirty="0"/>
          </a:p>
        </p:txBody>
      </p:sp>
      <p:sp>
        <p:nvSpPr>
          <p:cNvPr id="27" name="Text 25"/>
          <p:cNvSpPr/>
          <p:nvPr/>
        </p:nvSpPr>
        <p:spPr>
          <a:xfrm>
            <a:off x="1728216" y="3035808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Action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2834640" y="3008376"/>
            <a:ext cx="3246120" cy="228600"/>
          </a:xfrm>
          <a:prstGeom prst="roundRect">
            <a:avLst>
              <a:gd name="adj" fmla="val 8000"/>
            </a:avLst>
          </a:prstGeom>
          <a:solidFill>
            <a:srgbClr val="F8FBFE"/>
          </a:solidFill>
          <a:ln w="6985">
            <a:solidFill>
              <a:srgbClr val="D5E3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35224" y="3049524"/>
            <a:ext cx="30632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Inspect / Block / Log</a:t>
            </a:r>
            <a:endParaRPr lang="en-US" sz="620" dirty="0"/>
          </a:p>
        </p:txBody>
      </p:sp>
      <p:sp>
        <p:nvSpPr>
          <p:cNvPr id="30" name="Text 28"/>
          <p:cNvSpPr/>
          <p:nvPr/>
        </p:nvSpPr>
        <p:spPr>
          <a:xfrm>
            <a:off x="1728216" y="3419856"/>
            <a:ext cx="10241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B65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Profile</a:t>
            </a:r>
            <a:endParaRPr lang="en-US" sz="620" dirty="0"/>
          </a:p>
        </p:txBody>
      </p:sp>
      <p:sp>
        <p:nvSpPr>
          <p:cNvPr id="31" name="Shape 29"/>
          <p:cNvSpPr/>
          <p:nvPr/>
        </p:nvSpPr>
        <p:spPr>
          <a:xfrm>
            <a:off x="2834640" y="3392424"/>
            <a:ext cx="3246120" cy="228600"/>
          </a:xfrm>
          <a:prstGeom prst="roundRect">
            <a:avLst>
              <a:gd name="adj" fmla="val 8000"/>
            </a:avLst>
          </a:prstGeom>
          <a:solidFill>
            <a:srgbClr val="F8FBFE"/>
          </a:solidFill>
          <a:ln w="6985">
            <a:solidFill>
              <a:srgbClr val="D5E3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35224" y="3433572"/>
            <a:ext cx="30632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SQLi, XSS, RCE, Path Traversal</a:t>
            </a:r>
            <a:endParaRPr lang="en-US" sz="620" dirty="0"/>
          </a:p>
        </p:txBody>
      </p:sp>
      <p:sp>
        <p:nvSpPr>
          <p:cNvPr id="33" name="Shape 31"/>
          <p:cNvSpPr/>
          <p:nvPr/>
        </p:nvSpPr>
        <p:spPr>
          <a:xfrm>
            <a:off x="5184648" y="4983480"/>
            <a:ext cx="841248" cy="201168"/>
          </a:xfrm>
          <a:prstGeom prst="roundRect">
            <a:avLst>
              <a:gd name="adj" fmla="val 9091"/>
            </a:avLst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48656" y="5029200"/>
            <a:ext cx="7132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保存 / 有効化</a:t>
            </a:r>
            <a:endParaRPr lang="en-US" sz="540" dirty="0"/>
          </a:p>
        </p:txBody>
      </p:sp>
      <p:sp>
        <p:nvSpPr>
          <p:cNvPr id="35" name="Shape 33"/>
          <p:cNvSpPr/>
          <p:nvPr/>
        </p:nvSpPr>
        <p:spPr>
          <a:xfrm>
            <a:off x="6629400" y="960120"/>
            <a:ext cx="4572000" cy="1024128"/>
          </a:xfrm>
          <a:prstGeom prst="roundRect">
            <a:avLst>
              <a:gd name="adj" fmla="val 7143"/>
            </a:avLst>
          </a:prstGeom>
          <a:solidFill>
            <a:srgbClr val="FAF7FF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29400" y="960120"/>
            <a:ext cx="73152" cy="1024128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30568" y="1106424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設定するもの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30568" y="1435608"/>
            <a:ext cx="4242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Private Web Application向けのインライン検査を行い、HTTP/HTTPSリクエストの攻撃内容を検知します。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6629400" y="2240280"/>
            <a:ext cx="4572000" cy="1024128"/>
          </a:xfrm>
          <a:prstGeom prst="roundRect">
            <a:avLst>
              <a:gd name="adj" fmla="val 7143"/>
            </a:avLst>
          </a:prstGeom>
          <a:solidFill>
            <a:srgbClr val="FFF8F7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29400" y="2240280"/>
            <a:ext cx="73152" cy="1024128"/>
          </a:xfrm>
          <a:prstGeom prst="rect">
            <a:avLst/>
          </a:prstGeom>
          <a:solidFill>
            <a:srgbClr val="D83A2E"/>
          </a:solidFill>
          <a:ln w="12700">
            <a:solidFill>
              <a:srgbClr val="D83A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30568" y="2386584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防御例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830568" y="2715768"/>
            <a:ext cx="4242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SQL Injection、XSS、Command Injection、Path Traversal、既知CVEへの仮想パッチ。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6629400" y="3520440"/>
            <a:ext cx="4572000" cy="1024128"/>
          </a:xfrm>
          <a:prstGeom prst="roundRect">
            <a:avLst>
              <a:gd name="adj" fmla="val 7143"/>
            </a:avLst>
          </a:prstGeom>
          <a:solidFill>
            <a:srgbClr val="F7FCFF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29400" y="3520440"/>
            <a:ext cx="73152" cy="1024128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30568" y="3666744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URL Filteringとの違い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830568" y="3995928"/>
            <a:ext cx="4242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URLカテゴリ判定ではなく、Private Web Appに対するL7攻撃ペイロードの検査です。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6629400" y="5074920"/>
            <a:ext cx="4572000" cy="310896"/>
          </a:xfrm>
          <a:prstGeom prst="roundRect">
            <a:avLst>
              <a:gd name="adj" fmla="val 17647"/>
            </a:avLst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02552" y="5143500"/>
            <a:ext cx="4425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Private Web App攻撃対策はZPA AppProtection</a:t>
            </a:r>
            <a:endParaRPr lang="en-US" sz="880" dirty="0"/>
          </a:p>
        </p:txBody>
      </p:sp>
      <p:sp>
        <p:nvSpPr>
          <p:cNvPr id="49" name="Text 47"/>
          <p:cNvSpPr/>
          <p:nvPr/>
        </p:nvSpPr>
        <p:spPr>
          <a:xfrm>
            <a:off x="502920" y="6309360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Zscaler Help: Configuring AppProtection Policies; About AppProtection Policy</a:t>
            </a:r>
            <a:endParaRPr lang="en-US" sz="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002B5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2004"/>
          </a:xfrm>
          <a:prstGeom prst="rect">
            <a:avLst/>
          </a:prstGeom>
          <a:solidFill>
            <a:srgbClr val="22BEEB"/>
          </a:solidFill>
          <a:ln w="12700">
            <a:solidFill>
              <a:srgbClr val="22BE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2801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ツーサン株式会社様 向け適用イメージ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0" y="1920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5B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USE CASE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3474720" cy="987552"/>
          </a:xfrm>
          <a:prstGeom prst="roundRect">
            <a:avLst>
              <a:gd name="adj" fmla="val 7407"/>
            </a:avLst>
          </a:prstGeom>
          <a:solidFill>
            <a:srgbClr val="F7FCFF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914400"/>
            <a:ext cx="73152" cy="987552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060704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業務前提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1389888"/>
            <a:ext cx="3145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生命保険代理店として顧客情報、保険相談、契約関連情報を扱う想定で、公開Webと社内アプリを分けて保護します。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343400" y="914400"/>
            <a:ext cx="3474720" cy="987552"/>
          </a:xfrm>
          <a:prstGeom prst="roundRect">
            <a:avLst>
              <a:gd name="adj" fmla="val 7407"/>
            </a:avLst>
          </a:prstGeom>
          <a:solidFill>
            <a:srgbClr val="F3FBFF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914400"/>
            <a:ext cx="73152" cy="987552"/>
          </a:xfrm>
          <a:prstGeom prst="rect">
            <a:avLst/>
          </a:prstGeom>
          <a:solidFill>
            <a:srgbClr val="22BEEB"/>
          </a:solidFill>
          <a:ln w="12700">
            <a:solidFill>
              <a:srgbClr val="22BE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1060704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公開Web / SaaS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44568" y="1389888"/>
            <a:ext cx="3145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ZIA URL Filteringで、業務に必要な保険会社サイトを許可し、高リスクカテゴリを制御します。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8138160" y="914400"/>
            <a:ext cx="3474720" cy="987552"/>
          </a:xfrm>
          <a:prstGeom prst="roundRect">
            <a:avLst>
              <a:gd name="adj" fmla="val 7407"/>
            </a:avLst>
          </a:prstGeom>
          <a:solidFill>
            <a:srgbClr val="F4FFF8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914400"/>
            <a:ext cx="73152" cy="987552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9328" y="1060704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社内システム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39328" y="1389888"/>
            <a:ext cx="3145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ZPAでCRM・契約管理・ファイル共有などをPrivate Appとして定義し、アクセスを最小化します。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548640" y="2423160"/>
            <a:ext cx="2011680" cy="438912"/>
          </a:xfrm>
          <a:prstGeom prst="rect">
            <a:avLst/>
          </a:prstGeom>
          <a:solidFill>
            <a:srgbClr val="002B5C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" y="246888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対象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2560320" y="2423160"/>
            <a:ext cx="2834640" cy="438912"/>
          </a:xfrm>
          <a:prstGeom prst="rect">
            <a:avLst/>
          </a:prstGeom>
          <a:solidFill>
            <a:srgbClr val="002B5C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15184" y="2468880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設定先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5394960" y="2423160"/>
            <a:ext cx="2926080" cy="438912"/>
          </a:xfrm>
          <a:prstGeom prst="rect">
            <a:avLst/>
          </a:prstGeom>
          <a:solidFill>
            <a:srgbClr val="002B5C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9824" y="2468880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設定例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8321040" y="2423160"/>
            <a:ext cx="3108960" cy="438912"/>
          </a:xfrm>
          <a:prstGeom prst="rect">
            <a:avLst/>
          </a:prstGeom>
          <a:solidFill>
            <a:srgbClr val="002B5C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75904" y="2468880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期待効果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548640" y="2862072"/>
            <a:ext cx="201168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" y="2907792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tsusan.co.jp / 保険会社公式サイト</a:t>
            </a:r>
            <a:endParaRPr lang="en-US" sz="810" dirty="0"/>
          </a:p>
        </p:txBody>
      </p:sp>
      <p:sp>
        <p:nvSpPr>
          <p:cNvPr id="28" name="Shape 26"/>
          <p:cNvSpPr/>
          <p:nvPr/>
        </p:nvSpPr>
        <p:spPr>
          <a:xfrm>
            <a:off x="2560320" y="2862072"/>
            <a:ext cx="283464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15184" y="2907792"/>
            <a:ext cx="2724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005B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ZIA URL Filtering</a:t>
            </a:r>
            <a:endParaRPr lang="en-US" sz="810" dirty="0"/>
          </a:p>
        </p:txBody>
      </p:sp>
      <p:sp>
        <p:nvSpPr>
          <p:cNvPr id="30" name="Shape 28"/>
          <p:cNvSpPr/>
          <p:nvPr/>
        </p:nvSpPr>
        <p:spPr>
          <a:xfrm>
            <a:off x="5394960" y="2862072"/>
            <a:ext cx="292608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49824" y="2907792"/>
            <a:ext cx="2816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Custom URL Category + Allow</a:t>
            </a:r>
            <a:endParaRPr lang="en-US" sz="790" dirty="0"/>
          </a:p>
        </p:txBody>
      </p:sp>
      <p:sp>
        <p:nvSpPr>
          <p:cNvPr id="32" name="Shape 30"/>
          <p:cNvSpPr/>
          <p:nvPr/>
        </p:nvSpPr>
        <p:spPr>
          <a:xfrm>
            <a:off x="8321040" y="2862072"/>
            <a:ext cx="310896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75904" y="2907792"/>
            <a:ext cx="2999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業務Webを安定許可</a:t>
            </a:r>
            <a:endParaRPr lang="en-US" sz="790" dirty="0"/>
          </a:p>
        </p:txBody>
      </p:sp>
      <p:sp>
        <p:nvSpPr>
          <p:cNvPr id="34" name="Shape 32"/>
          <p:cNvSpPr/>
          <p:nvPr/>
        </p:nvSpPr>
        <p:spPr>
          <a:xfrm>
            <a:off x="548640" y="3392424"/>
            <a:ext cx="2011680" cy="530352"/>
          </a:xfrm>
          <a:prstGeom prst="rect">
            <a:avLst/>
          </a:prstGeom>
          <a:solidFill>
            <a:srgbClr val="F5FA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" y="3438144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ギャンブル / 成人 / 匿名化Proxy</a:t>
            </a:r>
            <a:endParaRPr lang="en-US" sz="810" dirty="0"/>
          </a:p>
        </p:txBody>
      </p:sp>
      <p:sp>
        <p:nvSpPr>
          <p:cNvPr id="36" name="Shape 34"/>
          <p:cNvSpPr/>
          <p:nvPr/>
        </p:nvSpPr>
        <p:spPr>
          <a:xfrm>
            <a:off x="2560320" y="3392424"/>
            <a:ext cx="2834640" cy="530352"/>
          </a:xfrm>
          <a:prstGeom prst="rect">
            <a:avLst/>
          </a:prstGeom>
          <a:solidFill>
            <a:srgbClr val="F5FA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15184" y="3438144"/>
            <a:ext cx="2724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005B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ZIA URL Filtering</a:t>
            </a:r>
            <a:endParaRPr lang="en-US" sz="810" dirty="0"/>
          </a:p>
        </p:txBody>
      </p:sp>
      <p:sp>
        <p:nvSpPr>
          <p:cNvPr id="38" name="Shape 36"/>
          <p:cNvSpPr/>
          <p:nvPr/>
        </p:nvSpPr>
        <p:spPr>
          <a:xfrm>
            <a:off x="5394960" y="3392424"/>
            <a:ext cx="2926080" cy="530352"/>
          </a:xfrm>
          <a:prstGeom prst="rect">
            <a:avLst/>
          </a:prstGeom>
          <a:solidFill>
            <a:srgbClr val="F5FA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49824" y="3438144"/>
            <a:ext cx="2816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URL Category + Block / Caution</a:t>
            </a:r>
            <a:endParaRPr lang="en-US" sz="790" dirty="0"/>
          </a:p>
        </p:txBody>
      </p:sp>
      <p:sp>
        <p:nvSpPr>
          <p:cNvPr id="40" name="Shape 38"/>
          <p:cNvSpPr/>
          <p:nvPr/>
        </p:nvSpPr>
        <p:spPr>
          <a:xfrm>
            <a:off x="8321040" y="3392424"/>
            <a:ext cx="3108960" cy="530352"/>
          </a:xfrm>
          <a:prstGeom prst="rect">
            <a:avLst/>
          </a:prstGeom>
          <a:solidFill>
            <a:srgbClr val="F5FA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75904" y="3438144"/>
            <a:ext cx="2999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業務外・高リスクWebを抑止</a:t>
            </a:r>
            <a:endParaRPr lang="en-US" sz="790" dirty="0"/>
          </a:p>
        </p:txBody>
      </p:sp>
      <p:sp>
        <p:nvSpPr>
          <p:cNvPr id="42" name="Shape 40"/>
          <p:cNvSpPr/>
          <p:nvPr/>
        </p:nvSpPr>
        <p:spPr>
          <a:xfrm>
            <a:off x="548640" y="3922776"/>
            <a:ext cx="201168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3504" y="3968496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未承認外部IP・業務外Port</a:t>
            </a:r>
            <a:endParaRPr lang="en-US" sz="810" dirty="0"/>
          </a:p>
        </p:txBody>
      </p:sp>
      <p:sp>
        <p:nvSpPr>
          <p:cNvPr id="44" name="Shape 42"/>
          <p:cNvSpPr/>
          <p:nvPr/>
        </p:nvSpPr>
        <p:spPr>
          <a:xfrm>
            <a:off x="2560320" y="3922776"/>
            <a:ext cx="283464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15184" y="3968496"/>
            <a:ext cx="2724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005B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ZIA Firewall Filtering</a:t>
            </a:r>
            <a:endParaRPr lang="en-US" sz="810" dirty="0"/>
          </a:p>
        </p:txBody>
      </p:sp>
      <p:sp>
        <p:nvSpPr>
          <p:cNvPr id="46" name="Shape 44"/>
          <p:cNvSpPr/>
          <p:nvPr/>
        </p:nvSpPr>
        <p:spPr>
          <a:xfrm>
            <a:off x="5394960" y="3922776"/>
            <a:ext cx="292608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49824" y="3968496"/>
            <a:ext cx="2816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Destination IP Group + Block</a:t>
            </a:r>
            <a:endParaRPr lang="en-US" sz="790" dirty="0"/>
          </a:p>
        </p:txBody>
      </p:sp>
      <p:sp>
        <p:nvSpPr>
          <p:cNvPr id="48" name="Shape 46"/>
          <p:cNvSpPr/>
          <p:nvPr/>
        </p:nvSpPr>
        <p:spPr>
          <a:xfrm>
            <a:off x="8321040" y="3922776"/>
            <a:ext cx="310896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75904" y="3968496"/>
            <a:ext cx="2999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IP/Portベースの通信を遮断</a:t>
            </a:r>
            <a:endParaRPr lang="en-US" sz="790" dirty="0"/>
          </a:p>
        </p:txBody>
      </p:sp>
      <p:sp>
        <p:nvSpPr>
          <p:cNvPr id="50" name="Shape 48"/>
          <p:cNvSpPr/>
          <p:nvPr/>
        </p:nvSpPr>
        <p:spPr>
          <a:xfrm>
            <a:off x="548640" y="4453128"/>
            <a:ext cx="2011680" cy="530352"/>
          </a:xfrm>
          <a:prstGeom prst="rect">
            <a:avLst/>
          </a:prstGeom>
          <a:solidFill>
            <a:srgbClr val="F5FA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3504" y="449884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社内CRM / 契約管理</a:t>
            </a:r>
            <a:endParaRPr lang="en-US" sz="810" dirty="0"/>
          </a:p>
        </p:txBody>
      </p:sp>
      <p:sp>
        <p:nvSpPr>
          <p:cNvPr id="52" name="Shape 50"/>
          <p:cNvSpPr/>
          <p:nvPr/>
        </p:nvSpPr>
        <p:spPr>
          <a:xfrm>
            <a:off x="2560320" y="4453128"/>
            <a:ext cx="2834640" cy="530352"/>
          </a:xfrm>
          <a:prstGeom prst="rect">
            <a:avLst/>
          </a:prstGeom>
          <a:solidFill>
            <a:srgbClr val="F5FA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615184" y="4498848"/>
            <a:ext cx="2724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2FBF7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ZPA App Segment + Access Policy</a:t>
            </a:r>
            <a:endParaRPr lang="en-US" sz="810" dirty="0"/>
          </a:p>
        </p:txBody>
      </p:sp>
      <p:sp>
        <p:nvSpPr>
          <p:cNvPr id="54" name="Shape 52"/>
          <p:cNvSpPr/>
          <p:nvPr/>
        </p:nvSpPr>
        <p:spPr>
          <a:xfrm>
            <a:off x="5394960" y="4453128"/>
            <a:ext cx="2926080" cy="530352"/>
          </a:xfrm>
          <a:prstGeom prst="rect">
            <a:avLst/>
          </a:prstGeom>
          <a:solidFill>
            <a:srgbClr val="F5FA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49824" y="4498848"/>
            <a:ext cx="2816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営業部 + 管理端末のみAllow</a:t>
            </a:r>
            <a:endParaRPr lang="en-US" sz="790" dirty="0"/>
          </a:p>
        </p:txBody>
      </p:sp>
      <p:sp>
        <p:nvSpPr>
          <p:cNvPr id="56" name="Shape 54"/>
          <p:cNvSpPr/>
          <p:nvPr/>
        </p:nvSpPr>
        <p:spPr>
          <a:xfrm>
            <a:off x="8321040" y="4453128"/>
            <a:ext cx="3108960" cy="530352"/>
          </a:xfrm>
          <a:prstGeom prst="rect">
            <a:avLst/>
          </a:prstGeom>
          <a:solidFill>
            <a:srgbClr val="F5FA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375904" y="4498848"/>
            <a:ext cx="2999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Private Appを非公開化</a:t>
            </a:r>
            <a:endParaRPr lang="en-US" sz="790" dirty="0"/>
          </a:p>
        </p:txBody>
      </p:sp>
      <p:sp>
        <p:nvSpPr>
          <p:cNvPr id="58" name="Shape 56"/>
          <p:cNvSpPr/>
          <p:nvPr/>
        </p:nvSpPr>
        <p:spPr>
          <a:xfrm>
            <a:off x="548640" y="4983480"/>
            <a:ext cx="201168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3504" y="5029200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社内Webアプリ攻撃</a:t>
            </a:r>
            <a:endParaRPr lang="en-US" sz="810" dirty="0"/>
          </a:p>
        </p:txBody>
      </p:sp>
      <p:sp>
        <p:nvSpPr>
          <p:cNvPr id="60" name="Shape 58"/>
          <p:cNvSpPr/>
          <p:nvPr/>
        </p:nvSpPr>
        <p:spPr>
          <a:xfrm>
            <a:off x="2560320" y="4983480"/>
            <a:ext cx="283464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615184" y="5029200"/>
            <a:ext cx="2724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2FBF7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ZPA AppProtection</a:t>
            </a:r>
            <a:endParaRPr lang="en-US" sz="810" dirty="0"/>
          </a:p>
        </p:txBody>
      </p:sp>
      <p:sp>
        <p:nvSpPr>
          <p:cNvPr id="62" name="Shape 60"/>
          <p:cNvSpPr/>
          <p:nvPr/>
        </p:nvSpPr>
        <p:spPr>
          <a:xfrm>
            <a:off x="5394960" y="4983480"/>
            <a:ext cx="292608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49824" y="5029200"/>
            <a:ext cx="2816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OWASP/CVE Controls</a:t>
            </a:r>
            <a:endParaRPr lang="en-US" sz="790" dirty="0"/>
          </a:p>
        </p:txBody>
      </p:sp>
      <p:sp>
        <p:nvSpPr>
          <p:cNvPr id="64" name="Shape 62"/>
          <p:cNvSpPr/>
          <p:nvPr/>
        </p:nvSpPr>
        <p:spPr>
          <a:xfrm>
            <a:off x="8321040" y="4983480"/>
            <a:ext cx="310896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375904" y="5029200"/>
            <a:ext cx="2999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SQLi/XSS等を検査・ブロック</a:t>
            </a:r>
            <a:endParaRPr lang="en-US" sz="790" dirty="0"/>
          </a:p>
        </p:txBody>
      </p:sp>
      <p:sp>
        <p:nvSpPr>
          <p:cNvPr id="66" name="Text 64"/>
          <p:cNvSpPr/>
          <p:nvPr/>
        </p:nvSpPr>
        <p:spPr>
          <a:xfrm>
            <a:off x="502920" y="6309360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ツーサン株式会社 公開情報をもとにした適用イメージ（実構成を断定するものではありません）</a:t>
            </a:r>
            <a:endParaRPr lang="en-US" sz="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002B5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2004"/>
          </a:xfrm>
          <a:prstGeom prst="rect">
            <a:avLst/>
          </a:prstGeom>
          <a:solidFill>
            <a:srgbClr val="22BEEB"/>
          </a:solidFill>
          <a:ln w="12700">
            <a:solidFill>
              <a:srgbClr val="22BE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2801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設定前後の効果：設定画面とログで確認できる状態にする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0" y="1920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5B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BEFORE / AFTER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1417320" cy="475488"/>
          </a:xfrm>
          <a:prstGeom prst="rect">
            <a:avLst/>
          </a:prstGeom>
          <a:solidFill>
            <a:srgbClr val="002B5C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1005840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対象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11680" y="960120"/>
            <a:ext cx="4023360" cy="475488"/>
          </a:xfrm>
          <a:prstGeom prst="rect">
            <a:avLst/>
          </a:prstGeom>
          <a:solidFill>
            <a:srgbClr val="D83A2E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66544" y="1005840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設定前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35040" y="960120"/>
            <a:ext cx="4023360" cy="475488"/>
          </a:xfrm>
          <a:prstGeom prst="rect">
            <a:avLst/>
          </a:prstGeom>
          <a:solidFill>
            <a:srgbClr val="2FBF71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9904" y="1005840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設定後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058400" y="960120"/>
            <a:ext cx="1554480" cy="475488"/>
          </a:xfrm>
          <a:prstGeom prst="rect">
            <a:avLst/>
          </a:prstGeom>
          <a:solidFill>
            <a:srgbClr val="002B5C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13264" y="100584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確認ログ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" y="1435608"/>
            <a:ext cx="1417320" cy="841248"/>
          </a:xfrm>
          <a:prstGeom prst="rect">
            <a:avLst/>
          </a:prstGeom>
          <a:solidFill>
            <a:srgbClr val="FFFF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1481328"/>
            <a:ext cx="1307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Website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11680" y="1435608"/>
            <a:ext cx="4023360" cy="841248"/>
          </a:xfrm>
          <a:prstGeom prst="rect">
            <a:avLst/>
          </a:prstGeom>
          <a:solidFill>
            <a:srgbClr val="FFFF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66544" y="1481328"/>
            <a:ext cx="3913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カテゴリ制御・許可リストがなく、業務外Webへのアクセスが残る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6035040" y="1435608"/>
            <a:ext cx="4023360" cy="841248"/>
          </a:xfrm>
          <a:prstGeom prst="rect">
            <a:avLst/>
          </a:prstGeom>
          <a:solidFill>
            <a:srgbClr val="FFFF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9904" y="1481328"/>
            <a:ext cx="3913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FBF7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ZIA URL FilteringでAllow / Block / Cautionを適用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10058400" y="1435608"/>
            <a:ext cx="1554480" cy="841248"/>
          </a:xfrm>
          <a:prstGeom prst="rect">
            <a:avLst/>
          </a:prstGeom>
          <a:solidFill>
            <a:srgbClr val="FFFF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13264" y="1481328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Web Logs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594360" y="2276856"/>
            <a:ext cx="1417320" cy="841248"/>
          </a:xfrm>
          <a:prstGeom prst="rect">
            <a:avLst/>
          </a:prstGeom>
          <a:solidFill>
            <a:srgbClr val="F5FA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2322576"/>
            <a:ext cx="1307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IP / Port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011680" y="2276856"/>
            <a:ext cx="4023360" cy="841248"/>
          </a:xfrm>
          <a:prstGeom prst="rect">
            <a:avLst/>
          </a:prstGeom>
          <a:solidFill>
            <a:srgbClr val="F5FA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66544" y="2322576"/>
            <a:ext cx="3913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不要な宛先IPやポートへの通信を把握しづらい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6035040" y="2276856"/>
            <a:ext cx="4023360" cy="841248"/>
          </a:xfrm>
          <a:prstGeom prst="rect">
            <a:avLst/>
          </a:prstGeom>
          <a:solidFill>
            <a:srgbClr val="F5FA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9904" y="2322576"/>
            <a:ext cx="3913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FBF7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ZIA Firewall Filteringで宛先IP/Portを制御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10058400" y="2276856"/>
            <a:ext cx="1554480" cy="841248"/>
          </a:xfrm>
          <a:prstGeom prst="rect">
            <a:avLst/>
          </a:prstGeom>
          <a:solidFill>
            <a:srgbClr val="F5FA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13264" y="2322576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Firewall Logs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594360" y="3118104"/>
            <a:ext cx="1417320" cy="841248"/>
          </a:xfrm>
          <a:prstGeom prst="rect">
            <a:avLst/>
          </a:prstGeom>
          <a:solidFill>
            <a:srgbClr val="FFFF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" y="3163824"/>
            <a:ext cx="1307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Private App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011680" y="3118104"/>
            <a:ext cx="4023360" cy="841248"/>
          </a:xfrm>
          <a:prstGeom prst="rect">
            <a:avLst/>
          </a:prstGeom>
          <a:solidFill>
            <a:srgbClr val="FFFF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66544" y="3163824"/>
            <a:ext cx="3913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VPN的にネットワークへ入る構成では横展開リスクが残る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6035040" y="3118104"/>
            <a:ext cx="4023360" cy="841248"/>
          </a:xfrm>
          <a:prstGeom prst="rect">
            <a:avLst/>
          </a:prstGeom>
          <a:solidFill>
            <a:srgbClr val="FFFF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89904" y="3163824"/>
            <a:ext cx="3913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FBF7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ZPA Access Policyでアプリ単位の許可に変更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10058400" y="3118104"/>
            <a:ext cx="1554480" cy="841248"/>
          </a:xfrm>
          <a:prstGeom prst="rect">
            <a:avLst/>
          </a:prstGeom>
          <a:solidFill>
            <a:srgbClr val="FFFF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113264" y="3163824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ZPA Logs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594360" y="3959352"/>
            <a:ext cx="1417320" cy="841248"/>
          </a:xfrm>
          <a:prstGeom prst="rect">
            <a:avLst/>
          </a:prstGeom>
          <a:solidFill>
            <a:srgbClr val="F5FA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" y="4005072"/>
            <a:ext cx="1307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Web攻撃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011680" y="3959352"/>
            <a:ext cx="4023360" cy="841248"/>
          </a:xfrm>
          <a:prstGeom prst="rect">
            <a:avLst/>
          </a:prstGeom>
          <a:solidFill>
            <a:srgbClr val="F5FA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66544" y="4005072"/>
            <a:ext cx="3913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社内Webアプリへの攻撃内容をアプリ前段で検査しづらい</a:t>
            </a:r>
            <a:endParaRPr lang="en-US" sz="860" dirty="0"/>
          </a:p>
        </p:txBody>
      </p:sp>
      <p:sp>
        <p:nvSpPr>
          <p:cNvPr id="42" name="Shape 40"/>
          <p:cNvSpPr/>
          <p:nvPr/>
        </p:nvSpPr>
        <p:spPr>
          <a:xfrm>
            <a:off x="6035040" y="3959352"/>
            <a:ext cx="4023360" cy="841248"/>
          </a:xfrm>
          <a:prstGeom prst="rect">
            <a:avLst/>
          </a:prstGeom>
          <a:solidFill>
            <a:srgbClr val="F5FA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89904" y="4005072"/>
            <a:ext cx="3913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FBF7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ZPA AppProtectionでSQLi/XSS等を検査・ブロック</a:t>
            </a:r>
            <a:endParaRPr lang="en-US" sz="860" dirty="0"/>
          </a:p>
        </p:txBody>
      </p:sp>
      <p:sp>
        <p:nvSpPr>
          <p:cNvPr id="44" name="Shape 42"/>
          <p:cNvSpPr/>
          <p:nvPr/>
        </p:nvSpPr>
        <p:spPr>
          <a:xfrm>
            <a:off x="10058400" y="3959352"/>
            <a:ext cx="1554480" cy="841248"/>
          </a:xfrm>
          <a:prstGeom prst="rect">
            <a:avLst/>
          </a:prstGeom>
          <a:solidFill>
            <a:srgbClr val="F5FA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113264" y="4005072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AppProtection Logs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1097280" y="5349240"/>
            <a:ext cx="9921240" cy="310896"/>
          </a:xfrm>
          <a:prstGeom prst="roundRect">
            <a:avLst>
              <a:gd name="adj" fmla="val 17647"/>
            </a:avLst>
          </a:prstGeom>
          <a:solidFill>
            <a:srgbClr val="005BAC"/>
          </a:solidFill>
          <a:ln w="12700">
            <a:solidFill>
              <a:srgbClr val="005BA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70432" y="5417820"/>
            <a:ext cx="9774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設定、適用対象、ログ確認をセットで運用することで、説明可能なゼロトラスト運用に近づけます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002B5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2004"/>
          </a:xfrm>
          <a:prstGeom prst="rect">
            <a:avLst/>
          </a:prstGeom>
          <a:solidFill>
            <a:srgbClr val="22BEEB"/>
          </a:solidFill>
          <a:ln w="12700">
            <a:solidFill>
              <a:srgbClr val="22BE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2801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導入・検証ステップ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0" y="1920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5B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NEXT STEPS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234440" y="1143000"/>
            <a:ext cx="640080" cy="640080"/>
          </a:xfrm>
          <a:prstGeom prst="ellipse">
            <a:avLst/>
          </a:prstGeom>
          <a:solidFill>
            <a:srgbClr val="005BAC"/>
          </a:solidFill>
          <a:ln w="12700">
            <a:solidFill>
              <a:srgbClr val="005B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3075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65376" y="1463040"/>
            <a:ext cx="493776" cy="0"/>
          </a:xfrm>
          <a:prstGeom prst="line">
            <a:avLst/>
          </a:prstGeom>
          <a:noFill/>
          <a:ln w="15240">
            <a:solidFill>
              <a:srgbClr val="005BA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31520" y="2011680"/>
            <a:ext cx="1874520" cy="28346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011680"/>
            <a:ext cx="73152" cy="2834640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157984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対象整理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2688" y="2487168"/>
            <a:ext cx="1545336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公開Web、宛先IP/Port、Private App、Private Web App攻撃の4分類で要件を整理します。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474720" y="1143000"/>
            <a:ext cx="640080" cy="640080"/>
          </a:xfrm>
          <a:prstGeom prst="ellipse">
            <a:avLst/>
          </a:prstGeom>
          <a:solidFill>
            <a:srgbClr val="22BEEB"/>
          </a:solidFill>
          <a:ln w="12700">
            <a:solidFill>
              <a:srgbClr val="22BE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3075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05656" y="1463040"/>
            <a:ext cx="493776" cy="0"/>
          </a:xfrm>
          <a:prstGeom prst="line">
            <a:avLst/>
          </a:prstGeom>
          <a:noFill/>
          <a:ln w="15240">
            <a:solidFill>
              <a:srgbClr val="005BA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971800" y="2011680"/>
            <a:ext cx="1874520" cy="28346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71800" y="2011680"/>
            <a:ext cx="73152" cy="2834640"/>
          </a:xfrm>
          <a:prstGeom prst="rect">
            <a:avLst/>
          </a:prstGeom>
          <a:solidFill>
            <a:srgbClr val="22BEEB"/>
          </a:solidFill>
          <a:ln w="12700">
            <a:solidFill>
              <a:srgbClr val="22BE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72968" y="2157984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ポリシー設計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72968" y="2487168"/>
            <a:ext cx="1545336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ZIA URL Filtering、ZIA Firewall Filtering、ZPA Application Segment、AppProtectionを分けて設計します。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715000" y="1143000"/>
            <a:ext cx="640080" cy="640080"/>
          </a:xfrm>
          <a:prstGeom prst="ellipse">
            <a:avLst/>
          </a:prstGeom>
          <a:solidFill>
            <a:srgbClr val="FFD84E"/>
          </a:solidFill>
          <a:ln w="12700">
            <a:solidFill>
              <a:srgbClr val="FFD8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13075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45936" y="1463040"/>
            <a:ext cx="493776" cy="0"/>
          </a:xfrm>
          <a:prstGeom prst="line">
            <a:avLst/>
          </a:prstGeom>
          <a:noFill/>
          <a:ln w="15240">
            <a:solidFill>
              <a:srgbClr val="005BA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212080" y="2011680"/>
            <a:ext cx="1874520" cy="28346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12080" y="2011680"/>
            <a:ext cx="73152" cy="2834640"/>
          </a:xfrm>
          <a:prstGeom prst="rect">
            <a:avLst/>
          </a:prstGeom>
          <a:solidFill>
            <a:srgbClr val="FFD84E"/>
          </a:solidFill>
          <a:ln w="12700">
            <a:solidFill>
              <a:srgbClr val="FFD84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13248" y="2157984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パイロット適用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13248" y="2487168"/>
            <a:ext cx="1545336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少数ユーザーまたは部門単位で適用し、誤ブロックと業務影響を確認します。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7955280" y="1143000"/>
            <a:ext cx="640080" cy="640080"/>
          </a:xfrm>
          <a:prstGeom prst="ellipse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0" y="13075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586216" y="1463040"/>
            <a:ext cx="493776" cy="0"/>
          </a:xfrm>
          <a:prstGeom prst="line">
            <a:avLst/>
          </a:prstGeom>
          <a:noFill/>
          <a:ln w="15240">
            <a:solidFill>
              <a:srgbClr val="005BAC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452360" y="2011680"/>
            <a:ext cx="1874520" cy="28346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52360" y="2011680"/>
            <a:ext cx="73152" cy="2834640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53528" y="2157984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ログ確認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653528" y="2487168"/>
            <a:ext cx="1545336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Web / Firewall / ZPA / AppProtectionログで前後差分を確認します。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10195560" y="1143000"/>
            <a:ext cx="640080" cy="640080"/>
          </a:xfrm>
          <a:prstGeom prst="ellipse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195560" y="13075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692640" y="2011680"/>
            <a:ext cx="1874520" cy="28346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92640" y="2011680"/>
            <a:ext cx="73152" cy="283464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93808" y="2157984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全社展開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893808" y="2487168"/>
            <a:ext cx="1545336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例外ルール、申請フロー、定期レビューを整備して展開します。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1005840" y="5349240"/>
            <a:ext cx="10149840" cy="502920"/>
          </a:xfrm>
          <a:prstGeom prst="roundRect">
            <a:avLst>
              <a:gd name="adj" fmla="val 14545"/>
            </a:avLst>
          </a:prstGeom>
          <a:solidFill>
            <a:srgbClr val="F6FBFF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5840" y="5349240"/>
            <a:ext cx="73152" cy="502920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07008" y="5495544"/>
            <a:ext cx="9820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推奨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207008" y="5824728"/>
            <a:ext cx="9820656" cy="-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初期導入では「業務必須サイトの許可リスト」「高リスクカテゴリのBlock」「不要ポートのBlock」「主要Private AppのZPA化」から着手します。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002B5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32004"/>
          </a:xfrm>
          <a:prstGeom prst="rect">
            <a:avLst/>
          </a:prstGeom>
          <a:solidFill>
            <a:srgbClr val="22BEEB"/>
          </a:solidFill>
          <a:ln w="12700">
            <a:solidFill>
              <a:srgbClr val="22BE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2801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参考：公式ドキュメントで確認する設定項目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0" y="1920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5B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REFERENCES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2468880" cy="438912"/>
          </a:xfrm>
          <a:prstGeom prst="rect">
            <a:avLst/>
          </a:prstGeom>
          <a:solidFill>
            <a:srgbClr val="002B5C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1005840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領域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08960" y="960120"/>
            <a:ext cx="4389120" cy="438912"/>
          </a:xfrm>
          <a:prstGeom prst="rect">
            <a:avLst/>
          </a:prstGeom>
          <a:solidFill>
            <a:srgbClr val="002B5C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63824" y="1005840"/>
            <a:ext cx="4279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管理画面パス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98080" y="960120"/>
            <a:ext cx="4023360" cy="438912"/>
          </a:xfrm>
          <a:prstGeom prst="rect">
            <a:avLst/>
          </a:prstGeom>
          <a:solidFill>
            <a:srgbClr val="002B5C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52944" y="1005840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本資料での説明範囲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1399032"/>
            <a:ext cx="2468880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1444752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ZIA URL Filtering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108960" y="1399032"/>
            <a:ext cx="4389120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63824" y="1444752"/>
            <a:ext cx="4279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05B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Policies &gt; Access Control &gt; Internet &amp; SaaS &gt; URL Filtering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7498080" y="1399032"/>
            <a:ext cx="4023360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52944" y="1444752"/>
            <a:ext cx="3913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Webサイト、URLカテゴリ、Custom URL Categoryの制御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640080" y="2148840"/>
            <a:ext cx="2468880" cy="749808"/>
          </a:xfrm>
          <a:prstGeom prst="rect">
            <a:avLst/>
          </a:prstGeom>
          <a:solidFill>
            <a:srgbClr val="F5FA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2194560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ZIA Custom URL Categories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108960" y="2148840"/>
            <a:ext cx="4389120" cy="749808"/>
          </a:xfrm>
          <a:prstGeom prst="rect">
            <a:avLst/>
          </a:prstGeom>
          <a:solidFill>
            <a:srgbClr val="F5FA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63824" y="2194560"/>
            <a:ext cx="4279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05B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URLカテゴリ管理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7498080" y="2148840"/>
            <a:ext cx="4023360" cy="749808"/>
          </a:xfrm>
          <a:prstGeom prst="rect">
            <a:avLst/>
          </a:prstGeom>
          <a:solidFill>
            <a:srgbClr val="F5FA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52944" y="2194560"/>
            <a:ext cx="3913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許可リスト・拒否リスト・特定サイト分類の作成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640080" y="2898648"/>
            <a:ext cx="2468880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2944368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ZIA Firewall Filtering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108960" y="2898648"/>
            <a:ext cx="4389120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63824" y="2944368"/>
            <a:ext cx="4279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05B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Policies &gt; Access Control &gt; Firewall &gt; Firewall Filtering Policy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7498080" y="2898648"/>
            <a:ext cx="4023360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52944" y="2944368"/>
            <a:ext cx="3913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宛先IP、FQDN、Protocol、Port、Network Serviceの制御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640080" y="3648456"/>
            <a:ext cx="2468880" cy="749808"/>
          </a:xfrm>
          <a:prstGeom prst="rect">
            <a:avLst/>
          </a:prstGeom>
          <a:solidFill>
            <a:srgbClr val="F5FA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" y="3694176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ZPA Application Segments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108960" y="3648456"/>
            <a:ext cx="4389120" cy="749808"/>
          </a:xfrm>
          <a:prstGeom prst="rect">
            <a:avLst/>
          </a:prstGeom>
          <a:solidFill>
            <a:srgbClr val="F5FA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63824" y="3694176"/>
            <a:ext cx="4279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05B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Policies &gt; Access Control &gt; Private Applications &gt; Defined Application Segments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7498080" y="3648456"/>
            <a:ext cx="4023360" cy="749808"/>
          </a:xfrm>
          <a:prstGeom prst="rect">
            <a:avLst/>
          </a:prstGeom>
          <a:solidFill>
            <a:srgbClr val="F5FA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52944" y="3694176"/>
            <a:ext cx="3913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Private AppをFQDN/IP/Portで定義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640080" y="4398264"/>
            <a:ext cx="2468880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" y="4443984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ZPA AppProtection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108960" y="4398264"/>
            <a:ext cx="4389120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63824" y="4443984"/>
            <a:ext cx="4279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05B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Policies &gt; Cybersecurity &gt; Inline Security &gt; Protection Policies &gt; AppProtection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7498080" y="4398264"/>
            <a:ext cx="4023360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CFE0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52944" y="4443984"/>
            <a:ext cx="3913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Private Web AppのL7攻撃検査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822960" y="548640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FF8F7"/>
          </a:solidFill>
          <a:ln w="11430">
            <a:solidFill>
              <a:srgbClr val="CFE0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2960" y="5486400"/>
            <a:ext cx="73152" cy="502920"/>
          </a:xfrm>
          <a:prstGeom prst="rect">
            <a:avLst/>
          </a:prstGeom>
          <a:solidFill>
            <a:srgbClr val="D83A2E"/>
          </a:solidFill>
          <a:ln w="12700">
            <a:solidFill>
              <a:srgbClr val="D83A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24128" y="5632704"/>
            <a:ext cx="10094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注記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024128" y="5961888"/>
            <a:ext cx="10094976" cy="-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0B245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本資料内のツーサン様利用例は説明用の想定シナリオです。実際の本番設定値は、ヒアリング・PoC・ログ確認後に確定します。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50624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002B5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Zscaler ZIA/ZPA Web・IPフィルタリング機能 ご説明資料</dc:title>
  <dc:subject>Zscaler ZIA/ZPA Web and IP Filtering customer presentation</dc:subject>
  <dc:creator>OpenAI</dc:creator>
  <cp:lastModifiedBy>OpenAI</cp:lastModifiedBy>
  <cp:revision>1</cp:revision>
  <dcterms:created xsi:type="dcterms:W3CDTF">2026-08-06T10:17:04Z</dcterms:created>
  <dcterms:modified xsi:type="dcterms:W3CDTF">2026-08-06T10:17:04Z</dcterms:modified>
</cp:coreProperties>
</file>