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677569bf278d2a410d133eec0d8820530e56eb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4971" b="497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78D4">
                  <a:alpha val="95000"/>
                </a:srgbClr>
              </a:gs>
              <a:gs pos="50000">
                <a:srgbClr val="106EBE">
                  <a:alpha val="90000"/>
                </a:srgbClr>
              </a:gs>
              <a:gs pos="100000">
                <a:srgbClr val="0078D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514350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34" kern="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セキュリティファーストのAI活用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383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Copilot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利用マニュアル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181475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4342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〜セキュリティファーストのAI活用ガイドライン〜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5528" y="6257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1513" y="621030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759000" y="62579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004268" y="62103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全従業員向け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25000" y="62293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機密情報保護と業務効率化の両立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5238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6002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導入と目的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9050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AI活用の目的と対象、基本方針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4478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29350" y="14478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31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0400" y="16002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セキュリティの鉄則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0400" y="19050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AI利用時の5つの基本原則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4384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4384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523875" y="2590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25908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EDPの仕組み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28956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エンタープライズデータ保護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24384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9350" y="24384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6353175" y="2590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10400" y="25908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機密情報の保護ルール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0400" y="28956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財務・顧客データの安全な入力方法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4290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34290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1" name="Text 29"/>
          <p:cNvSpPr/>
          <p:nvPr/>
        </p:nvSpPr>
        <p:spPr>
          <a:xfrm>
            <a:off x="523875" y="3581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" y="35814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高度なセキュリティ対策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1100" y="38862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Purviewによる保護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34290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29350" y="34290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7" name="Text 35"/>
          <p:cNvSpPr/>
          <p:nvPr/>
        </p:nvSpPr>
        <p:spPr>
          <a:xfrm>
            <a:off x="6353175" y="3581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10400" y="35814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効率的な質問方法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0400" y="38862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プロンプト設計の4要素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44196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00050" y="4419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42" name="Shape 40"/>
          <p:cNvSpPr/>
          <p:nvPr/>
        </p:nvSpPr>
        <p:spPr>
          <a:xfrm>
            <a:off x="5715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43" name="Text 41"/>
          <p:cNvSpPr/>
          <p:nvPr/>
        </p:nvSpPr>
        <p:spPr>
          <a:xfrm>
            <a:off x="523875" y="4572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1100" y="45720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ハルシネーション対策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48768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AIの誤った出力への対処法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29350" y="44196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3B01">
              <a:alpha val="509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29350" y="4419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49" name="Text 47"/>
          <p:cNvSpPr/>
          <p:nvPr/>
        </p:nvSpPr>
        <p:spPr>
          <a:xfrm>
            <a:off x="6353175" y="4572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10400" y="45720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禁止事項とコンプライアンス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10400" y="48768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厳格に禁止される行為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00050" y="54102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00050" y="54102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4" name="Shape 52"/>
          <p:cNvSpPr/>
          <p:nvPr/>
        </p:nvSpPr>
        <p:spPr>
          <a:xfrm>
            <a:off x="571500" y="556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5" name="Text 53"/>
          <p:cNvSpPr/>
          <p:nvPr/>
        </p:nvSpPr>
        <p:spPr>
          <a:xfrm>
            <a:off x="523875" y="5562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81100" y="55626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活用シーン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81100" y="58674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基本・応用の活用例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29350" y="5410200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3810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229350" y="54102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60" name="Shape 58"/>
          <p:cNvSpPr/>
          <p:nvPr/>
        </p:nvSpPr>
        <p:spPr>
          <a:xfrm>
            <a:off x="6400800" y="556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61" name="Text 59"/>
          <p:cNvSpPr/>
          <p:nvPr/>
        </p:nvSpPr>
        <p:spPr>
          <a:xfrm>
            <a:off x="6353175" y="5562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10400" y="55626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まとめとサポート体制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10400" y="58674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AI活用の基本原則と相談窓口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導入と目的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6762750" cy="1943100"/>
          </a:xfrm>
          <a:custGeom>
            <a:avLst/>
            <a:gdLst/>
            <a:ahLst/>
            <a:cxnLst/>
            <a:rect l="l" t="t" r="r" b="b"/>
            <a:pathLst>
              <a:path w="6762750" h="1943100">
                <a:moveTo>
                  <a:pt x="38100" y="0"/>
                </a:moveTo>
                <a:lnTo>
                  <a:pt x="6648457" y="0"/>
                </a:lnTo>
                <a:cubicBezTo>
                  <a:pt x="6711537" y="0"/>
                  <a:pt x="6762750" y="51213"/>
                  <a:pt x="6762750" y="114293"/>
                </a:cubicBezTo>
                <a:lnTo>
                  <a:pt x="6762750" y="1828807"/>
                </a:lnTo>
                <a:cubicBezTo>
                  <a:pt x="6762750" y="1891887"/>
                  <a:pt x="6711537" y="1943100"/>
                  <a:pt x="6648457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>
                  <a:alpha val="10000"/>
                </a:srgbClr>
              </a:gs>
              <a:gs pos="100000">
                <a:srgbClr val="0078D4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" y="14478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905000"/>
            <a:ext cx="643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生成AI（Microsoft 365 Copilot／Web版Copilot）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0078D4"/>
                </a:solidFill>
                <a:highlight>
                  <a:srgbClr val="0078D4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「副操縦士（Co-Pilot）」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として活用し、業務生産性・品質の向上を図る。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14600"/>
            <a:ext cx="643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同時に、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個人情報・機密情報の漏洩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誤情報による意思決定リスク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法令違反リスク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を未然に防止する。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0525" y="3362325"/>
            <a:ext cx="6762750" cy="2266950"/>
          </a:xfrm>
          <a:custGeom>
            <a:avLst/>
            <a:gdLst/>
            <a:ahLst/>
            <a:cxnLst/>
            <a:rect l="l" t="t" r="r" b="b"/>
            <a:pathLst>
              <a:path w="6762750" h="2266950">
                <a:moveTo>
                  <a:pt x="114300" y="0"/>
                </a:moveTo>
                <a:lnTo>
                  <a:pt x="6648450" y="0"/>
                </a:lnTo>
                <a:cubicBezTo>
                  <a:pt x="6711576" y="0"/>
                  <a:pt x="6762750" y="51174"/>
                  <a:pt x="6762750" y="114300"/>
                </a:cubicBezTo>
                <a:lnTo>
                  <a:pt x="6762750" y="2152650"/>
                </a:lnTo>
                <a:cubicBezTo>
                  <a:pt x="6762750" y="2215776"/>
                  <a:pt x="6711576" y="2266950"/>
                  <a:pt x="6648450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550" y="3600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356235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対象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40862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401955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全従業員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（正社員・契約社員・派遣社員を含む）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4362450"/>
            <a:ext cx="6362700" cy="1066800"/>
          </a:xfrm>
          <a:custGeom>
            <a:avLst/>
            <a:gdLst/>
            <a:ahLst/>
            <a:cxnLst/>
            <a:rect l="l" t="t" r="r" b="b"/>
            <a:pathLst>
              <a:path w="6362700" h="1066800">
                <a:moveTo>
                  <a:pt x="76202" y="0"/>
                </a:moveTo>
                <a:lnTo>
                  <a:pt x="6286498" y="0"/>
                </a:lnTo>
                <a:cubicBezTo>
                  <a:pt x="6328583" y="0"/>
                  <a:pt x="6362700" y="34117"/>
                  <a:pt x="6362700" y="76202"/>
                </a:cubicBezTo>
                <a:lnTo>
                  <a:pt x="6362700" y="990598"/>
                </a:lnTo>
                <a:cubicBezTo>
                  <a:pt x="6362700" y="1032683"/>
                  <a:pt x="6328583" y="1066800"/>
                  <a:pt x="6286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Text 14"/>
          <p:cNvSpPr/>
          <p:nvPr/>
        </p:nvSpPr>
        <p:spPr>
          <a:xfrm>
            <a:off x="704850" y="4476750"/>
            <a:ext cx="621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特に注意が必要な業務：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900" y="4829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947737" y="47815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顧客情報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29050" y="4829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4052888" y="47815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財務情報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3900" y="5133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947737" y="50863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医療・保険データ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29050" y="5133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4" name="Text 22"/>
          <p:cNvSpPr/>
          <p:nvPr/>
        </p:nvSpPr>
        <p:spPr>
          <a:xfrm>
            <a:off x="4052888" y="50863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システム開発・運用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53300" y="1257300"/>
            <a:ext cx="4457700" cy="4019550"/>
          </a:xfrm>
          <a:custGeom>
            <a:avLst/>
            <a:gdLst/>
            <a:ahLst/>
            <a:cxnLst/>
            <a:rect l="l" t="t" r="r" b="b"/>
            <a:pathLst>
              <a:path w="4457700" h="4019550">
                <a:moveTo>
                  <a:pt x="114316" y="0"/>
                </a:moveTo>
                <a:lnTo>
                  <a:pt x="4343384" y="0"/>
                </a:lnTo>
                <a:cubicBezTo>
                  <a:pt x="4406519" y="0"/>
                  <a:pt x="4457700" y="51181"/>
                  <a:pt x="4457700" y="114316"/>
                </a:cubicBezTo>
                <a:lnTo>
                  <a:pt x="4457700" y="3905234"/>
                </a:lnTo>
                <a:cubicBezTo>
                  <a:pt x="4457700" y="3968369"/>
                  <a:pt x="4406519" y="4019550"/>
                  <a:pt x="4343384" y="4019550"/>
                </a:cubicBezTo>
                <a:lnTo>
                  <a:pt x="114316" y="4019550"/>
                </a:lnTo>
                <a:cubicBezTo>
                  <a:pt x="51181" y="4019550"/>
                  <a:pt x="0" y="3968369"/>
                  <a:pt x="0" y="3905234"/>
                </a:cubicBezTo>
                <a:lnTo>
                  <a:pt x="0" y="114316"/>
                </a:lnTo>
                <a:cubicBezTo>
                  <a:pt x="0" y="51181"/>
                  <a:pt x="51181" y="0"/>
                  <a:pt x="114316" y="0"/>
                </a:cubicBezTo>
                <a:close/>
              </a:path>
            </a:pathLst>
          </a:custGeom>
          <a:gradFill rotWithShape="1" flip="none">
            <a:gsLst>
              <a:gs pos="0">
                <a:srgbClr val="106EBE"/>
              </a:gs>
              <a:gs pos="100000">
                <a:srgbClr val="0078D4"/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7572375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36937" y="145152"/>
                </a:moveTo>
                <a:lnTo>
                  <a:pt x="72509" y="169932"/>
                </a:lnTo>
                <a:cubicBezTo>
                  <a:pt x="63847" y="173281"/>
                  <a:pt x="55319" y="164753"/>
                  <a:pt x="58668" y="156091"/>
                </a:cubicBezTo>
                <a:lnTo>
                  <a:pt x="83448" y="91663"/>
                </a:lnTo>
                <a:cubicBezTo>
                  <a:pt x="84921" y="87868"/>
                  <a:pt x="87868" y="84921"/>
                  <a:pt x="91663" y="83448"/>
                </a:cubicBezTo>
                <a:lnTo>
                  <a:pt x="156091" y="58668"/>
                </a:lnTo>
                <a:cubicBezTo>
                  <a:pt x="164753" y="55319"/>
                  <a:pt x="173281" y="63847"/>
                  <a:pt x="169932" y="72509"/>
                </a:cubicBezTo>
                <a:lnTo>
                  <a:pt x="145152" y="136937"/>
                </a:lnTo>
                <a:cubicBezTo>
                  <a:pt x="143723" y="140732"/>
                  <a:pt x="140732" y="143679"/>
                  <a:pt x="136937" y="145152"/>
                </a:cubicBezTo>
                <a:close/>
                <a:moveTo>
                  <a:pt x="128588" y="114300"/>
                </a:moveTo>
                <a:cubicBezTo>
                  <a:pt x="128588" y="106415"/>
                  <a:pt x="122185" y="100013"/>
                  <a:pt x="114300" y="100013"/>
                </a:cubicBezTo>
                <a:cubicBezTo>
                  <a:pt x="106415" y="100013"/>
                  <a:pt x="100013" y="106415"/>
                  <a:pt x="100013" y="114300"/>
                </a:cubicBezTo>
                <a:cubicBezTo>
                  <a:pt x="100013" y="122185"/>
                  <a:pt x="106415" y="128588"/>
                  <a:pt x="114300" y="128588"/>
                </a:cubicBezTo>
                <a:cubicBezTo>
                  <a:pt x="122185" y="128588"/>
                  <a:pt x="128588" y="122185"/>
                  <a:pt x="128588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943850" y="14478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基本方針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43800" y="1905000"/>
            <a:ext cx="4076700" cy="819150"/>
          </a:xfrm>
          <a:custGeom>
            <a:avLst/>
            <a:gdLst/>
            <a:ahLst/>
            <a:cxnLst/>
            <a:rect l="l" t="t" r="r" b="b"/>
            <a:pathLst>
              <a:path w="4076700" h="819150">
                <a:moveTo>
                  <a:pt x="76197" y="0"/>
                </a:moveTo>
                <a:lnTo>
                  <a:pt x="4000503" y="0"/>
                </a:lnTo>
                <a:cubicBezTo>
                  <a:pt x="4042585" y="0"/>
                  <a:pt x="4076700" y="34115"/>
                  <a:pt x="4076700" y="76197"/>
                </a:cubicBezTo>
                <a:lnTo>
                  <a:pt x="4076700" y="742953"/>
                </a:lnTo>
                <a:cubicBezTo>
                  <a:pt x="4076700" y="785035"/>
                  <a:pt x="4042585" y="819150"/>
                  <a:pt x="4000503" y="819150"/>
                </a:cubicBezTo>
                <a:lnTo>
                  <a:pt x="76197" y="819150"/>
                </a:lnTo>
                <a:cubicBezTo>
                  <a:pt x="34115" y="819150"/>
                  <a:pt x="0" y="785035"/>
                  <a:pt x="0" y="7429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658100" y="20764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924800" y="201930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58100" y="2362200"/>
            <a:ext cx="3924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常に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人間が最終判断者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を原則とする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43800" y="2838450"/>
            <a:ext cx="4076700" cy="1066800"/>
          </a:xfrm>
          <a:custGeom>
            <a:avLst/>
            <a:gdLst/>
            <a:ahLst/>
            <a:cxnLst/>
            <a:rect l="l" t="t" r="r" b="b"/>
            <a:pathLst>
              <a:path w="4076700" h="10668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990598"/>
                </a:lnTo>
                <a:cubicBezTo>
                  <a:pt x="4076700" y="1032683"/>
                  <a:pt x="4042583" y="1066800"/>
                  <a:pt x="4000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677150" y="3009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924800" y="295275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参考情報としての位置づけ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58100" y="3295650"/>
            <a:ext cx="3924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AIの出力は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「参考情報」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であり、業務成果物・顧客対応・意思決定の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責任はすべて人間が負う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43800" y="4019550"/>
            <a:ext cx="4076700" cy="1066800"/>
          </a:xfrm>
          <a:custGeom>
            <a:avLst/>
            <a:gdLst/>
            <a:ahLst/>
            <a:cxnLst/>
            <a:rect l="l" t="t" r="r" b="b"/>
            <a:pathLst>
              <a:path w="4076700" h="1066800">
                <a:moveTo>
                  <a:pt x="76202" y="0"/>
                </a:moveTo>
                <a:lnTo>
                  <a:pt x="4000498" y="0"/>
                </a:lnTo>
                <a:cubicBezTo>
                  <a:pt x="4042583" y="0"/>
                  <a:pt x="4076700" y="34117"/>
                  <a:pt x="4076700" y="76202"/>
                </a:cubicBezTo>
                <a:lnTo>
                  <a:pt x="4076700" y="990598"/>
                </a:lnTo>
                <a:cubicBezTo>
                  <a:pt x="4076700" y="1032683"/>
                  <a:pt x="4042583" y="1066800"/>
                  <a:pt x="4000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58100" y="41910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924800" y="41338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法令・規程の最優先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58100" y="4476750"/>
            <a:ext cx="3924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個人情報保護法、金融庁ガイドライン、GDPR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等および社内規程を最優先とする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セキュリティの鉄則（行動規範）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AI利用時の5つの基本原則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571625"/>
            <a:ext cx="3686175" cy="2152650"/>
          </a:xfrm>
          <a:custGeom>
            <a:avLst/>
            <a:gdLst/>
            <a:ahLst/>
            <a:cxnLst/>
            <a:rect l="l" t="t" r="r" b="b"/>
            <a:pathLst>
              <a:path w="3686175" h="2152650">
                <a:moveTo>
                  <a:pt x="114306" y="0"/>
                </a:moveTo>
                <a:lnTo>
                  <a:pt x="3571869" y="0"/>
                </a:lnTo>
                <a:cubicBezTo>
                  <a:pt x="3634999" y="0"/>
                  <a:pt x="3686175" y="51176"/>
                  <a:pt x="3686175" y="114306"/>
                </a:cubicBezTo>
                <a:lnTo>
                  <a:pt x="3686175" y="2038344"/>
                </a:lnTo>
                <a:cubicBezTo>
                  <a:pt x="3686175" y="2101474"/>
                  <a:pt x="3634999" y="2152650"/>
                  <a:pt x="3571869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2450" y="1733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504825" y="1733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3950" y="182880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 Trustの徹底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2450" y="2305050"/>
            <a:ext cx="3438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「常に疑い、必ず検証する」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姿勢を持つ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628900"/>
            <a:ext cx="3362325" cy="685800"/>
          </a:xfrm>
          <a:custGeom>
            <a:avLst/>
            <a:gdLst/>
            <a:ahLst/>
            <a:cxnLst/>
            <a:rect l="l" t="t" r="r" b="b"/>
            <a:pathLst>
              <a:path w="3362325" h="685800">
                <a:moveTo>
                  <a:pt x="76199" y="0"/>
                </a:moveTo>
                <a:lnTo>
                  <a:pt x="3286126" y="0"/>
                </a:lnTo>
                <a:cubicBezTo>
                  <a:pt x="3328209" y="0"/>
                  <a:pt x="3362325" y="34116"/>
                  <a:pt x="3362325" y="76199"/>
                </a:cubicBezTo>
                <a:lnTo>
                  <a:pt x="3362325" y="609601"/>
                </a:lnTo>
                <a:cubicBezTo>
                  <a:pt x="3362325" y="651684"/>
                  <a:pt x="3328209" y="685800"/>
                  <a:pt x="32861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78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43200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AIの出力結果を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無条件に信用せず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、必ず内容を確認・裏付けする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275" y="1571625"/>
            <a:ext cx="3686175" cy="2152650"/>
          </a:xfrm>
          <a:custGeom>
            <a:avLst/>
            <a:gdLst/>
            <a:ahLst/>
            <a:cxnLst/>
            <a:rect l="l" t="t" r="r" b="b"/>
            <a:pathLst>
              <a:path w="3686175" h="2152650">
                <a:moveTo>
                  <a:pt x="114306" y="0"/>
                </a:moveTo>
                <a:lnTo>
                  <a:pt x="3571869" y="0"/>
                </a:lnTo>
                <a:cubicBezTo>
                  <a:pt x="3634999" y="0"/>
                  <a:pt x="3686175" y="51176"/>
                  <a:pt x="3686175" y="114306"/>
                </a:cubicBezTo>
                <a:lnTo>
                  <a:pt x="3686175" y="2038344"/>
                </a:lnTo>
                <a:cubicBezTo>
                  <a:pt x="3686175" y="2101474"/>
                  <a:pt x="3634999" y="2152650"/>
                  <a:pt x="3571869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13200" y="1733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15" name="Text 13"/>
          <p:cNvSpPr/>
          <p:nvPr/>
        </p:nvSpPr>
        <p:spPr>
          <a:xfrm>
            <a:off x="4365575" y="1733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4700" y="18288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最小権限の原則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13200" y="2305050"/>
            <a:ext cx="3438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06EBE"/>
                </a:solidFill>
                <a:highlight>
                  <a:srgbClr val="106EBE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Least Privilege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業務上必要最小限のデータのみを入力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13200" y="2876550"/>
            <a:ext cx="3362325" cy="685800"/>
          </a:xfrm>
          <a:custGeom>
            <a:avLst/>
            <a:gdLst/>
            <a:ahLst/>
            <a:cxnLst/>
            <a:rect l="l" t="t" r="r" b="b"/>
            <a:pathLst>
              <a:path w="3362325" h="685800">
                <a:moveTo>
                  <a:pt x="76199" y="0"/>
                </a:moveTo>
                <a:lnTo>
                  <a:pt x="3286126" y="0"/>
                </a:lnTo>
                <a:cubicBezTo>
                  <a:pt x="3328209" y="0"/>
                  <a:pt x="3362325" y="34116"/>
                  <a:pt x="3362325" y="76199"/>
                </a:cubicBezTo>
                <a:lnTo>
                  <a:pt x="3362325" y="609601"/>
                </a:lnTo>
                <a:cubicBezTo>
                  <a:pt x="3362325" y="651684"/>
                  <a:pt x="3328209" y="685800"/>
                  <a:pt x="32861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6550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20" name="Text 18"/>
          <p:cNvSpPr/>
          <p:nvPr/>
        </p:nvSpPr>
        <p:spPr>
          <a:xfrm>
            <a:off x="4775150" y="2990850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不要な情報（顧客識別情報・詳細データ）を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入力しない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2026" y="1571625"/>
            <a:ext cx="3686175" cy="2152650"/>
          </a:xfrm>
          <a:custGeom>
            <a:avLst/>
            <a:gdLst/>
            <a:ahLst/>
            <a:cxnLst/>
            <a:rect l="l" t="t" r="r" b="b"/>
            <a:pathLst>
              <a:path w="3686175" h="2152650">
                <a:moveTo>
                  <a:pt x="114306" y="0"/>
                </a:moveTo>
                <a:lnTo>
                  <a:pt x="3571869" y="0"/>
                </a:lnTo>
                <a:cubicBezTo>
                  <a:pt x="3634999" y="0"/>
                  <a:pt x="3686175" y="51176"/>
                  <a:pt x="3686175" y="114306"/>
                </a:cubicBezTo>
                <a:lnTo>
                  <a:pt x="3686175" y="2038344"/>
                </a:lnTo>
                <a:cubicBezTo>
                  <a:pt x="3686175" y="2101474"/>
                  <a:pt x="3634999" y="2152650"/>
                  <a:pt x="3571869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3951" y="1733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6326" y="1733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45451" y="18288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説明責任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3951" y="2305050"/>
            <a:ext cx="3438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Accountability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説明可能な状態を維持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3951" y="2628900"/>
            <a:ext cx="3362325" cy="914400"/>
          </a:xfrm>
          <a:custGeom>
            <a:avLst/>
            <a:gdLst/>
            <a:ahLst/>
            <a:cxnLst/>
            <a:rect l="l" t="t" r="r" b="b"/>
            <a:pathLst>
              <a:path w="3362325" h="914400">
                <a:moveTo>
                  <a:pt x="76197" y="0"/>
                </a:moveTo>
                <a:lnTo>
                  <a:pt x="3286128" y="0"/>
                </a:lnTo>
                <a:cubicBezTo>
                  <a:pt x="3328210" y="0"/>
                  <a:pt x="3362325" y="34115"/>
                  <a:pt x="3362325" y="76197"/>
                </a:cubicBezTo>
                <a:lnTo>
                  <a:pt x="3362325" y="838203"/>
                </a:lnTo>
                <a:cubicBezTo>
                  <a:pt x="3362325" y="880285"/>
                  <a:pt x="3328210" y="914400"/>
                  <a:pt x="32861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426351" y="2781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82272" y="77599"/>
                </a:moveTo>
                <a:cubicBezTo>
                  <a:pt x="84356" y="74265"/>
                  <a:pt x="83344" y="69860"/>
                  <a:pt x="80010" y="67747"/>
                </a:cubicBezTo>
                <a:cubicBezTo>
                  <a:pt x="76676" y="65633"/>
                  <a:pt x="72271" y="66675"/>
                  <a:pt x="70158" y="70009"/>
                </a:cubicBezTo>
                <a:lnTo>
                  <a:pt x="51881" y="99268"/>
                </a:lnTo>
                <a:lnTo>
                  <a:pt x="43845" y="88553"/>
                </a:lnTo>
                <a:cubicBezTo>
                  <a:pt x="41464" y="85398"/>
                  <a:pt x="36999" y="84743"/>
                  <a:pt x="33844" y="87124"/>
                </a:cubicBezTo>
                <a:cubicBezTo>
                  <a:pt x="30688" y="89505"/>
                  <a:pt x="30034" y="93970"/>
                  <a:pt x="32415" y="97125"/>
                </a:cubicBezTo>
                <a:lnTo>
                  <a:pt x="46702" y="116175"/>
                </a:lnTo>
                <a:cubicBezTo>
                  <a:pt x="48101" y="118050"/>
                  <a:pt x="50363" y="119122"/>
                  <a:pt x="52715" y="119033"/>
                </a:cubicBezTo>
                <a:cubicBezTo>
                  <a:pt x="55066" y="118943"/>
                  <a:pt x="57210" y="117693"/>
                  <a:pt x="58460" y="115669"/>
                </a:cubicBezTo>
                <a:lnTo>
                  <a:pt x="82272" y="77569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8635901" y="2743200"/>
            <a:ext cx="2962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AIを用いた業務プロセス・成果物について、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上長・監査部門・顧客に説明可能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な状態を維持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0525" y="3857625"/>
            <a:ext cx="5619750" cy="1905000"/>
          </a:xfrm>
          <a:custGeom>
            <a:avLst/>
            <a:gdLst/>
            <a:ahLst/>
            <a:cxnLst/>
            <a:rect l="l" t="t" r="r" b="b"/>
            <a:pathLst>
              <a:path w="5619750" h="19050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790700"/>
                </a:lnTo>
                <a:cubicBezTo>
                  <a:pt x="5619750" y="1853784"/>
                  <a:pt x="5568534" y="1905000"/>
                  <a:pt x="550545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2450" y="4019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31" name="Text 29"/>
          <p:cNvSpPr/>
          <p:nvPr/>
        </p:nvSpPr>
        <p:spPr>
          <a:xfrm>
            <a:off x="504825" y="4019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3950" y="41148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公平性・非差別の確保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2450" y="459105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出力に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06EBE"/>
                </a:solidFill>
                <a:highlight>
                  <a:srgbClr val="106EBE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偏見・差別・不適切表現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が含まれていないかを人間が確認する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2450" y="4914900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76199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66750" y="5067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36" name="Text 34"/>
          <p:cNvSpPr/>
          <p:nvPr/>
        </p:nvSpPr>
        <p:spPr>
          <a:xfrm>
            <a:off x="895350" y="50292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AIは学習データに含まれるバイアスを反映する可能性があるため、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人間が必ずチェック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することが重要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1725" y="3857625"/>
            <a:ext cx="5619750" cy="1905000"/>
          </a:xfrm>
          <a:custGeom>
            <a:avLst/>
            <a:gdLst/>
            <a:ahLst/>
            <a:cxnLst/>
            <a:rect l="l" t="t" r="r" b="b"/>
            <a:pathLst>
              <a:path w="5619750" h="19050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790700"/>
                </a:lnTo>
                <a:cubicBezTo>
                  <a:pt x="5619750" y="1853784"/>
                  <a:pt x="5568534" y="1905000"/>
                  <a:pt x="550545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83B01">
                  <a:alpha val="10000"/>
                </a:srgbClr>
              </a:gs>
              <a:gs pos="100000">
                <a:srgbClr val="D83B01">
                  <a:alpha val="5000"/>
                </a:srgbClr>
              </a:gs>
            </a:gsLst>
            <a:lin ang="2700000" scaled="1"/>
          </a:gradFill>
          <a:ln w="25400">
            <a:solidFill>
              <a:srgbClr val="D83B01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43650" y="4019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39" name="Text 37"/>
          <p:cNvSpPr/>
          <p:nvPr/>
        </p:nvSpPr>
        <p:spPr>
          <a:xfrm>
            <a:off x="6296025" y="4019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15150" y="41148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シャドーAIの禁止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43650" y="4572000"/>
            <a:ext cx="4454277" cy="285750"/>
          </a:xfrm>
          <a:custGeom>
            <a:avLst/>
            <a:gdLst/>
            <a:ahLst/>
            <a:cxnLst/>
            <a:rect l="l" t="t" r="r" b="b"/>
            <a:pathLst>
              <a:path w="4454277" h="285750">
                <a:moveTo>
                  <a:pt x="38099" y="0"/>
                </a:moveTo>
                <a:lnTo>
                  <a:pt x="4416178" y="0"/>
                </a:lnTo>
                <a:cubicBezTo>
                  <a:pt x="4437219" y="0"/>
                  <a:pt x="4454277" y="17058"/>
                  <a:pt x="4454277" y="38099"/>
                </a:cubicBezTo>
                <a:lnTo>
                  <a:pt x="4454277" y="247651"/>
                </a:lnTo>
                <a:cubicBezTo>
                  <a:pt x="4454277" y="268692"/>
                  <a:pt x="4437219" y="285750"/>
                  <a:pt x="4416178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D83B01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43650" y="4572000"/>
            <a:ext cx="4530477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会社が承認した法人向けCopilot（EDP適用環境）のみ利用可能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8413" y="4919663"/>
            <a:ext cx="5286375" cy="466725"/>
          </a:xfrm>
          <a:custGeom>
            <a:avLst/>
            <a:gdLst/>
            <a:ahLst/>
            <a:cxnLst/>
            <a:rect l="l" t="t" r="r" b="b"/>
            <a:pathLst>
              <a:path w="5286375" h="466725">
                <a:moveTo>
                  <a:pt x="76202" y="0"/>
                </a:moveTo>
                <a:lnTo>
                  <a:pt x="5210173" y="0"/>
                </a:lnTo>
                <a:cubicBezTo>
                  <a:pt x="5252258" y="0"/>
                  <a:pt x="5286375" y="34117"/>
                  <a:pt x="5286375" y="76202"/>
                </a:cubicBezTo>
                <a:lnTo>
                  <a:pt x="5286375" y="390523"/>
                </a:lnTo>
                <a:cubicBezTo>
                  <a:pt x="5286375" y="432608"/>
                  <a:pt x="5252258" y="466725"/>
                  <a:pt x="52101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3B01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86525" y="507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45" name="Text 43"/>
          <p:cNvSpPr/>
          <p:nvPr/>
        </p:nvSpPr>
        <p:spPr>
          <a:xfrm>
            <a:off x="6734175" y="50387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個人契約のAIサービス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（ChatGPT無料版等）への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機密情報入力は厳禁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000" y="5886450"/>
            <a:ext cx="11430000" cy="495300"/>
          </a:xfrm>
          <a:custGeom>
            <a:avLst/>
            <a:gdLst/>
            <a:ahLst/>
            <a:cxnLst/>
            <a:rect l="l" t="t" r="r" b="b"/>
            <a:pathLst>
              <a:path w="11430000" h="49530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381000"/>
                </a:lnTo>
                <a:cubicBezTo>
                  <a:pt x="11430000" y="444126"/>
                  <a:pt x="11378826" y="495300"/>
                  <a:pt x="11315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/>
              </a:gs>
              <a:gs pos="100000">
                <a:srgbClr val="106EBE"/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552450" y="6019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95350" y="6000750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これら5つの原則を常に意識し、安全で責任あるAI活用を実践しましょう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6854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spc="55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623455"/>
            <a:ext cx="11655136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エンタープライズデータ保護（EDP）の仕組み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6364" y="1039091"/>
            <a:ext cx="1157720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組織データを守る技術的枠組み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364" y="1420091"/>
            <a:ext cx="5663045" cy="1437409"/>
          </a:xfrm>
          <a:custGeom>
            <a:avLst/>
            <a:gdLst/>
            <a:ahLst/>
            <a:cxnLst/>
            <a:rect l="l" t="t" r="r" b="b"/>
            <a:pathLst>
              <a:path w="5663045" h="1437409">
                <a:moveTo>
                  <a:pt x="103910" y="0"/>
                </a:moveTo>
                <a:lnTo>
                  <a:pt x="5559135" y="0"/>
                </a:lnTo>
                <a:cubicBezTo>
                  <a:pt x="5616523" y="0"/>
                  <a:pt x="5663045" y="46522"/>
                  <a:pt x="5663045" y="103910"/>
                </a:cubicBezTo>
                <a:lnTo>
                  <a:pt x="5663045" y="1333499"/>
                </a:lnTo>
                <a:cubicBezTo>
                  <a:pt x="5663045" y="1390887"/>
                  <a:pt x="5616523" y="1437409"/>
                  <a:pt x="5559135" y="1437409"/>
                </a:cubicBezTo>
                <a:lnTo>
                  <a:pt x="103910" y="1437409"/>
                </a:lnTo>
                <a:cubicBezTo>
                  <a:pt x="46522" y="1437409"/>
                  <a:pt x="0" y="1390887"/>
                  <a:pt x="0" y="1333499"/>
                </a:cubicBezTo>
                <a:lnTo>
                  <a:pt x="0" y="103910"/>
                </a:lnTo>
                <a:cubicBezTo>
                  <a:pt x="0" y="46561"/>
                  <a:pt x="46561" y="0"/>
                  <a:pt x="10391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/>
              </a:gs>
              <a:gs pos="100000">
                <a:srgbClr val="106EBE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32534" y="1610591"/>
            <a:ext cx="233795" cy="207818"/>
          </a:xfrm>
          <a:custGeom>
            <a:avLst/>
            <a:gdLst/>
            <a:ahLst/>
            <a:cxnLst/>
            <a:rect l="l" t="t" r="r" b="b"/>
            <a:pathLst>
              <a:path w="233795" h="207818">
                <a:moveTo>
                  <a:pt x="19483" y="79474"/>
                </a:moveTo>
                <a:lnTo>
                  <a:pt x="104396" y="114422"/>
                </a:lnTo>
                <a:cubicBezTo>
                  <a:pt x="108374" y="116045"/>
                  <a:pt x="112595" y="116898"/>
                  <a:pt x="116898" y="116898"/>
                </a:cubicBezTo>
                <a:cubicBezTo>
                  <a:pt x="121200" y="116898"/>
                  <a:pt x="125422" y="116045"/>
                  <a:pt x="129399" y="114422"/>
                </a:cubicBezTo>
                <a:lnTo>
                  <a:pt x="227788" y="73913"/>
                </a:lnTo>
                <a:cubicBezTo>
                  <a:pt x="231441" y="72412"/>
                  <a:pt x="233795" y="68880"/>
                  <a:pt x="233795" y="64943"/>
                </a:cubicBezTo>
                <a:cubicBezTo>
                  <a:pt x="233795" y="61006"/>
                  <a:pt x="231441" y="57475"/>
                  <a:pt x="227788" y="55973"/>
                </a:cubicBezTo>
                <a:lnTo>
                  <a:pt x="129399" y="15465"/>
                </a:lnTo>
                <a:cubicBezTo>
                  <a:pt x="125422" y="13841"/>
                  <a:pt x="121200" y="12989"/>
                  <a:pt x="116898" y="12989"/>
                </a:cubicBezTo>
                <a:cubicBezTo>
                  <a:pt x="112595" y="12989"/>
                  <a:pt x="108374" y="13841"/>
                  <a:pt x="104396" y="15465"/>
                </a:cubicBezTo>
                <a:lnTo>
                  <a:pt x="6007" y="55973"/>
                </a:lnTo>
                <a:cubicBezTo>
                  <a:pt x="2354" y="57475"/>
                  <a:pt x="0" y="61006"/>
                  <a:pt x="0" y="64943"/>
                </a:cubicBezTo>
                <a:lnTo>
                  <a:pt x="0" y="185088"/>
                </a:lnTo>
                <a:cubicBezTo>
                  <a:pt x="0" y="190486"/>
                  <a:pt x="4343" y="194830"/>
                  <a:pt x="9741" y="194830"/>
                </a:cubicBezTo>
                <a:cubicBezTo>
                  <a:pt x="15140" y="194830"/>
                  <a:pt x="19483" y="190486"/>
                  <a:pt x="19483" y="185088"/>
                </a:cubicBezTo>
                <a:lnTo>
                  <a:pt x="19483" y="79474"/>
                </a:lnTo>
                <a:close/>
                <a:moveTo>
                  <a:pt x="38966" y="108577"/>
                </a:moveTo>
                <a:lnTo>
                  <a:pt x="38966" y="155864"/>
                </a:lnTo>
                <a:cubicBezTo>
                  <a:pt x="38966" y="177376"/>
                  <a:pt x="73873" y="194830"/>
                  <a:pt x="116898" y="194830"/>
                </a:cubicBezTo>
                <a:cubicBezTo>
                  <a:pt x="159923" y="194830"/>
                  <a:pt x="194830" y="177376"/>
                  <a:pt x="194830" y="155864"/>
                </a:cubicBezTo>
                <a:lnTo>
                  <a:pt x="194830" y="108536"/>
                </a:lnTo>
                <a:lnTo>
                  <a:pt x="136827" y="132444"/>
                </a:lnTo>
                <a:cubicBezTo>
                  <a:pt x="130495" y="135041"/>
                  <a:pt x="123757" y="136381"/>
                  <a:pt x="116898" y="136381"/>
                </a:cubicBezTo>
                <a:cubicBezTo>
                  <a:pt x="110038" y="136381"/>
                  <a:pt x="103300" y="135041"/>
                  <a:pt x="96968" y="132444"/>
                </a:cubicBezTo>
                <a:lnTo>
                  <a:pt x="38966" y="10853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83227" y="1593273"/>
            <a:ext cx="95250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非学習保証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9545" y="1939636"/>
            <a:ext cx="5385955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入力プロンプトや参照データは</a:t>
            </a:r>
            <a:pPr>
              <a:lnSpc>
                <a:spcPct val="140000"/>
              </a:lnSpc>
            </a:pPr>
            <a:r>
              <a:rPr lang="en-US" sz="1091" b="1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AIモデルの学習に使用されない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9545" y="2268682"/>
            <a:ext cx="5316682" cy="415636"/>
          </a:xfrm>
          <a:custGeom>
            <a:avLst/>
            <a:gdLst/>
            <a:ahLst/>
            <a:cxnLst/>
            <a:rect l="l" t="t" r="r" b="b"/>
            <a:pathLst>
              <a:path w="5316682" h="415636">
                <a:moveTo>
                  <a:pt x="69274" y="0"/>
                </a:moveTo>
                <a:lnTo>
                  <a:pt x="5247408" y="0"/>
                </a:lnTo>
                <a:cubicBezTo>
                  <a:pt x="5285667" y="0"/>
                  <a:pt x="5316682" y="31015"/>
                  <a:pt x="5316682" y="69274"/>
                </a:cubicBezTo>
                <a:lnTo>
                  <a:pt x="5316682" y="346362"/>
                </a:lnTo>
                <a:cubicBezTo>
                  <a:pt x="5316682" y="384621"/>
                  <a:pt x="5285667" y="415636"/>
                  <a:pt x="5247408" y="415636"/>
                </a:cubicBezTo>
                <a:lnTo>
                  <a:pt x="69274" y="415636"/>
                </a:lnTo>
                <a:cubicBezTo>
                  <a:pt x="31041" y="415636"/>
                  <a:pt x="0" y="384596"/>
                  <a:pt x="0" y="3463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773" y="2407227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69273" y="138545"/>
                </a:moveTo>
                <a:cubicBezTo>
                  <a:pt x="107505" y="138545"/>
                  <a:pt x="138545" y="107505"/>
                  <a:pt x="138545" y="69273"/>
                </a:cubicBezTo>
                <a:cubicBezTo>
                  <a:pt x="138545" y="31040"/>
                  <a:pt x="107505" y="0"/>
                  <a:pt x="69273" y="0"/>
                </a:cubicBezTo>
                <a:cubicBezTo>
                  <a:pt x="31040" y="0"/>
                  <a:pt x="0" y="31040"/>
                  <a:pt x="0" y="69273"/>
                </a:cubicBezTo>
                <a:cubicBezTo>
                  <a:pt x="0" y="107505"/>
                  <a:pt x="31040" y="138545"/>
                  <a:pt x="69273" y="138545"/>
                </a:cubicBezTo>
                <a:close/>
                <a:moveTo>
                  <a:pt x="92111" y="57556"/>
                </a:moveTo>
                <a:lnTo>
                  <a:pt x="70463" y="92192"/>
                </a:lnTo>
                <a:cubicBezTo>
                  <a:pt x="69327" y="94005"/>
                  <a:pt x="67379" y="95142"/>
                  <a:pt x="65241" y="95250"/>
                </a:cubicBezTo>
                <a:cubicBezTo>
                  <a:pt x="63103" y="95358"/>
                  <a:pt x="61047" y="94384"/>
                  <a:pt x="59775" y="92652"/>
                </a:cubicBezTo>
                <a:lnTo>
                  <a:pt x="46786" y="75334"/>
                </a:lnTo>
                <a:cubicBezTo>
                  <a:pt x="44621" y="72466"/>
                  <a:pt x="45217" y="68407"/>
                  <a:pt x="48085" y="66242"/>
                </a:cubicBezTo>
                <a:cubicBezTo>
                  <a:pt x="50953" y="64077"/>
                  <a:pt x="55012" y="64673"/>
                  <a:pt x="57177" y="67541"/>
                </a:cubicBezTo>
                <a:lnTo>
                  <a:pt x="64483" y="77282"/>
                </a:lnTo>
                <a:lnTo>
                  <a:pt x="81098" y="50683"/>
                </a:lnTo>
                <a:cubicBezTo>
                  <a:pt x="82992" y="47652"/>
                  <a:pt x="86997" y="46705"/>
                  <a:pt x="90055" y="48626"/>
                </a:cubicBezTo>
                <a:cubicBezTo>
                  <a:pt x="93112" y="50547"/>
                  <a:pt x="94032" y="54525"/>
                  <a:pt x="92111" y="57583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3868" y="2372591"/>
            <a:ext cx="495772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Microsoftは</a:t>
            </a:r>
            <a:pPr>
              <a:lnSpc>
                <a:spcPct val="130000"/>
              </a:lnSpc>
            </a:pPr>
            <a:r>
              <a:rPr lang="en-US" sz="1091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規約で明言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。基盤モデルのトレーニングには一切使用されません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5023" y="3004705"/>
            <a:ext cx="5645727" cy="1454727"/>
          </a:xfrm>
          <a:custGeom>
            <a:avLst/>
            <a:gdLst/>
            <a:ahLst/>
            <a:cxnLst/>
            <a:rect l="l" t="t" r="r" b="b"/>
            <a:pathLst>
              <a:path w="5645727" h="1454727">
                <a:moveTo>
                  <a:pt x="103911" y="0"/>
                </a:moveTo>
                <a:lnTo>
                  <a:pt x="5541816" y="0"/>
                </a:lnTo>
                <a:cubicBezTo>
                  <a:pt x="5599205" y="0"/>
                  <a:pt x="5645727" y="46523"/>
                  <a:pt x="5645727" y="103911"/>
                </a:cubicBezTo>
                <a:lnTo>
                  <a:pt x="5645727" y="1350816"/>
                </a:lnTo>
                <a:cubicBezTo>
                  <a:pt x="5645727" y="1408205"/>
                  <a:pt x="5599205" y="1454727"/>
                  <a:pt x="5541816" y="1454727"/>
                </a:cubicBezTo>
                <a:lnTo>
                  <a:pt x="103911" y="1454727"/>
                </a:lnTo>
                <a:cubicBezTo>
                  <a:pt x="46523" y="1454727"/>
                  <a:pt x="0" y="1408205"/>
                  <a:pt x="0" y="1350816"/>
                </a:cubicBezTo>
                <a:lnTo>
                  <a:pt x="0" y="103911"/>
                </a:lnTo>
                <a:cubicBezTo>
                  <a:pt x="0" y="46561"/>
                  <a:pt x="46561" y="0"/>
                  <a:pt x="10391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8818" y="3203864"/>
            <a:ext cx="155864" cy="207818"/>
          </a:xfrm>
          <a:custGeom>
            <a:avLst/>
            <a:gdLst/>
            <a:ahLst/>
            <a:cxnLst/>
            <a:rect l="l" t="t" r="r" b="b"/>
            <a:pathLst>
              <a:path w="155864" h="207818">
                <a:moveTo>
                  <a:pt x="25977" y="0"/>
                </a:moveTo>
                <a:cubicBezTo>
                  <a:pt x="11649" y="0"/>
                  <a:pt x="0" y="11649"/>
                  <a:pt x="0" y="25977"/>
                </a:cubicBezTo>
                <a:lnTo>
                  <a:pt x="0" y="181841"/>
                </a:lnTo>
                <a:cubicBezTo>
                  <a:pt x="0" y="196169"/>
                  <a:pt x="11649" y="207818"/>
                  <a:pt x="25977" y="207818"/>
                </a:cubicBezTo>
                <a:lnTo>
                  <a:pt x="129886" y="207818"/>
                </a:lnTo>
                <a:cubicBezTo>
                  <a:pt x="144214" y="207818"/>
                  <a:pt x="155864" y="196169"/>
                  <a:pt x="155864" y="181841"/>
                </a:cubicBezTo>
                <a:lnTo>
                  <a:pt x="155864" y="25977"/>
                </a:lnTo>
                <a:cubicBezTo>
                  <a:pt x="155864" y="11649"/>
                  <a:pt x="144214" y="0"/>
                  <a:pt x="129886" y="0"/>
                </a:cubicBezTo>
                <a:lnTo>
                  <a:pt x="25977" y="0"/>
                </a:lnTo>
                <a:close/>
                <a:moveTo>
                  <a:pt x="71438" y="142875"/>
                </a:moveTo>
                <a:lnTo>
                  <a:pt x="84426" y="142875"/>
                </a:lnTo>
                <a:cubicBezTo>
                  <a:pt x="91610" y="142875"/>
                  <a:pt x="97415" y="148679"/>
                  <a:pt x="97415" y="155864"/>
                </a:cubicBezTo>
                <a:lnTo>
                  <a:pt x="97415" y="188335"/>
                </a:lnTo>
                <a:lnTo>
                  <a:pt x="58449" y="188335"/>
                </a:lnTo>
                <a:lnTo>
                  <a:pt x="58449" y="155864"/>
                </a:lnTo>
                <a:cubicBezTo>
                  <a:pt x="58449" y="148679"/>
                  <a:pt x="64253" y="142875"/>
                  <a:pt x="71438" y="142875"/>
                </a:cubicBezTo>
                <a:close/>
                <a:moveTo>
                  <a:pt x="38966" y="45460"/>
                </a:moveTo>
                <a:cubicBezTo>
                  <a:pt x="38966" y="41888"/>
                  <a:pt x="41888" y="38966"/>
                  <a:pt x="45460" y="38966"/>
                </a:cubicBezTo>
                <a:lnTo>
                  <a:pt x="58449" y="38966"/>
                </a:lnTo>
                <a:cubicBezTo>
                  <a:pt x="62021" y="38966"/>
                  <a:pt x="64943" y="41888"/>
                  <a:pt x="64943" y="45460"/>
                </a:cubicBezTo>
                <a:lnTo>
                  <a:pt x="64943" y="58449"/>
                </a:lnTo>
                <a:cubicBezTo>
                  <a:pt x="64943" y="62021"/>
                  <a:pt x="62021" y="64943"/>
                  <a:pt x="58449" y="64943"/>
                </a:cubicBezTo>
                <a:lnTo>
                  <a:pt x="45460" y="64943"/>
                </a:lnTo>
                <a:cubicBezTo>
                  <a:pt x="41888" y="64943"/>
                  <a:pt x="38966" y="62021"/>
                  <a:pt x="38966" y="58449"/>
                </a:cubicBezTo>
                <a:lnTo>
                  <a:pt x="38966" y="45460"/>
                </a:lnTo>
                <a:close/>
                <a:moveTo>
                  <a:pt x="97415" y="38966"/>
                </a:moveTo>
                <a:lnTo>
                  <a:pt x="110403" y="38966"/>
                </a:lnTo>
                <a:cubicBezTo>
                  <a:pt x="113975" y="38966"/>
                  <a:pt x="116898" y="41888"/>
                  <a:pt x="116898" y="45460"/>
                </a:cubicBezTo>
                <a:lnTo>
                  <a:pt x="116898" y="58449"/>
                </a:lnTo>
                <a:cubicBezTo>
                  <a:pt x="116898" y="62021"/>
                  <a:pt x="113975" y="64943"/>
                  <a:pt x="110403" y="64943"/>
                </a:cubicBezTo>
                <a:lnTo>
                  <a:pt x="97415" y="64943"/>
                </a:lnTo>
                <a:cubicBezTo>
                  <a:pt x="93843" y="64943"/>
                  <a:pt x="90920" y="62021"/>
                  <a:pt x="90920" y="58449"/>
                </a:cubicBezTo>
                <a:lnTo>
                  <a:pt x="90920" y="45460"/>
                </a:lnTo>
                <a:cubicBezTo>
                  <a:pt x="90920" y="41888"/>
                  <a:pt x="93843" y="38966"/>
                  <a:pt x="97415" y="38966"/>
                </a:cubicBezTo>
                <a:close/>
                <a:moveTo>
                  <a:pt x="38966" y="97415"/>
                </a:moveTo>
                <a:cubicBezTo>
                  <a:pt x="38966" y="93843"/>
                  <a:pt x="41888" y="90920"/>
                  <a:pt x="45460" y="90920"/>
                </a:cubicBezTo>
                <a:lnTo>
                  <a:pt x="58449" y="90920"/>
                </a:lnTo>
                <a:cubicBezTo>
                  <a:pt x="62021" y="90920"/>
                  <a:pt x="64943" y="93843"/>
                  <a:pt x="64943" y="97415"/>
                </a:cubicBezTo>
                <a:lnTo>
                  <a:pt x="64943" y="110403"/>
                </a:lnTo>
                <a:cubicBezTo>
                  <a:pt x="64943" y="113975"/>
                  <a:pt x="62021" y="116898"/>
                  <a:pt x="58449" y="116898"/>
                </a:cubicBezTo>
                <a:lnTo>
                  <a:pt x="45460" y="116898"/>
                </a:lnTo>
                <a:cubicBezTo>
                  <a:pt x="41888" y="116898"/>
                  <a:pt x="38966" y="113975"/>
                  <a:pt x="38966" y="110403"/>
                </a:cubicBezTo>
                <a:lnTo>
                  <a:pt x="38966" y="97415"/>
                </a:lnTo>
                <a:close/>
                <a:moveTo>
                  <a:pt x="97415" y="90920"/>
                </a:moveTo>
                <a:lnTo>
                  <a:pt x="110403" y="90920"/>
                </a:lnTo>
                <a:cubicBezTo>
                  <a:pt x="113975" y="90920"/>
                  <a:pt x="116898" y="93843"/>
                  <a:pt x="116898" y="97415"/>
                </a:cubicBezTo>
                <a:lnTo>
                  <a:pt x="116898" y="110403"/>
                </a:lnTo>
                <a:cubicBezTo>
                  <a:pt x="116898" y="113975"/>
                  <a:pt x="113975" y="116898"/>
                  <a:pt x="110403" y="116898"/>
                </a:cubicBezTo>
                <a:lnTo>
                  <a:pt x="97415" y="116898"/>
                </a:lnTo>
                <a:cubicBezTo>
                  <a:pt x="93843" y="116898"/>
                  <a:pt x="90920" y="113975"/>
                  <a:pt x="90920" y="110403"/>
                </a:cubicBezTo>
                <a:lnTo>
                  <a:pt x="90920" y="97415"/>
                </a:lnTo>
                <a:cubicBezTo>
                  <a:pt x="90920" y="93843"/>
                  <a:pt x="93843" y="90920"/>
                  <a:pt x="97415" y="9092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900545" y="3186545"/>
            <a:ext cx="16452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テナント境界の維持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6864" y="3532909"/>
            <a:ext cx="5351318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データは</a:t>
            </a:r>
            <a:pPr>
              <a:lnSpc>
                <a:spcPct val="140000"/>
              </a:lnSpc>
            </a:pPr>
            <a:r>
              <a:rPr lang="en-US" sz="1091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当社Microsoft 365テナント内に限定 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され、外部組織と共有されない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6864" y="3861955"/>
            <a:ext cx="5282045" cy="415636"/>
          </a:xfrm>
          <a:custGeom>
            <a:avLst/>
            <a:gdLst/>
            <a:ahLst/>
            <a:cxnLst/>
            <a:rect l="l" t="t" r="r" b="b"/>
            <a:pathLst>
              <a:path w="5282045" h="415636">
                <a:moveTo>
                  <a:pt x="69274" y="0"/>
                </a:moveTo>
                <a:lnTo>
                  <a:pt x="5212771" y="0"/>
                </a:lnTo>
                <a:cubicBezTo>
                  <a:pt x="5251030" y="0"/>
                  <a:pt x="5282045" y="31015"/>
                  <a:pt x="5282045" y="69274"/>
                </a:cubicBezTo>
                <a:lnTo>
                  <a:pt x="5282045" y="346362"/>
                </a:lnTo>
                <a:cubicBezTo>
                  <a:pt x="5282045" y="384621"/>
                  <a:pt x="5251030" y="415636"/>
                  <a:pt x="5212771" y="415636"/>
                </a:cubicBezTo>
                <a:lnTo>
                  <a:pt x="69274" y="415636"/>
                </a:lnTo>
                <a:cubicBezTo>
                  <a:pt x="31041" y="415636"/>
                  <a:pt x="0" y="384596"/>
                  <a:pt x="0" y="3463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091" y="4000500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69273" y="0"/>
                </a:moveTo>
                <a:cubicBezTo>
                  <a:pt x="70517" y="0"/>
                  <a:pt x="71762" y="271"/>
                  <a:pt x="72899" y="785"/>
                </a:cubicBezTo>
                <a:lnTo>
                  <a:pt x="123879" y="22405"/>
                </a:lnTo>
                <a:cubicBezTo>
                  <a:pt x="129832" y="24922"/>
                  <a:pt x="134270" y="30794"/>
                  <a:pt x="134243" y="37884"/>
                </a:cubicBezTo>
                <a:cubicBezTo>
                  <a:pt x="134108" y="64727"/>
                  <a:pt x="123067" y="113840"/>
                  <a:pt x="76444" y="136164"/>
                </a:cubicBezTo>
                <a:cubicBezTo>
                  <a:pt x="71925" y="138329"/>
                  <a:pt x="66675" y="138329"/>
                  <a:pt x="62156" y="136164"/>
                </a:cubicBezTo>
                <a:cubicBezTo>
                  <a:pt x="15505" y="113840"/>
                  <a:pt x="4492" y="64727"/>
                  <a:pt x="4357" y="37884"/>
                </a:cubicBezTo>
                <a:cubicBezTo>
                  <a:pt x="4330" y="30794"/>
                  <a:pt x="8767" y="24922"/>
                  <a:pt x="14720" y="22405"/>
                </a:cubicBezTo>
                <a:lnTo>
                  <a:pt x="65674" y="785"/>
                </a:lnTo>
                <a:cubicBezTo>
                  <a:pt x="66810" y="271"/>
                  <a:pt x="68028" y="0"/>
                  <a:pt x="69273" y="0"/>
                </a:cubicBezTo>
                <a:close/>
                <a:moveTo>
                  <a:pt x="69273" y="18076"/>
                </a:moveTo>
                <a:lnTo>
                  <a:pt x="69273" y="120388"/>
                </a:lnTo>
                <a:cubicBezTo>
                  <a:pt x="106615" y="102313"/>
                  <a:pt x="116654" y="62264"/>
                  <a:pt x="116898" y="38289"/>
                </a:cubicBezTo>
                <a:lnTo>
                  <a:pt x="69273" y="18103"/>
                </a:lnTo>
                <a:lnTo>
                  <a:pt x="69273" y="18103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861186" y="3965864"/>
            <a:ext cx="4923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論理的に完全に分離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。他社のデータと混在することはありません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5023" y="4615295"/>
            <a:ext cx="5645727" cy="1454727"/>
          </a:xfrm>
          <a:custGeom>
            <a:avLst/>
            <a:gdLst/>
            <a:ahLst/>
            <a:cxnLst/>
            <a:rect l="l" t="t" r="r" b="b"/>
            <a:pathLst>
              <a:path w="5645727" h="1454727">
                <a:moveTo>
                  <a:pt x="103911" y="0"/>
                </a:moveTo>
                <a:lnTo>
                  <a:pt x="5541816" y="0"/>
                </a:lnTo>
                <a:cubicBezTo>
                  <a:pt x="5599205" y="0"/>
                  <a:pt x="5645727" y="46523"/>
                  <a:pt x="5645727" y="103911"/>
                </a:cubicBezTo>
                <a:lnTo>
                  <a:pt x="5645727" y="1350816"/>
                </a:lnTo>
                <a:cubicBezTo>
                  <a:pt x="5645727" y="1408205"/>
                  <a:pt x="5599205" y="1454727"/>
                  <a:pt x="5541816" y="1454727"/>
                </a:cubicBezTo>
                <a:lnTo>
                  <a:pt x="103911" y="1454727"/>
                </a:lnTo>
                <a:cubicBezTo>
                  <a:pt x="46523" y="1454727"/>
                  <a:pt x="0" y="1408205"/>
                  <a:pt x="0" y="1350816"/>
                </a:cubicBezTo>
                <a:lnTo>
                  <a:pt x="0" y="103911"/>
                </a:lnTo>
                <a:cubicBezTo>
                  <a:pt x="0" y="46561"/>
                  <a:pt x="46561" y="0"/>
                  <a:pt x="10391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5830" y="4814455"/>
            <a:ext cx="181841" cy="207818"/>
          </a:xfrm>
          <a:custGeom>
            <a:avLst/>
            <a:gdLst/>
            <a:ahLst/>
            <a:cxnLst/>
            <a:rect l="l" t="t" r="r" b="b"/>
            <a:pathLst>
              <a:path w="181841" h="207818">
                <a:moveTo>
                  <a:pt x="181841" y="83533"/>
                </a:moveTo>
                <a:cubicBezTo>
                  <a:pt x="175834" y="87511"/>
                  <a:pt x="168933" y="90718"/>
                  <a:pt x="161749" y="93275"/>
                </a:cubicBezTo>
                <a:cubicBezTo>
                  <a:pt x="142672" y="100094"/>
                  <a:pt x="117628" y="103909"/>
                  <a:pt x="90920" y="103909"/>
                </a:cubicBezTo>
                <a:cubicBezTo>
                  <a:pt x="64213" y="103909"/>
                  <a:pt x="39128" y="100053"/>
                  <a:pt x="20092" y="93275"/>
                </a:cubicBezTo>
                <a:cubicBezTo>
                  <a:pt x="12948" y="90718"/>
                  <a:pt x="6007" y="87511"/>
                  <a:pt x="0" y="83533"/>
                </a:cubicBezTo>
                <a:lnTo>
                  <a:pt x="0" y="116898"/>
                </a:lnTo>
                <a:cubicBezTo>
                  <a:pt x="0" y="134838"/>
                  <a:pt x="40711" y="149369"/>
                  <a:pt x="90920" y="149369"/>
                </a:cubicBezTo>
                <a:cubicBezTo>
                  <a:pt x="141130" y="149369"/>
                  <a:pt x="181841" y="134838"/>
                  <a:pt x="181841" y="116898"/>
                </a:cubicBezTo>
                <a:lnTo>
                  <a:pt x="181841" y="83533"/>
                </a:lnTo>
                <a:close/>
                <a:moveTo>
                  <a:pt x="181841" y="51955"/>
                </a:moveTo>
                <a:lnTo>
                  <a:pt x="181841" y="32472"/>
                </a:lnTo>
                <a:cubicBezTo>
                  <a:pt x="181841" y="14531"/>
                  <a:pt x="141130" y="0"/>
                  <a:pt x="90920" y="0"/>
                </a:cubicBezTo>
                <a:cubicBezTo>
                  <a:pt x="40711" y="0"/>
                  <a:pt x="0" y="14531"/>
                  <a:pt x="0" y="32472"/>
                </a:cubicBezTo>
                <a:lnTo>
                  <a:pt x="0" y="51955"/>
                </a:lnTo>
                <a:cubicBezTo>
                  <a:pt x="0" y="69895"/>
                  <a:pt x="40711" y="84426"/>
                  <a:pt x="90920" y="84426"/>
                </a:cubicBezTo>
                <a:cubicBezTo>
                  <a:pt x="141130" y="84426"/>
                  <a:pt x="181841" y="69895"/>
                  <a:pt x="181841" y="51955"/>
                </a:cubicBezTo>
                <a:close/>
                <a:moveTo>
                  <a:pt x="161749" y="158218"/>
                </a:moveTo>
                <a:cubicBezTo>
                  <a:pt x="142713" y="164996"/>
                  <a:pt x="117669" y="168852"/>
                  <a:pt x="90920" y="168852"/>
                </a:cubicBezTo>
                <a:cubicBezTo>
                  <a:pt x="64172" y="168852"/>
                  <a:pt x="39128" y="164996"/>
                  <a:pt x="20092" y="158218"/>
                </a:cubicBezTo>
                <a:cubicBezTo>
                  <a:pt x="12948" y="155661"/>
                  <a:pt x="6007" y="152454"/>
                  <a:pt x="0" y="148476"/>
                </a:cubicBezTo>
                <a:lnTo>
                  <a:pt x="0" y="175347"/>
                </a:lnTo>
                <a:cubicBezTo>
                  <a:pt x="0" y="193287"/>
                  <a:pt x="40711" y="207818"/>
                  <a:pt x="90920" y="207818"/>
                </a:cubicBezTo>
                <a:cubicBezTo>
                  <a:pt x="141130" y="207818"/>
                  <a:pt x="181841" y="193287"/>
                  <a:pt x="181841" y="175347"/>
                </a:cubicBezTo>
                <a:lnTo>
                  <a:pt x="181841" y="148476"/>
                </a:lnTo>
                <a:cubicBezTo>
                  <a:pt x="175834" y="152454"/>
                  <a:pt x="168933" y="155661"/>
                  <a:pt x="161749" y="158218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21" name="Text 19"/>
          <p:cNvSpPr/>
          <p:nvPr/>
        </p:nvSpPr>
        <p:spPr>
          <a:xfrm>
            <a:off x="900545" y="4797136"/>
            <a:ext cx="16452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データレジデンシー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6864" y="5143500"/>
            <a:ext cx="5351318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日本国内テナント利用時は、</a:t>
            </a:r>
            <a:pPr>
              <a:lnSpc>
                <a:spcPct val="140000"/>
              </a:lnSpc>
            </a:pPr>
            <a:r>
              <a:rPr lang="en-US" sz="1091" b="1" dirty="0">
                <a:solidFill>
                  <a:srgbClr val="106EBE"/>
                </a:solidFill>
                <a:highlight>
                  <a:srgbClr val="106EBE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原則として国内データセンターに保存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6864" y="5472545"/>
            <a:ext cx="5282045" cy="415636"/>
          </a:xfrm>
          <a:custGeom>
            <a:avLst/>
            <a:gdLst/>
            <a:ahLst/>
            <a:cxnLst/>
            <a:rect l="l" t="t" r="r" b="b"/>
            <a:pathLst>
              <a:path w="5282045" h="415636">
                <a:moveTo>
                  <a:pt x="69274" y="0"/>
                </a:moveTo>
                <a:lnTo>
                  <a:pt x="5212771" y="0"/>
                </a:lnTo>
                <a:cubicBezTo>
                  <a:pt x="5251030" y="0"/>
                  <a:pt x="5282045" y="31015"/>
                  <a:pt x="5282045" y="69274"/>
                </a:cubicBezTo>
                <a:lnTo>
                  <a:pt x="5282045" y="346362"/>
                </a:lnTo>
                <a:cubicBezTo>
                  <a:pt x="5282045" y="384621"/>
                  <a:pt x="5251030" y="415636"/>
                  <a:pt x="5212771" y="415636"/>
                </a:cubicBezTo>
                <a:lnTo>
                  <a:pt x="69274" y="415636"/>
                </a:lnTo>
                <a:cubicBezTo>
                  <a:pt x="31041" y="415636"/>
                  <a:pt x="0" y="384596"/>
                  <a:pt x="0" y="3463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091" y="5611091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3530" y="77066"/>
                </a:moveTo>
                <a:cubicBezTo>
                  <a:pt x="14666" y="77634"/>
                  <a:pt x="15965" y="77932"/>
                  <a:pt x="17318" y="77932"/>
                </a:cubicBezTo>
                <a:lnTo>
                  <a:pt x="31037" y="77932"/>
                </a:lnTo>
                <a:cubicBezTo>
                  <a:pt x="33338" y="77932"/>
                  <a:pt x="35529" y="78852"/>
                  <a:pt x="37153" y="80475"/>
                </a:cubicBezTo>
                <a:lnTo>
                  <a:pt x="40752" y="84074"/>
                </a:lnTo>
                <a:cubicBezTo>
                  <a:pt x="42375" y="85698"/>
                  <a:pt x="44567" y="86618"/>
                  <a:pt x="46867" y="86618"/>
                </a:cubicBezTo>
                <a:lnTo>
                  <a:pt x="51927" y="86618"/>
                </a:lnTo>
                <a:cubicBezTo>
                  <a:pt x="56717" y="86618"/>
                  <a:pt x="60587" y="82748"/>
                  <a:pt x="60587" y="77959"/>
                </a:cubicBezTo>
                <a:lnTo>
                  <a:pt x="60587" y="67135"/>
                </a:lnTo>
                <a:cubicBezTo>
                  <a:pt x="60587" y="63536"/>
                  <a:pt x="63482" y="60641"/>
                  <a:pt x="67081" y="60641"/>
                </a:cubicBezTo>
                <a:cubicBezTo>
                  <a:pt x="70680" y="60641"/>
                  <a:pt x="73575" y="57745"/>
                  <a:pt x="73575" y="54146"/>
                </a:cubicBezTo>
                <a:lnTo>
                  <a:pt x="73575" y="42592"/>
                </a:lnTo>
                <a:cubicBezTo>
                  <a:pt x="73575" y="40292"/>
                  <a:pt x="74495" y="38100"/>
                  <a:pt x="76119" y="36476"/>
                </a:cubicBezTo>
                <a:lnTo>
                  <a:pt x="79718" y="32877"/>
                </a:lnTo>
                <a:cubicBezTo>
                  <a:pt x="81341" y="31254"/>
                  <a:pt x="82261" y="29062"/>
                  <a:pt x="82261" y="26762"/>
                </a:cubicBezTo>
                <a:lnTo>
                  <a:pt x="82261" y="15424"/>
                </a:lnTo>
                <a:cubicBezTo>
                  <a:pt x="82261" y="15099"/>
                  <a:pt x="82234" y="14802"/>
                  <a:pt x="82207" y="14477"/>
                </a:cubicBezTo>
                <a:cubicBezTo>
                  <a:pt x="78040" y="13503"/>
                  <a:pt x="73711" y="12989"/>
                  <a:pt x="69273" y="12989"/>
                </a:cubicBezTo>
                <a:cubicBezTo>
                  <a:pt x="38181" y="12989"/>
                  <a:pt x="12989" y="38181"/>
                  <a:pt x="12989" y="69273"/>
                </a:cubicBezTo>
                <a:cubicBezTo>
                  <a:pt x="12989" y="71925"/>
                  <a:pt x="13178" y="74522"/>
                  <a:pt x="13530" y="77066"/>
                </a:cubicBezTo>
                <a:close/>
                <a:moveTo>
                  <a:pt x="122661" y="87159"/>
                </a:moveTo>
                <a:cubicBezTo>
                  <a:pt x="121796" y="86780"/>
                  <a:pt x="120848" y="86591"/>
                  <a:pt x="119820" y="86591"/>
                </a:cubicBezTo>
                <a:lnTo>
                  <a:pt x="116898" y="86591"/>
                </a:lnTo>
                <a:cubicBezTo>
                  <a:pt x="114516" y="86591"/>
                  <a:pt x="112568" y="84643"/>
                  <a:pt x="112568" y="82261"/>
                </a:cubicBezTo>
                <a:cubicBezTo>
                  <a:pt x="112568" y="79880"/>
                  <a:pt x="110620" y="77932"/>
                  <a:pt x="108239" y="77932"/>
                </a:cubicBezTo>
                <a:lnTo>
                  <a:pt x="98849" y="77932"/>
                </a:lnTo>
                <a:cubicBezTo>
                  <a:pt x="96549" y="77932"/>
                  <a:pt x="94357" y="78852"/>
                  <a:pt x="92733" y="80475"/>
                </a:cubicBezTo>
                <a:lnTo>
                  <a:pt x="80475" y="92733"/>
                </a:lnTo>
                <a:cubicBezTo>
                  <a:pt x="78852" y="94357"/>
                  <a:pt x="77932" y="96549"/>
                  <a:pt x="77932" y="98849"/>
                </a:cubicBezTo>
                <a:lnTo>
                  <a:pt x="77932" y="103909"/>
                </a:lnTo>
                <a:cubicBezTo>
                  <a:pt x="77932" y="108699"/>
                  <a:pt x="81801" y="112568"/>
                  <a:pt x="86591" y="112568"/>
                </a:cubicBezTo>
                <a:lnTo>
                  <a:pt x="91651" y="112568"/>
                </a:lnTo>
                <a:cubicBezTo>
                  <a:pt x="93951" y="112568"/>
                  <a:pt x="96143" y="113488"/>
                  <a:pt x="97767" y="115112"/>
                </a:cubicBezTo>
                <a:cubicBezTo>
                  <a:pt x="98362" y="115707"/>
                  <a:pt x="99038" y="116221"/>
                  <a:pt x="99742" y="116600"/>
                </a:cubicBezTo>
                <a:cubicBezTo>
                  <a:pt x="110376" y="109727"/>
                  <a:pt x="118548" y="99390"/>
                  <a:pt x="122634" y="87159"/>
                </a:cubicBezTo>
                <a:close/>
                <a:moveTo>
                  <a:pt x="0" y="69273"/>
                </a:moveTo>
                <a:cubicBezTo>
                  <a:pt x="0" y="31040"/>
                  <a:pt x="31040" y="0"/>
                  <a:pt x="69273" y="0"/>
                </a:cubicBezTo>
                <a:cubicBezTo>
                  <a:pt x="107505" y="0"/>
                  <a:pt x="138545" y="31040"/>
                  <a:pt x="138545" y="69273"/>
                </a:cubicBezTo>
                <a:cubicBezTo>
                  <a:pt x="138545" y="107505"/>
                  <a:pt x="107505" y="138545"/>
                  <a:pt x="69273" y="138545"/>
                </a:cubicBezTo>
                <a:cubicBezTo>
                  <a:pt x="31040" y="138545"/>
                  <a:pt x="0" y="107505"/>
                  <a:pt x="0" y="69273"/>
                </a:cubicBezTo>
                <a:close/>
                <a:moveTo>
                  <a:pt x="34636" y="99580"/>
                </a:moveTo>
                <a:cubicBezTo>
                  <a:pt x="34636" y="101961"/>
                  <a:pt x="36585" y="103909"/>
                  <a:pt x="38966" y="103909"/>
                </a:cubicBezTo>
                <a:lnTo>
                  <a:pt x="47625" y="103909"/>
                </a:lnTo>
                <a:cubicBezTo>
                  <a:pt x="50006" y="103909"/>
                  <a:pt x="51955" y="101961"/>
                  <a:pt x="51955" y="99580"/>
                </a:cubicBezTo>
                <a:cubicBezTo>
                  <a:pt x="51955" y="97198"/>
                  <a:pt x="50006" y="95250"/>
                  <a:pt x="47625" y="95250"/>
                </a:cubicBezTo>
                <a:lnTo>
                  <a:pt x="38966" y="95250"/>
                </a:lnTo>
                <a:cubicBezTo>
                  <a:pt x="36585" y="95250"/>
                  <a:pt x="34636" y="97198"/>
                  <a:pt x="34636" y="99580"/>
                </a:cubicBezTo>
                <a:close/>
                <a:moveTo>
                  <a:pt x="73602" y="69273"/>
                </a:moveTo>
                <a:cubicBezTo>
                  <a:pt x="71221" y="69273"/>
                  <a:pt x="69273" y="71221"/>
                  <a:pt x="69273" y="73602"/>
                </a:cubicBezTo>
                <a:lnTo>
                  <a:pt x="69273" y="82261"/>
                </a:lnTo>
                <a:cubicBezTo>
                  <a:pt x="69273" y="84643"/>
                  <a:pt x="71221" y="86591"/>
                  <a:pt x="73602" y="86591"/>
                </a:cubicBezTo>
                <a:cubicBezTo>
                  <a:pt x="75984" y="86591"/>
                  <a:pt x="77932" y="84643"/>
                  <a:pt x="77932" y="82261"/>
                </a:cubicBezTo>
                <a:lnTo>
                  <a:pt x="77932" y="73602"/>
                </a:lnTo>
                <a:cubicBezTo>
                  <a:pt x="77932" y="71221"/>
                  <a:pt x="75984" y="69273"/>
                  <a:pt x="73602" y="69273"/>
                </a:cubicBezTo>
                <a:close/>
                <a:moveTo>
                  <a:pt x="86591" y="38966"/>
                </a:moveTo>
                <a:lnTo>
                  <a:pt x="86591" y="47625"/>
                </a:lnTo>
                <a:cubicBezTo>
                  <a:pt x="86591" y="50006"/>
                  <a:pt x="88539" y="51955"/>
                  <a:pt x="90920" y="51955"/>
                </a:cubicBezTo>
                <a:cubicBezTo>
                  <a:pt x="93302" y="51955"/>
                  <a:pt x="95250" y="50006"/>
                  <a:pt x="95250" y="47625"/>
                </a:cubicBezTo>
                <a:lnTo>
                  <a:pt x="95250" y="38966"/>
                </a:lnTo>
                <a:cubicBezTo>
                  <a:pt x="95250" y="36585"/>
                  <a:pt x="93302" y="34636"/>
                  <a:pt x="90920" y="34636"/>
                </a:cubicBezTo>
                <a:cubicBezTo>
                  <a:pt x="88539" y="34636"/>
                  <a:pt x="86591" y="36585"/>
                  <a:pt x="86591" y="38966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25" name="Text 23"/>
          <p:cNvSpPr/>
          <p:nvPr/>
        </p:nvSpPr>
        <p:spPr>
          <a:xfrm>
            <a:off x="861186" y="5576455"/>
            <a:ext cx="4923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GDPR、ISO/IEC 27018準拠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。データ主権を確保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0" y="1428750"/>
            <a:ext cx="5645727" cy="1766455"/>
          </a:xfrm>
          <a:custGeom>
            <a:avLst/>
            <a:gdLst/>
            <a:ahLst/>
            <a:cxnLst/>
            <a:rect l="l" t="t" r="r" b="b"/>
            <a:pathLst>
              <a:path w="5645727" h="1766455">
                <a:moveTo>
                  <a:pt x="103903" y="0"/>
                </a:moveTo>
                <a:lnTo>
                  <a:pt x="5541824" y="0"/>
                </a:lnTo>
                <a:cubicBezTo>
                  <a:pt x="5599208" y="0"/>
                  <a:pt x="5645727" y="46519"/>
                  <a:pt x="5645727" y="103903"/>
                </a:cubicBezTo>
                <a:lnTo>
                  <a:pt x="5645727" y="1662552"/>
                </a:lnTo>
                <a:cubicBezTo>
                  <a:pt x="5645727" y="1719897"/>
                  <a:pt x="5599170" y="1766455"/>
                  <a:pt x="5541824" y="1766455"/>
                </a:cubicBezTo>
                <a:lnTo>
                  <a:pt x="103903" y="1766455"/>
                </a:lnTo>
                <a:cubicBezTo>
                  <a:pt x="46519" y="1766455"/>
                  <a:pt x="0" y="1719936"/>
                  <a:pt x="0" y="1662552"/>
                </a:cubicBezTo>
                <a:lnTo>
                  <a:pt x="0" y="103903"/>
                </a:lnTo>
                <a:cubicBezTo>
                  <a:pt x="0" y="46557"/>
                  <a:pt x="46557" y="0"/>
                  <a:pt x="1039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9068" y="1627909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136381" y="142875"/>
                </a:moveTo>
                <a:cubicBezTo>
                  <a:pt x="175834" y="142875"/>
                  <a:pt x="207818" y="110890"/>
                  <a:pt x="207818" y="71438"/>
                </a:cubicBezTo>
                <a:cubicBezTo>
                  <a:pt x="207818" y="31985"/>
                  <a:pt x="175834" y="0"/>
                  <a:pt x="136381" y="0"/>
                </a:cubicBezTo>
                <a:cubicBezTo>
                  <a:pt x="96928" y="0"/>
                  <a:pt x="64943" y="31985"/>
                  <a:pt x="64943" y="71438"/>
                </a:cubicBezTo>
                <a:cubicBezTo>
                  <a:pt x="64943" y="79028"/>
                  <a:pt x="66120" y="86374"/>
                  <a:pt x="68312" y="93234"/>
                </a:cubicBezTo>
                <a:lnTo>
                  <a:pt x="2841" y="158705"/>
                </a:lnTo>
                <a:cubicBezTo>
                  <a:pt x="1015" y="160531"/>
                  <a:pt x="0" y="163007"/>
                  <a:pt x="0" y="165605"/>
                </a:cubicBezTo>
                <a:lnTo>
                  <a:pt x="0" y="198077"/>
                </a:lnTo>
                <a:cubicBezTo>
                  <a:pt x="0" y="203475"/>
                  <a:pt x="4343" y="207818"/>
                  <a:pt x="9741" y="207818"/>
                </a:cubicBezTo>
                <a:lnTo>
                  <a:pt x="42213" y="207818"/>
                </a:lnTo>
                <a:cubicBezTo>
                  <a:pt x="47611" y="207818"/>
                  <a:pt x="51955" y="203475"/>
                  <a:pt x="51955" y="198077"/>
                </a:cubicBezTo>
                <a:lnTo>
                  <a:pt x="51955" y="181841"/>
                </a:lnTo>
                <a:lnTo>
                  <a:pt x="68190" y="181841"/>
                </a:lnTo>
                <a:cubicBezTo>
                  <a:pt x="73589" y="181841"/>
                  <a:pt x="77932" y="177498"/>
                  <a:pt x="77932" y="172099"/>
                </a:cubicBezTo>
                <a:lnTo>
                  <a:pt x="77932" y="155864"/>
                </a:lnTo>
                <a:lnTo>
                  <a:pt x="94168" y="155864"/>
                </a:lnTo>
                <a:cubicBezTo>
                  <a:pt x="96765" y="155864"/>
                  <a:pt x="99241" y="154849"/>
                  <a:pt x="101068" y="153022"/>
                </a:cubicBezTo>
                <a:lnTo>
                  <a:pt x="114584" y="139506"/>
                </a:lnTo>
                <a:cubicBezTo>
                  <a:pt x="121444" y="141698"/>
                  <a:pt x="128790" y="142875"/>
                  <a:pt x="136381" y="142875"/>
                </a:cubicBezTo>
                <a:close/>
                <a:moveTo>
                  <a:pt x="152616" y="38966"/>
                </a:moveTo>
                <a:cubicBezTo>
                  <a:pt x="161577" y="38966"/>
                  <a:pt x="168852" y="46241"/>
                  <a:pt x="168852" y="55202"/>
                </a:cubicBezTo>
                <a:cubicBezTo>
                  <a:pt x="168852" y="64162"/>
                  <a:pt x="161577" y="71438"/>
                  <a:pt x="152616" y="71438"/>
                </a:cubicBezTo>
                <a:cubicBezTo>
                  <a:pt x="143656" y="71438"/>
                  <a:pt x="136381" y="64162"/>
                  <a:pt x="136381" y="55202"/>
                </a:cubicBezTo>
                <a:cubicBezTo>
                  <a:pt x="136381" y="46241"/>
                  <a:pt x="143656" y="38966"/>
                  <a:pt x="152616" y="38966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6736773" y="1610591"/>
            <a:ext cx="95250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論理的分離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3091" y="1956955"/>
            <a:ext cx="5351318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Microsoft Entra ID 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により、認証・アクセス制御・データ分離を実施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3091" y="2286000"/>
            <a:ext cx="5282045" cy="727364"/>
          </a:xfrm>
          <a:custGeom>
            <a:avLst/>
            <a:gdLst/>
            <a:ahLst/>
            <a:cxnLst/>
            <a:rect l="l" t="t" r="r" b="b"/>
            <a:pathLst>
              <a:path w="5282045" h="727364">
                <a:moveTo>
                  <a:pt x="69274" y="0"/>
                </a:moveTo>
                <a:lnTo>
                  <a:pt x="5212771" y="0"/>
                </a:lnTo>
                <a:cubicBezTo>
                  <a:pt x="5251030" y="0"/>
                  <a:pt x="5282045" y="31015"/>
                  <a:pt x="5282045" y="69274"/>
                </a:cubicBezTo>
                <a:lnTo>
                  <a:pt x="5282045" y="658090"/>
                </a:lnTo>
                <a:cubicBezTo>
                  <a:pt x="5282045" y="696349"/>
                  <a:pt x="5251030" y="727364"/>
                  <a:pt x="5212771" y="727364"/>
                </a:cubicBezTo>
                <a:lnTo>
                  <a:pt x="69274" y="727364"/>
                </a:lnTo>
                <a:cubicBezTo>
                  <a:pt x="31041" y="727364"/>
                  <a:pt x="0" y="696323"/>
                  <a:pt x="0" y="658090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1636" y="2424545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34636" y="25977"/>
                </a:moveTo>
                <a:lnTo>
                  <a:pt x="34636" y="43295"/>
                </a:lnTo>
                <a:lnTo>
                  <a:pt x="69273" y="43295"/>
                </a:lnTo>
                <a:lnTo>
                  <a:pt x="69273" y="25977"/>
                </a:lnTo>
                <a:cubicBezTo>
                  <a:pt x="69273" y="16425"/>
                  <a:pt x="61507" y="8659"/>
                  <a:pt x="51955" y="8659"/>
                </a:cubicBezTo>
                <a:cubicBezTo>
                  <a:pt x="42402" y="8659"/>
                  <a:pt x="34636" y="16425"/>
                  <a:pt x="34636" y="25977"/>
                </a:cubicBezTo>
                <a:close/>
                <a:moveTo>
                  <a:pt x="17318" y="43295"/>
                </a:moveTo>
                <a:lnTo>
                  <a:pt x="17318" y="25977"/>
                </a:lnTo>
                <a:cubicBezTo>
                  <a:pt x="17318" y="6846"/>
                  <a:pt x="32823" y="-8659"/>
                  <a:pt x="51955" y="-8659"/>
                </a:cubicBezTo>
                <a:cubicBezTo>
                  <a:pt x="71086" y="-8659"/>
                  <a:pt x="86591" y="6846"/>
                  <a:pt x="86591" y="25977"/>
                </a:cubicBezTo>
                <a:lnTo>
                  <a:pt x="86591" y="43295"/>
                </a:lnTo>
                <a:cubicBezTo>
                  <a:pt x="96143" y="43295"/>
                  <a:pt x="103909" y="51062"/>
                  <a:pt x="103909" y="60614"/>
                </a:cubicBezTo>
                <a:lnTo>
                  <a:pt x="103909" y="121227"/>
                </a:lnTo>
                <a:cubicBezTo>
                  <a:pt x="103909" y="130779"/>
                  <a:pt x="96143" y="138545"/>
                  <a:pt x="86591" y="138545"/>
                </a:cubicBezTo>
                <a:lnTo>
                  <a:pt x="17318" y="138545"/>
                </a:lnTo>
                <a:cubicBezTo>
                  <a:pt x="7766" y="138545"/>
                  <a:pt x="0" y="130779"/>
                  <a:pt x="0" y="121227"/>
                </a:cubicBezTo>
                <a:lnTo>
                  <a:pt x="0" y="60614"/>
                </a:lnTo>
                <a:cubicBezTo>
                  <a:pt x="0" y="51062"/>
                  <a:pt x="7766" y="43295"/>
                  <a:pt x="17318" y="43295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2" name="Text 30"/>
          <p:cNvSpPr/>
          <p:nvPr/>
        </p:nvSpPr>
        <p:spPr>
          <a:xfrm>
            <a:off x="6697413" y="2389909"/>
            <a:ext cx="4923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保存時・転送時ともに暗号化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（FIPS 140-2準拠）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7000" y="2667000"/>
            <a:ext cx="701386" cy="242455"/>
          </a:xfrm>
          <a:custGeom>
            <a:avLst/>
            <a:gdLst/>
            <a:ahLst/>
            <a:cxnLst/>
            <a:rect l="l" t="t" r="r" b="b"/>
            <a:pathLst>
              <a:path w="701386" h="242455">
                <a:moveTo>
                  <a:pt x="121227" y="0"/>
                </a:moveTo>
                <a:lnTo>
                  <a:pt x="580159" y="0"/>
                </a:lnTo>
                <a:cubicBezTo>
                  <a:pt x="647066" y="0"/>
                  <a:pt x="701386" y="54320"/>
                  <a:pt x="701386" y="121227"/>
                </a:cubicBezTo>
                <a:lnTo>
                  <a:pt x="701386" y="121227"/>
                </a:lnTo>
                <a:cubicBezTo>
                  <a:pt x="701386" y="188134"/>
                  <a:pt x="647066" y="242455"/>
                  <a:pt x="580159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77000" y="2667000"/>
            <a:ext cx="762000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AES-256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46577" y="2667000"/>
            <a:ext cx="675409" cy="242455"/>
          </a:xfrm>
          <a:custGeom>
            <a:avLst/>
            <a:gdLst/>
            <a:ahLst/>
            <a:cxnLst/>
            <a:rect l="l" t="t" r="r" b="b"/>
            <a:pathLst>
              <a:path w="675409" h="242455">
                <a:moveTo>
                  <a:pt x="121227" y="0"/>
                </a:moveTo>
                <a:lnTo>
                  <a:pt x="554182" y="0"/>
                </a:lnTo>
                <a:cubicBezTo>
                  <a:pt x="621089" y="0"/>
                  <a:pt x="675409" y="54320"/>
                  <a:pt x="675409" y="121227"/>
                </a:cubicBezTo>
                <a:lnTo>
                  <a:pt x="675409" y="121227"/>
                </a:lnTo>
                <a:cubicBezTo>
                  <a:pt x="675409" y="188134"/>
                  <a:pt x="621089" y="242455"/>
                  <a:pt x="554182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246577" y="2667000"/>
            <a:ext cx="736023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TLS 1.2+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1250" y="3351068"/>
            <a:ext cx="5645727" cy="1454727"/>
          </a:xfrm>
          <a:custGeom>
            <a:avLst/>
            <a:gdLst/>
            <a:ahLst/>
            <a:cxnLst/>
            <a:rect l="l" t="t" r="r" b="b"/>
            <a:pathLst>
              <a:path w="5645727" h="1454727">
                <a:moveTo>
                  <a:pt x="103911" y="0"/>
                </a:moveTo>
                <a:lnTo>
                  <a:pt x="5541816" y="0"/>
                </a:lnTo>
                <a:cubicBezTo>
                  <a:pt x="5599205" y="0"/>
                  <a:pt x="5645727" y="46523"/>
                  <a:pt x="5645727" y="103911"/>
                </a:cubicBezTo>
                <a:lnTo>
                  <a:pt x="5645727" y="1350816"/>
                </a:lnTo>
                <a:cubicBezTo>
                  <a:pt x="5645727" y="1408205"/>
                  <a:pt x="5599205" y="1454727"/>
                  <a:pt x="5541816" y="1454727"/>
                </a:cubicBezTo>
                <a:lnTo>
                  <a:pt x="103911" y="1454727"/>
                </a:lnTo>
                <a:cubicBezTo>
                  <a:pt x="46523" y="1454727"/>
                  <a:pt x="0" y="1408205"/>
                  <a:pt x="0" y="1350816"/>
                </a:cubicBezTo>
                <a:lnTo>
                  <a:pt x="0" y="103911"/>
                </a:lnTo>
                <a:cubicBezTo>
                  <a:pt x="0" y="46561"/>
                  <a:pt x="46561" y="0"/>
                  <a:pt x="10391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25045" y="3550227"/>
            <a:ext cx="155864" cy="207818"/>
          </a:xfrm>
          <a:custGeom>
            <a:avLst/>
            <a:gdLst/>
            <a:ahLst/>
            <a:cxnLst/>
            <a:rect l="l" t="t" r="r" b="b"/>
            <a:pathLst>
              <a:path w="155864" h="207818">
                <a:moveTo>
                  <a:pt x="126396" y="12989"/>
                </a:moveTo>
                <a:lnTo>
                  <a:pt x="129886" y="12989"/>
                </a:lnTo>
                <a:cubicBezTo>
                  <a:pt x="144214" y="12989"/>
                  <a:pt x="155864" y="24638"/>
                  <a:pt x="155864" y="38966"/>
                </a:cubicBezTo>
                <a:lnTo>
                  <a:pt x="155864" y="181841"/>
                </a:lnTo>
                <a:cubicBezTo>
                  <a:pt x="155864" y="196169"/>
                  <a:pt x="144214" y="207818"/>
                  <a:pt x="129886" y="207818"/>
                </a:cubicBezTo>
                <a:lnTo>
                  <a:pt x="25977" y="207818"/>
                </a:lnTo>
                <a:cubicBezTo>
                  <a:pt x="11649" y="207818"/>
                  <a:pt x="0" y="196169"/>
                  <a:pt x="0" y="181841"/>
                </a:cubicBezTo>
                <a:lnTo>
                  <a:pt x="0" y="38966"/>
                </a:lnTo>
                <a:cubicBezTo>
                  <a:pt x="0" y="24638"/>
                  <a:pt x="11649" y="12989"/>
                  <a:pt x="25977" y="12989"/>
                </a:cubicBezTo>
                <a:lnTo>
                  <a:pt x="29468" y="12989"/>
                </a:lnTo>
                <a:cubicBezTo>
                  <a:pt x="33933" y="5236"/>
                  <a:pt x="42335" y="0"/>
                  <a:pt x="51955" y="0"/>
                </a:cubicBezTo>
                <a:lnTo>
                  <a:pt x="103909" y="0"/>
                </a:lnTo>
                <a:cubicBezTo>
                  <a:pt x="113529" y="0"/>
                  <a:pt x="121931" y="5236"/>
                  <a:pt x="126396" y="12989"/>
                </a:cubicBezTo>
                <a:close/>
                <a:moveTo>
                  <a:pt x="100662" y="45460"/>
                </a:moveTo>
                <a:cubicBezTo>
                  <a:pt x="106060" y="45460"/>
                  <a:pt x="110403" y="41117"/>
                  <a:pt x="110403" y="35719"/>
                </a:cubicBezTo>
                <a:cubicBezTo>
                  <a:pt x="110403" y="30320"/>
                  <a:pt x="106060" y="25977"/>
                  <a:pt x="100662" y="25977"/>
                </a:cubicBezTo>
                <a:lnTo>
                  <a:pt x="55202" y="25977"/>
                </a:lnTo>
                <a:cubicBezTo>
                  <a:pt x="49803" y="25977"/>
                  <a:pt x="45460" y="30320"/>
                  <a:pt x="45460" y="35719"/>
                </a:cubicBezTo>
                <a:cubicBezTo>
                  <a:pt x="45460" y="41117"/>
                  <a:pt x="49803" y="45460"/>
                  <a:pt x="55202" y="45460"/>
                </a:cubicBezTo>
                <a:lnTo>
                  <a:pt x="100662" y="45460"/>
                </a:lnTo>
                <a:close/>
                <a:moveTo>
                  <a:pt x="51955" y="103909"/>
                </a:moveTo>
                <a:cubicBezTo>
                  <a:pt x="51955" y="96740"/>
                  <a:pt x="46135" y="90920"/>
                  <a:pt x="38966" y="90920"/>
                </a:cubicBezTo>
                <a:cubicBezTo>
                  <a:pt x="31797" y="90920"/>
                  <a:pt x="25977" y="96740"/>
                  <a:pt x="25977" y="103909"/>
                </a:cubicBezTo>
                <a:cubicBezTo>
                  <a:pt x="25977" y="111078"/>
                  <a:pt x="31797" y="116898"/>
                  <a:pt x="38966" y="116898"/>
                </a:cubicBezTo>
                <a:cubicBezTo>
                  <a:pt x="46135" y="116898"/>
                  <a:pt x="51955" y="111078"/>
                  <a:pt x="51955" y="103909"/>
                </a:cubicBezTo>
                <a:close/>
                <a:moveTo>
                  <a:pt x="64943" y="103909"/>
                </a:moveTo>
                <a:cubicBezTo>
                  <a:pt x="64943" y="109307"/>
                  <a:pt x="69286" y="113651"/>
                  <a:pt x="74685" y="113651"/>
                </a:cubicBezTo>
                <a:lnTo>
                  <a:pt x="120145" y="113651"/>
                </a:lnTo>
                <a:cubicBezTo>
                  <a:pt x="125543" y="113651"/>
                  <a:pt x="129886" y="109307"/>
                  <a:pt x="129886" y="103909"/>
                </a:cubicBezTo>
                <a:cubicBezTo>
                  <a:pt x="129886" y="98511"/>
                  <a:pt x="125543" y="94168"/>
                  <a:pt x="120145" y="94168"/>
                </a:cubicBezTo>
                <a:lnTo>
                  <a:pt x="74685" y="94168"/>
                </a:lnTo>
                <a:cubicBezTo>
                  <a:pt x="69286" y="94168"/>
                  <a:pt x="64943" y="98511"/>
                  <a:pt x="64943" y="103909"/>
                </a:cubicBezTo>
                <a:close/>
                <a:moveTo>
                  <a:pt x="64943" y="155864"/>
                </a:moveTo>
                <a:cubicBezTo>
                  <a:pt x="64943" y="161262"/>
                  <a:pt x="69286" y="165605"/>
                  <a:pt x="74685" y="165605"/>
                </a:cubicBezTo>
                <a:lnTo>
                  <a:pt x="120145" y="165605"/>
                </a:lnTo>
                <a:cubicBezTo>
                  <a:pt x="125543" y="165605"/>
                  <a:pt x="129886" y="161262"/>
                  <a:pt x="129886" y="155864"/>
                </a:cubicBezTo>
                <a:cubicBezTo>
                  <a:pt x="129886" y="150465"/>
                  <a:pt x="125543" y="146122"/>
                  <a:pt x="120145" y="146122"/>
                </a:cubicBezTo>
                <a:lnTo>
                  <a:pt x="74685" y="146122"/>
                </a:lnTo>
                <a:cubicBezTo>
                  <a:pt x="69286" y="146122"/>
                  <a:pt x="64943" y="150465"/>
                  <a:pt x="64943" y="155864"/>
                </a:cubicBezTo>
                <a:close/>
                <a:moveTo>
                  <a:pt x="38966" y="168852"/>
                </a:moveTo>
                <a:cubicBezTo>
                  <a:pt x="46135" y="168852"/>
                  <a:pt x="51955" y="163032"/>
                  <a:pt x="51955" y="155864"/>
                </a:cubicBezTo>
                <a:cubicBezTo>
                  <a:pt x="51955" y="148695"/>
                  <a:pt x="46135" y="142875"/>
                  <a:pt x="38966" y="142875"/>
                </a:cubicBezTo>
                <a:cubicBezTo>
                  <a:pt x="31797" y="142875"/>
                  <a:pt x="25977" y="148695"/>
                  <a:pt x="25977" y="155864"/>
                </a:cubicBezTo>
                <a:cubicBezTo>
                  <a:pt x="25977" y="163032"/>
                  <a:pt x="31797" y="168852"/>
                  <a:pt x="38966" y="168852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39" name="Text 37"/>
          <p:cNvSpPr/>
          <p:nvPr/>
        </p:nvSpPr>
        <p:spPr>
          <a:xfrm>
            <a:off x="6736773" y="3532909"/>
            <a:ext cx="779318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監査ログ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3091" y="3879273"/>
            <a:ext cx="5351318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b="1" dirty="0">
                <a:solidFill>
                  <a:srgbClr val="106EBE"/>
                </a:solidFill>
                <a:highlight>
                  <a:srgbClr val="106EBE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誰が、いつ、どのデータを使用したか 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を追跡可能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3091" y="4208318"/>
            <a:ext cx="5282045" cy="415636"/>
          </a:xfrm>
          <a:custGeom>
            <a:avLst/>
            <a:gdLst/>
            <a:ahLst/>
            <a:cxnLst/>
            <a:rect l="l" t="t" r="r" b="b"/>
            <a:pathLst>
              <a:path w="5282045" h="415636">
                <a:moveTo>
                  <a:pt x="69274" y="0"/>
                </a:moveTo>
                <a:lnTo>
                  <a:pt x="5212771" y="0"/>
                </a:lnTo>
                <a:cubicBezTo>
                  <a:pt x="5251030" y="0"/>
                  <a:pt x="5282045" y="31015"/>
                  <a:pt x="5282045" y="69274"/>
                </a:cubicBezTo>
                <a:lnTo>
                  <a:pt x="5282045" y="346362"/>
                </a:lnTo>
                <a:cubicBezTo>
                  <a:pt x="5282045" y="384621"/>
                  <a:pt x="5251030" y="415636"/>
                  <a:pt x="5212771" y="415636"/>
                </a:cubicBezTo>
                <a:lnTo>
                  <a:pt x="69274" y="415636"/>
                </a:lnTo>
                <a:cubicBezTo>
                  <a:pt x="31041" y="415636"/>
                  <a:pt x="0" y="384596"/>
                  <a:pt x="0" y="3463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4318" y="4346864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12568" y="56284"/>
                </a:moveTo>
                <a:cubicBezTo>
                  <a:pt x="112568" y="68704"/>
                  <a:pt x="108536" y="80178"/>
                  <a:pt x="101744" y="89486"/>
                </a:cubicBezTo>
                <a:lnTo>
                  <a:pt x="136002" y="123771"/>
                </a:lnTo>
                <a:cubicBezTo>
                  <a:pt x="139384" y="127153"/>
                  <a:pt x="139384" y="132646"/>
                  <a:pt x="136002" y="136029"/>
                </a:cubicBezTo>
                <a:cubicBezTo>
                  <a:pt x="132619" y="139411"/>
                  <a:pt x="127126" y="139411"/>
                  <a:pt x="123744" y="136029"/>
                </a:cubicBezTo>
                <a:lnTo>
                  <a:pt x="89486" y="101744"/>
                </a:lnTo>
                <a:cubicBezTo>
                  <a:pt x="80178" y="108536"/>
                  <a:pt x="68704" y="112568"/>
                  <a:pt x="56284" y="112568"/>
                </a:cubicBezTo>
                <a:cubicBezTo>
                  <a:pt x="25193" y="112568"/>
                  <a:pt x="0" y="87376"/>
                  <a:pt x="0" y="56284"/>
                </a:cubicBezTo>
                <a:cubicBezTo>
                  <a:pt x="0" y="25193"/>
                  <a:pt x="25193" y="0"/>
                  <a:pt x="56284" y="0"/>
                </a:cubicBezTo>
                <a:cubicBezTo>
                  <a:pt x="87376" y="0"/>
                  <a:pt x="112568" y="25193"/>
                  <a:pt x="112568" y="56284"/>
                </a:cubicBezTo>
                <a:close/>
                <a:moveTo>
                  <a:pt x="56284" y="95250"/>
                </a:moveTo>
                <a:cubicBezTo>
                  <a:pt x="77790" y="95250"/>
                  <a:pt x="95250" y="77790"/>
                  <a:pt x="95250" y="56284"/>
                </a:cubicBezTo>
                <a:cubicBezTo>
                  <a:pt x="95250" y="34778"/>
                  <a:pt x="77790" y="17318"/>
                  <a:pt x="56284" y="17318"/>
                </a:cubicBezTo>
                <a:cubicBezTo>
                  <a:pt x="34778" y="17318"/>
                  <a:pt x="17318" y="34778"/>
                  <a:pt x="17318" y="56284"/>
                </a:cubicBezTo>
                <a:cubicBezTo>
                  <a:pt x="17318" y="77790"/>
                  <a:pt x="34778" y="95250"/>
                  <a:pt x="56284" y="9525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43" name="Text 41"/>
          <p:cNvSpPr/>
          <p:nvPr/>
        </p:nvSpPr>
        <p:spPr>
          <a:xfrm>
            <a:off x="6697413" y="4312227"/>
            <a:ext cx="492308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統合監査ログ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にCopilotアクティビティが記録され、eDiscovery対応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1250" y="4961659"/>
            <a:ext cx="5645727" cy="1887682"/>
          </a:xfrm>
          <a:custGeom>
            <a:avLst/>
            <a:gdLst/>
            <a:ahLst/>
            <a:cxnLst/>
            <a:rect l="l" t="t" r="r" b="b"/>
            <a:pathLst>
              <a:path w="5645727" h="1887682">
                <a:moveTo>
                  <a:pt x="103917" y="0"/>
                </a:moveTo>
                <a:lnTo>
                  <a:pt x="5541810" y="0"/>
                </a:lnTo>
                <a:cubicBezTo>
                  <a:pt x="5599202" y="0"/>
                  <a:pt x="5645727" y="46525"/>
                  <a:pt x="5645727" y="103917"/>
                </a:cubicBezTo>
                <a:lnTo>
                  <a:pt x="5645727" y="1783765"/>
                </a:lnTo>
                <a:cubicBezTo>
                  <a:pt x="5645727" y="1841157"/>
                  <a:pt x="5599202" y="1887682"/>
                  <a:pt x="5541810" y="1887682"/>
                </a:cubicBezTo>
                <a:lnTo>
                  <a:pt x="103917" y="1887682"/>
                </a:lnTo>
                <a:cubicBezTo>
                  <a:pt x="46525" y="1887682"/>
                  <a:pt x="0" y="1841157"/>
                  <a:pt x="0" y="1783765"/>
                </a:cubicBezTo>
                <a:lnTo>
                  <a:pt x="0" y="103917"/>
                </a:lnTo>
                <a:cubicBezTo>
                  <a:pt x="0" y="46564"/>
                  <a:pt x="46564" y="0"/>
                  <a:pt x="10391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>
                  <a:alpha val="10000"/>
                </a:srgbClr>
              </a:gs>
              <a:gs pos="100000">
                <a:srgbClr val="106EBE">
                  <a:alpha val="10000"/>
                </a:srgbClr>
              </a:gs>
            </a:gsLst>
            <a:lin ang="2700000" scaled="1"/>
          </a:gradFill>
          <a:ln w="25400">
            <a:solidFill>
              <a:srgbClr val="0078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84997" y="5186795"/>
            <a:ext cx="175347" cy="155864"/>
          </a:xfrm>
          <a:custGeom>
            <a:avLst/>
            <a:gdLst/>
            <a:ahLst/>
            <a:cxnLst/>
            <a:rect l="l" t="t" r="r" b="b"/>
            <a:pathLst>
              <a:path w="175347" h="155864">
                <a:moveTo>
                  <a:pt x="72818" y="-2435"/>
                </a:moveTo>
                <a:cubicBezTo>
                  <a:pt x="70961" y="-4323"/>
                  <a:pt x="68251" y="-5084"/>
                  <a:pt x="65694" y="-4384"/>
                </a:cubicBezTo>
                <a:cubicBezTo>
                  <a:pt x="63137" y="-3683"/>
                  <a:pt x="61158" y="-1705"/>
                  <a:pt x="60519" y="852"/>
                </a:cubicBezTo>
                <a:lnTo>
                  <a:pt x="55861" y="19179"/>
                </a:lnTo>
                <a:cubicBezTo>
                  <a:pt x="55526" y="20518"/>
                  <a:pt x="54157" y="21309"/>
                  <a:pt x="52848" y="20914"/>
                </a:cubicBezTo>
                <a:lnTo>
                  <a:pt x="34643" y="15799"/>
                </a:lnTo>
                <a:cubicBezTo>
                  <a:pt x="32086" y="15069"/>
                  <a:pt x="29346" y="15799"/>
                  <a:pt x="27489" y="17656"/>
                </a:cubicBezTo>
                <a:cubicBezTo>
                  <a:pt x="25632" y="19513"/>
                  <a:pt x="24902" y="22253"/>
                  <a:pt x="25632" y="24810"/>
                </a:cubicBezTo>
                <a:lnTo>
                  <a:pt x="30777" y="43015"/>
                </a:lnTo>
                <a:cubicBezTo>
                  <a:pt x="31142" y="44324"/>
                  <a:pt x="30351" y="45694"/>
                  <a:pt x="29042" y="46028"/>
                </a:cubicBezTo>
                <a:lnTo>
                  <a:pt x="10685" y="50686"/>
                </a:lnTo>
                <a:cubicBezTo>
                  <a:pt x="8128" y="51325"/>
                  <a:pt x="6119" y="53335"/>
                  <a:pt x="5419" y="55892"/>
                </a:cubicBezTo>
                <a:cubicBezTo>
                  <a:pt x="4719" y="58449"/>
                  <a:pt x="5480" y="61158"/>
                  <a:pt x="7367" y="63015"/>
                </a:cubicBezTo>
                <a:lnTo>
                  <a:pt x="20914" y="76197"/>
                </a:lnTo>
                <a:cubicBezTo>
                  <a:pt x="21888" y="77140"/>
                  <a:pt x="21888" y="78723"/>
                  <a:pt x="20914" y="79697"/>
                </a:cubicBezTo>
                <a:lnTo>
                  <a:pt x="7397" y="92879"/>
                </a:lnTo>
                <a:cubicBezTo>
                  <a:pt x="5510" y="94736"/>
                  <a:pt x="4749" y="97445"/>
                  <a:pt x="5449" y="100002"/>
                </a:cubicBezTo>
                <a:cubicBezTo>
                  <a:pt x="6149" y="102559"/>
                  <a:pt x="8158" y="104538"/>
                  <a:pt x="10716" y="105208"/>
                </a:cubicBezTo>
                <a:lnTo>
                  <a:pt x="29042" y="109866"/>
                </a:lnTo>
                <a:cubicBezTo>
                  <a:pt x="30381" y="110200"/>
                  <a:pt x="31173" y="111570"/>
                  <a:pt x="30777" y="112879"/>
                </a:cubicBezTo>
                <a:lnTo>
                  <a:pt x="25632" y="131053"/>
                </a:lnTo>
                <a:cubicBezTo>
                  <a:pt x="24902" y="133610"/>
                  <a:pt x="25632" y="136350"/>
                  <a:pt x="27489" y="138207"/>
                </a:cubicBezTo>
                <a:cubicBezTo>
                  <a:pt x="29346" y="140064"/>
                  <a:pt x="32086" y="140795"/>
                  <a:pt x="34643" y="140064"/>
                </a:cubicBezTo>
                <a:lnTo>
                  <a:pt x="52848" y="134919"/>
                </a:lnTo>
                <a:cubicBezTo>
                  <a:pt x="54157" y="134554"/>
                  <a:pt x="55526" y="135346"/>
                  <a:pt x="55861" y="136655"/>
                </a:cubicBezTo>
                <a:lnTo>
                  <a:pt x="60519" y="154981"/>
                </a:lnTo>
                <a:cubicBezTo>
                  <a:pt x="61158" y="157538"/>
                  <a:pt x="63167" y="159547"/>
                  <a:pt x="65725" y="160247"/>
                </a:cubicBezTo>
                <a:cubicBezTo>
                  <a:pt x="68282" y="160947"/>
                  <a:pt x="70991" y="160186"/>
                  <a:pt x="72848" y="158299"/>
                </a:cubicBezTo>
                <a:lnTo>
                  <a:pt x="86029" y="144752"/>
                </a:lnTo>
                <a:cubicBezTo>
                  <a:pt x="86973" y="143778"/>
                  <a:pt x="88556" y="143778"/>
                  <a:pt x="89530" y="144752"/>
                </a:cubicBezTo>
                <a:lnTo>
                  <a:pt x="102681" y="158299"/>
                </a:lnTo>
                <a:cubicBezTo>
                  <a:pt x="104538" y="160186"/>
                  <a:pt x="107248" y="160947"/>
                  <a:pt x="109805" y="160247"/>
                </a:cubicBezTo>
                <a:cubicBezTo>
                  <a:pt x="112362" y="159547"/>
                  <a:pt x="114341" y="157538"/>
                  <a:pt x="115010" y="154981"/>
                </a:cubicBezTo>
                <a:lnTo>
                  <a:pt x="119668" y="136685"/>
                </a:lnTo>
                <a:cubicBezTo>
                  <a:pt x="120003" y="135346"/>
                  <a:pt x="121373" y="134554"/>
                  <a:pt x="122682" y="134950"/>
                </a:cubicBezTo>
                <a:lnTo>
                  <a:pt x="140886" y="140095"/>
                </a:lnTo>
                <a:cubicBezTo>
                  <a:pt x="143443" y="140825"/>
                  <a:pt x="146183" y="140095"/>
                  <a:pt x="148040" y="138238"/>
                </a:cubicBezTo>
                <a:cubicBezTo>
                  <a:pt x="149897" y="136381"/>
                  <a:pt x="150628" y="133641"/>
                  <a:pt x="149897" y="131084"/>
                </a:cubicBezTo>
                <a:lnTo>
                  <a:pt x="144752" y="112879"/>
                </a:lnTo>
                <a:cubicBezTo>
                  <a:pt x="144387" y="111570"/>
                  <a:pt x="145178" y="110200"/>
                  <a:pt x="146487" y="109866"/>
                </a:cubicBezTo>
                <a:lnTo>
                  <a:pt x="164814" y="105208"/>
                </a:lnTo>
                <a:cubicBezTo>
                  <a:pt x="167371" y="104569"/>
                  <a:pt x="169380" y="102559"/>
                  <a:pt x="170080" y="100002"/>
                </a:cubicBezTo>
                <a:cubicBezTo>
                  <a:pt x="170780" y="97445"/>
                  <a:pt x="170019" y="94705"/>
                  <a:pt x="168132" y="92879"/>
                </a:cubicBezTo>
                <a:lnTo>
                  <a:pt x="154585" y="79697"/>
                </a:lnTo>
                <a:cubicBezTo>
                  <a:pt x="153611" y="78754"/>
                  <a:pt x="153611" y="77171"/>
                  <a:pt x="154585" y="76197"/>
                </a:cubicBezTo>
                <a:lnTo>
                  <a:pt x="168132" y="63015"/>
                </a:lnTo>
                <a:cubicBezTo>
                  <a:pt x="170019" y="61158"/>
                  <a:pt x="170780" y="58449"/>
                  <a:pt x="170080" y="55892"/>
                </a:cubicBezTo>
                <a:cubicBezTo>
                  <a:pt x="169380" y="53335"/>
                  <a:pt x="167371" y="51356"/>
                  <a:pt x="164814" y="50686"/>
                </a:cubicBezTo>
                <a:lnTo>
                  <a:pt x="146487" y="46028"/>
                </a:lnTo>
                <a:cubicBezTo>
                  <a:pt x="145148" y="45694"/>
                  <a:pt x="144357" y="44324"/>
                  <a:pt x="144752" y="43015"/>
                </a:cubicBezTo>
                <a:lnTo>
                  <a:pt x="149897" y="24810"/>
                </a:lnTo>
                <a:cubicBezTo>
                  <a:pt x="150628" y="22253"/>
                  <a:pt x="149897" y="19513"/>
                  <a:pt x="148040" y="17656"/>
                </a:cubicBezTo>
                <a:cubicBezTo>
                  <a:pt x="146183" y="15799"/>
                  <a:pt x="143443" y="15069"/>
                  <a:pt x="140886" y="15799"/>
                </a:cubicBezTo>
                <a:lnTo>
                  <a:pt x="122682" y="20944"/>
                </a:lnTo>
                <a:cubicBezTo>
                  <a:pt x="121373" y="21309"/>
                  <a:pt x="120003" y="20518"/>
                  <a:pt x="119668" y="19209"/>
                </a:cubicBezTo>
                <a:lnTo>
                  <a:pt x="115010" y="852"/>
                </a:lnTo>
                <a:cubicBezTo>
                  <a:pt x="114371" y="-1705"/>
                  <a:pt x="112362" y="-3714"/>
                  <a:pt x="109805" y="-4414"/>
                </a:cubicBezTo>
                <a:cubicBezTo>
                  <a:pt x="107248" y="-5114"/>
                  <a:pt x="104538" y="-4353"/>
                  <a:pt x="102681" y="-2466"/>
                </a:cubicBezTo>
                <a:lnTo>
                  <a:pt x="89500" y="11111"/>
                </a:lnTo>
                <a:cubicBezTo>
                  <a:pt x="88556" y="12086"/>
                  <a:pt x="86973" y="12086"/>
                  <a:pt x="85999" y="11111"/>
                </a:cubicBezTo>
                <a:lnTo>
                  <a:pt x="72818" y="-2435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46" name="Text 44"/>
          <p:cNvSpPr/>
          <p:nvPr/>
        </p:nvSpPr>
        <p:spPr>
          <a:xfrm>
            <a:off x="6572250" y="5143500"/>
            <a:ext cx="5160818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認証・コンプライアンス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3091" y="5489864"/>
            <a:ext cx="2606386" cy="554182"/>
          </a:xfrm>
          <a:custGeom>
            <a:avLst/>
            <a:gdLst/>
            <a:ahLst/>
            <a:cxnLst/>
            <a:rect l="l" t="t" r="r" b="b"/>
            <a:pathLst>
              <a:path w="2606386" h="554182">
                <a:moveTo>
                  <a:pt x="69273" y="0"/>
                </a:moveTo>
                <a:lnTo>
                  <a:pt x="2537114" y="0"/>
                </a:lnTo>
                <a:cubicBezTo>
                  <a:pt x="2575372" y="0"/>
                  <a:pt x="2606386" y="31014"/>
                  <a:pt x="2606386" y="69273"/>
                </a:cubicBezTo>
                <a:lnTo>
                  <a:pt x="2606386" y="484909"/>
                </a:lnTo>
                <a:cubicBezTo>
                  <a:pt x="2606386" y="523167"/>
                  <a:pt x="2575372" y="554182"/>
                  <a:pt x="2537114" y="554182"/>
                </a:cubicBezTo>
                <a:lnTo>
                  <a:pt x="69273" y="554182"/>
                </a:lnTo>
                <a:cubicBezTo>
                  <a:pt x="31040" y="554182"/>
                  <a:pt x="0" y="523142"/>
                  <a:pt x="0" y="484909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12057" y="5559136"/>
            <a:ext cx="25284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プライバシー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07727" y="5766955"/>
            <a:ext cx="25371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GDPR準拠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48750" y="5489864"/>
            <a:ext cx="2606386" cy="554182"/>
          </a:xfrm>
          <a:custGeom>
            <a:avLst/>
            <a:gdLst/>
            <a:ahLst/>
            <a:cxnLst/>
            <a:rect l="l" t="t" r="r" b="b"/>
            <a:pathLst>
              <a:path w="2606386" h="554182">
                <a:moveTo>
                  <a:pt x="69273" y="0"/>
                </a:moveTo>
                <a:lnTo>
                  <a:pt x="2537114" y="0"/>
                </a:lnTo>
                <a:cubicBezTo>
                  <a:pt x="2575372" y="0"/>
                  <a:pt x="2606386" y="31014"/>
                  <a:pt x="2606386" y="69273"/>
                </a:cubicBezTo>
                <a:lnTo>
                  <a:pt x="2606386" y="484909"/>
                </a:lnTo>
                <a:cubicBezTo>
                  <a:pt x="2606386" y="523167"/>
                  <a:pt x="2575372" y="554182"/>
                  <a:pt x="2537114" y="554182"/>
                </a:cubicBezTo>
                <a:lnTo>
                  <a:pt x="69273" y="554182"/>
                </a:lnTo>
                <a:cubicBezTo>
                  <a:pt x="31040" y="554182"/>
                  <a:pt x="0" y="523142"/>
                  <a:pt x="0" y="484909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9087716" y="5559136"/>
            <a:ext cx="25284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83386" y="5766955"/>
            <a:ext cx="25371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 27018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3091" y="6113318"/>
            <a:ext cx="2606386" cy="554182"/>
          </a:xfrm>
          <a:custGeom>
            <a:avLst/>
            <a:gdLst/>
            <a:ahLst/>
            <a:cxnLst/>
            <a:rect l="l" t="t" r="r" b="b"/>
            <a:pathLst>
              <a:path w="2606386" h="554182">
                <a:moveTo>
                  <a:pt x="69273" y="0"/>
                </a:moveTo>
                <a:lnTo>
                  <a:pt x="2537114" y="0"/>
                </a:lnTo>
                <a:cubicBezTo>
                  <a:pt x="2575372" y="0"/>
                  <a:pt x="2606386" y="31014"/>
                  <a:pt x="2606386" y="69273"/>
                </a:cubicBezTo>
                <a:lnTo>
                  <a:pt x="2606386" y="484909"/>
                </a:lnTo>
                <a:cubicBezTo>
                  <a:pt x="2606386" y="523167"/>
                  <a:pt x="2575372" y="554182"/>
                  <a:pt x="2537114" y="554182"/>
                </a:cubicBezTo>
                <a:lnTo>
                  <a:pt x="69273" y="554182"/>
                </a:lnTo>
                <a:cubicBezTo>
                  <a:pt x="31040" y="554182"/>
                  <a:pt x="0" y="523142"/>
                  <a:pt x="0" y="484909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412057" y="6182591"/>
            <a:ext cx="25284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暗号化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07727" y="6390409"/>
            <a:ext cx="25371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FIPS 140-2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48750" y="6113318"/>
            <a:ext cx="2606386" cy="554182"/>
          </a:xfrm>
          <a:custGeom>
            <a:avLst/>
            <a:gdLst/>
            <a:ahLst/>
            <a:cxnLst/>
            <a:rect l="l" t="t" r="r" b="b"/>
            <a:pathLst>
              <a:path w="2606386" h="554182">
                <a:moveTo>
                  <a:pt x="69273" y="0"/>
                </a:moveTo>
                <a:lnTo>
                  <a:pt x="2537114" y="0"/>
                </a:lnTo>
                <a:cubicBezTo>
                  <a:pt x="2575372" y="0"/>
                  <a:pt x="2606386" y="31014"/>
                  <a:pt x="2606386" y="69273"/>
                </a:cubicBezTo>
                <a:lnTo>
                  <a:pt x="2606386" y="484909"/>
                </a:lnTo>
                <a:cubicBezTo>
                  <a:pt x="2606386" y="523167"/>
                  <a:pt x="2575372" y="554182"/>
                  <a:pt x="2537114" y="554182"/>
                </a:cubicBezTo>
                <a:lnTo>
                  <a:pt x="69273" y="554182"/>
                </a:lnTo>
                <a:cubicBezTo>
                  <a:pt x="31040" y="554182"/>
                  <a:pt x="0" y="523142"/>
                  <a:pt x="0" y="484909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9087716" y="6182591"/>
            <a:ext cx="252845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契約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83386" y="6390409"/>
            <a:ext cx="25371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DPA適用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機密情報の保護ルール（財務・顧客データ）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安全な入力方法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301750"/>
            <a:ext cx="6865938" cy="1698625"/>
          </a:xfrm>
          <a:custGeom>
            <a:avLst/>
            <a:gdLst/>
            <a:ahLst/>
            <a:cxnLst/>
            <a:rect l="l" t="t" r="r" b="b"/>
            <a:pathLst>
              <a:path w="6865938" h="1698625">
                <a:moveTo>
                  <a:pt x="31750" y="0"/>
                </a:moveTo>
                <a:lnTo>
                  <a:pt x="6770696" y="0"/>
                </a:lnTo>
                <a:cubicBezTo>
                  <a:pt x="6823296" y="0"/>
                  <a:pt x="6865938" y="42641"/>
                  <a:pt x="6865938" y="95242"/>
                </a:cubicBezTo>
                <a:lnTo>
                  <a:pt x="6865938" y="1603383"/>
                </a:lnTo>
                <a:cubicBezTo>
                  <a:pt x="6865938" y="1655984"/>
                  <a:pt x="6823296" y="1698625"/>
                  <a:pt x="6770696" y="1698625"/>
                </a:cubicBezTo>
                <a:lnTo>
                  <a:pt x="31750" y="1698625"/>
                </a:lnTo>
                <a:cubicBezTo>
                  <a:pt x="14215" y="1698625"/>
                  <a:pt x="0" y="1684410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301750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142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440531" y="142875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1476375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匿名化・伏字化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" y="1809750"/>
            <a:ext cx="6659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「顧客A」「案件X」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などの仮名表現を使用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2079625"/>
            <a:ext cx="6596063" cy="793750"/>
          </a:xfrm>
          <a:custGeom>
            <a:avLst/>
            <a:gdLst/>
            <a:ahLst/>
            <a:cxnLst/>
            <a:rect l="l" t="t" r="r" b="b"/>
            <a:pathLst>
              <a:path w="6596063" h="793750">
                <a:moveTo>
                  <a:pt x="63500" y="0"/>
                </a:moveTo>
                <a:lnTo>
                  <a:pt x="6532563" y="0"/>
                </a:lnTo>
                <a:cubicBezTo>
                  <a:pt x="6567609" y="0"/>
                  <a:pt x="6596063" y="28453"/>
                  <a:pt x="6596063" y="63500"/>
                </a:cubicBezTo>
                <a:lnTo>
                  <a:pt x="6596063" y="730250"/>
                </a:lnTo>
                <a:cubicBezTo>
                  <a:pt x="6596063" y="765297"/>
                  <a:pt x="6567609" y="793750"/>
                  <a:pt x="6532563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5313" y="22066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2416" y="-3969"/>
                </a:moveTo>
                <a:cubicBezTo>
                  <a:pt x="33387" y="-3969"/>
                  <a:pt x="28079" y="10492"/>
                  <a:pt x="25474" y="23812"/>
                </a:cubicBezTo>
                <a:lnTo>
                  <a:pt x="17859" y="23812"/>
                </a:lnTo>
                <a:cubicBezTo>
                  <a:pt x="14560" y="23812"/>
                  <a:pt x="11906" y="26467"/>
                  <a:pt x="11906" y="29766"/>
                </a:cubicBezTo>
                <a:cubicBezTo>
                  <a:pt x="11906" y="33065"/>
                  <a:pt x="14560" y="35719"/>
                  <a:pt x="17859" y="35719"/>
                </a:cubicBezTo>
                <a:lnTo>
                  <a:pt x="23812" y="35719"/>
                </a:lnTo>
                <a:lnTo>
                  <a:pt x="23812" y="43656"/>
                </a:lnTo>
                <a:cubicBezTo>
                  <a:pt x="23812" y="47873"/>
                  <a:pt x="24631" y="51891"/>
                  <a:pt x="26119" y="55563"/>
                </a:cubicBezTo>
                <a:lnTo>
                  <a:pt x="23812" y="55563"/>
                </a:lnTo>
                <a:lnTo>
                  <a:pt x="23812" y="55563"/>
                </a:lnTo>
                <a:lnTo>
                  <a:pt x="18728" y="55563"/>
                </a:lnTo>
                <a:cubicBezTo>
                  <a:pt x="14957" y="55563"/>
                  <a:pt x="11906" y="58613"/>
                  <a:pt x="11906" y="62384"/>
                </a:cubicBezTo>
                <a:cubicBezTo>
                  <a:pt x="11906" y="63128"/>
                  <a:pt x="12030" y="63847"/>
                  <a:pt x="12254" y="64542"/>
                </a:cubicBezTo>
                <a:lnTo>
                  <a:pt x="19422" y="86023"/>
                </a:lnTo>
                <a:cubicBezTo>
                  <a:pt x="9971" y="94159"/>
                  <a:pt x="3969" y="106189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99789" y="127000"/>
                </a:lnTo>
                <a:cubicBezTo>
                  <a:pt x="103857" y="127000"/>
                  <a:pt x="107156" y="123701"/>
                  <a:pt x="107156" y="119633"/>
                </a:cubicBezTo>
                <a:cubicBezTo>
                  <a:pt x="107156" y="106189"/>
                  <a:pt x="101154" y="94159"/>
                  <a:pt x="91703" y="86047"/>
                </a:cubicBezTo>
                <a:lnTo>
                  <a:pt x="98871" y="64567"/>
                </a:lnTo>
                <a:cubicBezTo>
                  <a:pt x="99095" y="63872"/>
                  <a:pt x="99219" y="63153"/>
                  <a:pt x="99219" y="62409"/>
                </a:cubicBezTo>
                <a:cubicBezTo>
                  <a:pt x="99219" y="58638"/>
                  <a:pt x="96168" y="55587"/>
                  <a:pt x="92397" y="55587"/>
                </a:cubicBezTo>
                <a:lnTo>
                  <a:pt x="87313" y="55587"/>
                </a:lnTo>
                <a:lnTo>
                  <a:pt x="87313" y="55587"/>
                </a:lnTo>
                <a:lnTo>
                  <a:pt x="85006" y="55587"/>
                </a:lnTo>
                <a:cubicBezTo>
                  <a:pt x="86494" y="51916"/>
                  <a:pt x="87313" y="47898"/>
                  <a:pt x="87313" y="43681"/>
                </a:cubicBezTo>
                <a:lnTo>
                  <a:pt x="87313" y="35744"/>
                </a:lnTo>
                <a:lnTo>
                  <a:pt x="93266" y="35744"/>
                </a:lnTo>
                <a:cubicBezTo>
                  <a:pt x="96565" y="35744"/>
                  <a:pt x="99219" y="33089"/>
                  <a:pt x="99219" y="29790"/>
                </a:cubicBezTo>
                <a:cubicBezTo>
                  <a:pt x="99219" y="26491"/>
                  <a:pt x="96565" y="23837"/>
                  <a:pt x="93266" y="23837"/>
                </a:cubicBezTo>
                <a:lnTo>
                  <a:pt x="85651" y="23837"/>
                </a:lnTo>
                <a:cubicBezTo>
                  <a:pt x="83071" y="10517"/>
                  <a:pt x="77738" y="-3944"/>
                  <a:pt x="68709" y="-3944"/>
                </a:cubicBezTo>
                <a:cubicBezTo>
                  <a:pt x="66328" y="-3944"/>
                  <a:pt x="63996" y="-2977"/>
                  <a:pt x="61888" y="-1910"/>
                </a:cubicBezTo>
                <a:cubicBezTo>
                  <a:pt x="59854" y="-893"/>
                  <a:pt x="57324" y="25"/>
                  <a:pt x="55562" y="25"/>
                </a:cubicBezTo>
                <a:cubicBezTo>
                  <a:pt x="53801" y="25"/>
                  <a:pt x="51271" y="-893"/>
                  <a:pt x="49237" y="-1910"/>
                </a:cubicBezTo>
                <a:cubicBezTo>
                  <a:pt x="47129" y="-3001"/>
                  <a:pt x="44797" y="-3969"/>
                  <a:pt x="42416" y="-3969"/>
                </a:cubicBezTo>
                <a:close/>
                <a:moveTo>
                  <a:pt x="65658" y="116185"/>
                </a:moveTo>
                <a:lnTo>
                  <a:pt x="59506" y="98599"/>
                </a:lnTo>
                <a:lnTo>
                  <a:pt x="66427" y="90537"/>
                </a:lnTo>
                <a:cubicBezTo>
                  <a:pt x="67097" y="89743"/>
                  <a:pt x="67469" y="88751"/>
                  <a:pt x="67469" y="87709"/>
                </a:cubicBezTo>
                <a:cubicBezTo>
                  <a:pt x="67469" y="85303"/>
                  <a:pt x="65534" y="83369"/>
                  <a:pt x="63128" y="83369"/>
                </a:cubicBezTo>
                <a:lnTo>
                  <a:pt x="47997" y="83369"/>
                </a:lnTo>
                <a:cubicBezTo>
                  <a:pt x="45591" y="83369"/>
                  <a:pt x="43656" y="85303"/>
                  <a:pt x="43656" y="87709"/>
                </a:cubicBezTo>
                <a:cubicBezTo>
                  <a:pt x="43656" y="88751"/>
                  <a:pt x="44028" y="89743"/>
                  <a:pt x="44698" y="90537"/>
                </a:cubicBezTo>
                <a:lnTo>
                  <a:pt x="51619" y="98599"/>
                </a:lnTo>
                <a:lnTo>
                  <a:pt x="45467" y="116185"/>
                </a:lnTo>
                <a:lnTo>
                  <a:pt x="31328" y="71438"/>
                </a:lnTo>
                <a:lnTo>
                  <a:pt x="40184" y="71438"/>
                </a:lnTo>
                <a:cubicBezTo>
                  <a:pt x="44748" y="73968"/>
                  <a:pt x="49981" y="75406"/>
                  <a:pt x="55562" y="75406"/>
                </a:cubicBezTo>
                <a:cubicBezTo>
                  <a:pt x="61144" y="75406"/>
                  <a:pt x="66377" y="73968"/>
                  <a:pt x="70941" y="71438"/>
                </a:cubicBezTo>
                <a:lnTo>
                  <a:pt x="79797" y="71438"/>
                </a:lnTo>
                <a:lnTo>
                  <a:pt x="65658" y="116185"/>
                </a:lnTo>
                <a:close/>
                <a:moveTo>
                  <a:pt x="55563" y="63500"/>
                </a:moveTo>
                <a:cubicBezTo>
                  <a:pt x="46955" y="63500"/>
                  <a:pt x="39638" y="58018"/>
                  <a:pt x="36885" y="50354"/>
                </a:cubicBezTo>
                <a:cubicBezTo>
                  <a:pt x="38298" y="51147"/>
                  <a:pt x="39936" y="51594"/>
                  <a:pt x="41672" y="51594"/>
                </a:cubicBezTo>
                <a:lnTo>
                  <a:pt x="44748" y="51594"/>
                </a:lnTo>
                <a:cubicBezTo>
                  <a:pt x="48840" y="51594"/>
                  <a:pt x="52462" y="48964"/>
                  <a:pt x="53752" y="45095"/>
                </a:cubicBezTo>
                <a:cubicBezTo>
                  <a:pt x="54322" y="43359"/>
                  <a:pt x="56778" y="43359"/>
                  <a:pt x="57348" y="45095"/>
                </a:cubicBezTo>
                <a:cubicBezTo>
                  <a:pt x="58638" y="48964"/>
                  <a:pt x="62285" y="51594"/>
                  <a:pt x="66353" y="51594"/>
                </a:cubicBezTo>
                <a:lnTo>
                  <a:pt x="69428" y="51594"/>
                </a:lnTo>
                <a:cubicBezTo>
                  <a:pt x="71165" y="51594"/>
                  <a:pt x="72802" y="51147"/>
                  <a:pt x="74216" y="50354"/>
                </a:cubicBezTo>
                <a:cubicBezTo>
                  <a:pt x="71462" y="58018"/>
                  <a:pt x="64145" y="63500"/>
                  <a:pt x="55538" y="6350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50" y="2174875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実践例：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750" y="2397125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「山田太郎様（東京都新宿区）の保険契約」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750" y="2587625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⭕ 「顧客A様（関東地区）の保険契約」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375" y="3095625"/>
            <a:ext cx="6865938" cy="2079625"/>
          </a:xfrm>
          <a:custGeom>
            <a:avLst/>
            <a:gdLst/>
            <a:ahLst/>
            <a:cxnLst/>
            <a:rect l="l" t="t" r="r" b="b"/>
            <a:pathLst>
              <a:path w="6865938" h="2079625">
                <a:moveTo>
                  <a:pt x="31750" y="0"/>
                </a:moveTo>
                <a:lnTo>
                  <a:pt x="6770691" y="0"/>
                </a:lnTo>
                <a:cubicBezTo>
                  <a:pt x="6823294" y="0"/>
                  <a:pt x="6865938" y="42643"/>
                  <a:pt x="6865938" y="95247"/>
                </a:cubicBezTo>
                <a:lnTo>
                  <a:pt x="6865938" y="1984378"/>
                </a:lnTo>
                <a:cubicBezTo>
                  <a:pt x="6865938" y="2036982"/>
                  <a:pt x="6823294" y="2079625"/>
                  <a:pt x="6770691" y="2079625"/>
                </a:cubicBezTo>
                <a:lnTo>
                  <a:pt x="31750" y="2079625"/>
                </a:lnTo>
                <a:cubicBezTo>
                  <a:pt x="14227" y="2079625"/>
                  <a:pt x="0" y="2065398"/>
                  <a:pt x="0" y="2047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375" y="3095625"/>
            <a:ext cx="31750" cy="2079625"/>
          </a:xfrm>
          <a:custGeom>
            <a:avLst/>
            <a:gdLst/>
            <a:ahLst/>
            <a:cxnLst/>
            <a:rect l="l" t="t" r="r" b="b"/>
            <a:pathLst>
              <a:path w="31750" h="2079625">
                <a:moveTo>
                  <a:pt x="31750" y="0"/>
                </a:moveTo>
                <a:lnTo>
                  <a:pt x="31750" y="0"/>
                </a:lnTo>
                <a:lnTo>
                  <a:pt x="31750" y="2079625"/>
                </a:lnTo>
                <a:lnTo>
                  <a:pt x="31750" y="2079625"/>
                </a:lnTo>
                <a:cubicBezTo>
                  <a:pt x="14227" y="2079625"/>
                  <a:pt x="0" y="2065398"/>
                  <a:pt x="0" y="2047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6250" y="3222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19" name="Text 17"/>
          <p:cNvSpPr/>
          <p:nvPr/>
        </p:nvSpPr>
        <p:spPr>
          <a:xfrm>
            <a:off x="440531" y="3222625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000" y="3270250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マスキング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3587750"/>
            <a:ext cx="2794000" cy="238125"/>
          </a:xfrm>
          <a:custGeom>
            <a:avLst/>
            <a:gdLst/>
            <a:ahLst/>
            <a:cxnLst/>
            <a:rect l="l" t="t" r="r" b="b"/>
            <a:pathLst>
              <a:path w="2794000" h="238125">
                <a:moveTo>
                  <a:pt x="31749" y="0"/>
                </a:moveTo>
                <a:lnTo>
                  <a:pt x="2762251" y="0"/>
                </a:lnTo>
                <a:cubicBezTo>
                  <a:pt x="2779785" y="0"/>
                  <a:pt x="2794000" y="14215"/>
                  <a:pt x="2794000" y="31749"/>
                </a:cubicBezTo>
                <a:lnTo>
                  <a:pt x="2794000" y="206376"/>
                </a:lnTo>
                <a:cubicBezTo>
                  <a:pt x="2794000" y="223910"/>
                  <a:pt x="2779785" y="238125"/>
                  <a:pt x="2762251" y="238125"/>
                </a:cubicBezTo>
                <a:lnTo>
                  <a:pt x="31749" y="238125"/>
                </a:lnTo>
                <a:cubicBezTo>
                  <a:pt x="14215" y="238125"/>
                  <a:pt x="0" y="223910"/>
                  <a:pt x="0" y="206376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06EBE">
              <a:alpha val="14902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6250" y="3587750"/>
            <a:ext cx="2857500" cy="238125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06E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カード番号・個人番号・証券番号等は入力禁止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6250" y="3873500"/>
            <a:ext cx="6596063" cy="1174750"/>
          </a:xfrm>
          <a:custGeom>
            <a:avLst/>
            <a:gdLst/>
            <a:ahLst/>
            <a:cxnLst/>
            <a:rect l="l" t="t" r="r" b="b"/>
            <a:pathLst>
              <a:path w="6596063" h="1174750">
                <a:moveTo>
                  <a:pt x="63495" y="0"/>
                </a:moveTo>
                <a:lnTo>
                  <a:pt x="6532567" y="0"/>
                </a:lnTo>
                <a:cubicBezTo>
                  <a:pt x="6567635" y="0"/>
                  <a:pt x="6596063" y="28428"/>
                  <a:pt x="6596063" y="63495"/>
                </a:cubicBezTo>
                <a:lnTo>
                  <a:pt x="6596063" y="1111255"/>
                </a:lnTo>
                <a:cubicBezTo>
                  <a:pt x="6596063" y="1146322"/>
                  <a:pt x="6567635" y="1174750"/>
                  <a:pt x="6532567" y="1174750"/>
                </a:cubicBezTo>
                <a:lnTo>
                  <a:pt x="63495" y="1174750"/>
                </a:lnTo>
                <a:cubicBezTo>
                  <a:pt x="28428" y="1174750"/>
                  <a:pt x="0" y="1146322"/>
                  <a:pt x="0" y="1111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87375" y="4000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25" name="Text 23"/>
          <p:cNvSpPr/>
          <p:nvPr/>
        </p:nvSpPr>
        <p:spPr>
          <a:xfrm>
            <a:off x="793750" y="3968750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禁止例：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3750" y="4191000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クレジットカード番号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3750" y="4381500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マイナンバー（個人番号）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3750" y="4572000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証券口座番号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3750" y="4762500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医療記録番号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3375" y="5270500"/>
            <a:ext cx="6865938" cy="1365250"/>
          </a:xfrm>
          <a:custGeom>
            <a:avLst/>
            <a:gdLst/>
            <a:ahLst/>
            <a:cxnLst/>
            <a:rect l="l" t="t" r="r" b="b"/>
            <a:pathLst>
              <a:path w="6865938" h="1365250">
                <a:moveTo>
                  <a:pt x="31750" y="0"/>
                </a:moveTo>
                <a:lnTo>
                  <a:pt x="6770684" y="0"/>
                </a:lnTo>
                <a:cubicBezTo>
                  <a:pt x="6823291" y="0"/>
                  <a:pt x="6865938" y="42646"/>
                  <a:pt x="6865938" y="95253"/>
                </a:cubicBezTo>
                <a:lnTo>
                  <a:pt x="6865938" y="1269997"/>
                </a:lnTo>
                <a:cubicBezTo>
                  <a:pt x="6865938" y="1322604"/>
                  <a:pt x="6823291" y="1365250"/>
                  <a:pt x="6770684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375" y="527050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2" name="Shape 30"/>
          <p:cNvSpPr/>
          <p:nvPr/>
        </p:nvSpPr>
        <p:spPr>
          <a:xfrm>
            <a:off x="476250" y="539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440531" y="539750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9000" y="5445125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情報分類の徹底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6250" y="5778500"/>
            <a:ext cx="6659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Sensitivity Label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に基づき入力可否を判断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0219" y="6052344"/>
            <a:ext cx="2151063" cy="452438"/>
          </a:xfrm>
          <a:custGeom>
            <a:avLst/>
            <a:gdLst/>
            <a:ahLst/>
            <a:cxnLst/>
            <a:rect l="l" t="t" r="r" b="b"/>
            <a:pathLst>
              <a:path w="2151063" h="452438">
                <a:moveTo>
                  <a:pt x="63500" y="0"/>
                </a:moveTo>
                <a:lnTo>
                  <a:pt x="2087563" y="0"/>
                </a:lnTo>
                <a:cubicBezTo>
                  <a:pt x="2122633" y="0"/>
                  <a:pt x="2151063" y="28430"/>
                  <a:pt x="2151063" y="63500"/>
                </a:cubicBezTo>
                <a:lnTo>
                  <a:pt x="2151063" y="388938"/>
                </a:lnTo>
                <a:cubicBezTo>
                  <a:pt x="2151063" y="424008"/>
                  <a:pt x="2122633" y="452438"/>
                  <a:pt x="2087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7688" y="6119813"/>
            <a:ext cx="207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高度機密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7688" y="6310313"/>
            <a:ext cx="2063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AI要約・検索制限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700486" y="6052344"/>
            <a:ext cx="2151063" cy="452438"/>
          </a:xfrm>
          <a:custGeom>
            <a:avLst/>
            <a:gdLst/>
            <a:ahLst/>
            <a:cxnLst/>
            <a:rect l="l" t="t" r="r" b="b"/>
            <a:pathLst>
              <a:path w="2151063" h="452438">
                <a:moveTo>
                  <a:pt x="63500" y="0"/>
                </a:moveTo>
                <a:lnTo>
                  <a:pt x="2087563" y="0"/>
                </a:lnTo>
                <a:cubicBezTo>
                  <a:pt x="2122633" y="0"/>
                  <a:pt x="2151063" y="28430"/>
                  <a:pt x="2151063" y="63500"/>
                </a:cubicBezTo>
                <a:lnTo>
                  <a:pt x="2151063" y="388938"/>
                </a:lnTo>
                <a:cubicBezTo>
                  <a:pt x="2151063" y="424008"/>
                  <a:pt x="2122633" y="452438"/>
                  <a:pt x="2087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67955" y="6119813"/>
            <a:ext cx="207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6E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社内限定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767955" y="6310313"/>
            <a:ext cx="2063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注意して利用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20878" y="6052344"/>
            <a:ext cx="2151063" cy="452438"/>
          </a:xfrm>
          <a:custGeom>
            <a:avLst/>
            <a:gdLst/>
            <a:ahLst/>
            <a:cxnLst/>
            <a:rect l="l" t="t" r="r" b="b"/>
            <a:pathLst>
              <a:path w="2151063" h="452438">
                <a:moveTo>
                  <a:pt x="63500" y="0"/>
                </a:moveTo>
                <a:lnTo>
                  <a:pt x="2087563" y="0"/>
                </a:lnTo>
                <a:cubicBezTo>
                  <a:pt x="2122633" y="0"/>
                  <a:pt x="2151063" y="28430"/>
                  <a:pt x="2151063" y="63500"/>
                </a:cubicBezTo>
                <a:lnTo>
                  <a:pt x="2151063" y="388938"/>
                </a:lnTo>
                <a:cubicBezTo>
                  <a:pt x="2151063" y="424008"/>
                  <a:pt x="2122633" y="452438"/>
                  <a:pt x="2087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8347" y="6119813"/>
            <a:ext cx="207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988347" y="6310313"/>
            <a:ext cx="2063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利用可能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43676" y="1301750"/>
            <a:ext cx="4532313" cy="1698625"/>
          </a:xfrm>
          <a:custGeom>
            <a:avLst/>
            <a:gdLst/>
            <a:ahLst/>
            <a:cxnLst/>
            <a:rect l="l" t="t" r="r" b="b"/>
            <a:pathLst>
              <a:path w="4532313" h="1698625">
                <a:moveTo>
                  <a:pt x="31750" y="0"/>
                </a:moveTo>
                <a:lnTo>
                  <a:pt x="4437071" y="0"/>
                </a:lnTo>
                <a:cubicBezTo>
                  <a:pt x="4489671" y="0"/>
                  <a:pt x="4532313" y="42641"/>
                  <a:pt x="4532313" y="95242"/>
                </a:cubicBezTo>
                <a:lnTo>
                  <a:pt x="4532313" y="1603383"/>
                </a:lnTo>
                <a:cubicBezTo>
                  <a:pt x="4532313" y="1655984"/>
                  <a:pt x="4489671" y="1698625"/>
                  <a:pt x="4437071" y="1698625"/>
                </a:cubicBezTo>
                <a:lnTo>
                  <a:pt x="31750" y="1698625"/>
                </a:lnTo>
                <a:cubicBezTo>
                  <a:pt x="14215" y="1698625"/>
                  <a:pt x="0" y="1684410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43676" y="1301750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47" name="Shape 45"/>
          <p:cNvSpPr/>
          <p:nvPr/>
        </p:nvSpPr>
        <p:spPr>
          <a:xfrm>
            <a:off x="7486551" y="142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48" name="Text 46"/>
          <p:cNvSpPr/>
          <p:nvPr/>
        </p:nvSpPr>
        <p:spPr>
          <a:xfrm>
            <a:off x="7450832" y="142875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899301" y="1476375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直接入力の制限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86551" y="1809750"/>
            <a:ext cx="4325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06EBE"/>
                </a:solidFill>
                <a:highlight>
                  <a:srgbClr val="106EBE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生データを貼り付けず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、要点のみ抽象化して入力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86551" y="2079625"/>
            <a:ext cx="4262438" cy="793750"/>
          </a:xfrm>
          <a:custGeom>
            <a:avLst/>
            <a:gdLst/>
            <a:ahLst/>
            <a:cxnLst/>
            <a:rect l="l" t="t" r="r" b="b"/>
            <a:pathLst>
              <a:path w="4262438" h="793750">
                <a:moveTo>
                  <a:pt x="63500" y="0"/>
                </a:moveTo>
                <a:lnTo>
                  <a:pt x="4198938" y="0"/>
                </a:lnTo>
                <a:cubicBezTo>
                  <a:pt x="4233984" y="0"/>
                  <a:pt x="4262438" y="28453"/>
                  <a:pt x="4262438" y="63500"/>
                </a:cubicBezTo>
                <a:lnTo>
                  <a:pt x="4262438" y="730250"/>
                </a:lnTo>
                <a:cubicBezTo>
                  <a:pt x="4262438" y="765297"/>
                  <a:pt x="4233984" y="793750"/>
                  <a:pt x="4198938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7597676" y="2206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6979" y="5383"/>
                </a:moveTo>
                <a:cubicBezTo>
                  <a:pt x="111547" y="-50"/>
                  <a:pt x="102766" y="-50"/>
                  <a:pt x="97334" y="5383"/>
                </a:cubicBezTo>
                <a:lnTo>
                  <a:pt x="91281" y="11435"/>
                </a:lnTo>
                <a:lnTo>
                  <a:pt x="115565" y="35719"/>
                </a:lnTo>
                <a:lnTo>
                  <a:pt x="121617" y="29666"/>
                </a:lnTo>
                <a:cubicBezTo>
                  <a:pt x="127050" y="24234"/>
                  <a:pt x="127050" y="15453"/>
                  <a:pt x="121617" y="10021"/>
                </a:cubicBezTo>
                <a:lnTo>
                  <a:pt x="116979" y="5383"/>
                </a:lnTo>
                <a:close/>
                <a:moveTo>
                  <a:pt x="42763" y="59953"/>
                </a:moveTo>
                <a:cubicBezTo>
                  <a:pt x="41250" y="61466"/>
                  <a:pt x="40084" y="63326"/>
                  <a:pt x="39415" y="65385"/>
                </a:cubicBezTo>
                <a:lnTo>
                  <a:pt x="32072" y="87412"/>
                </a:lnTo>
                <a:cubicBezTo>
                  <a:pt x="31353" y="89545"/>
                  <a:pt x="31924" y="91901"/>
                  <a:pt x="33511" y="93514"/>
                </a:cubicBezTo>
                <a:cubicBezTo>
                  <a:pt x="35099" y="95126"/>
                  <a:pt x="37455" y="95672"/>
                  <a:pt x="39613" y="94952"/>
                </a:cubicBezTo>
                <a:lnTo>
                  <a:pt x="61640" y="87610"/>
                </a:lnTo>
                <a:cubicBezTo>
                  <a:pt x="63674" y="86940"/>
                  <a:pt x="65534" y="85775"/>
                  <a:pt x="67072" y="84262"/>
                </a:cubicBezTo>
                <a:lnTo>
                  <a:pt x="107156" y="44128"/>
                </a:lnTo>
                <a:lnTo>
                  <a:pt x="82872" y="19844"/>
                </a:lnTo>
                <a:lnTo>
                  <a:pt x="42763" y="59953"/>
                </a:lnTo>
                <a:close/>
                <a:moveTo>
                  <a:pt x="23812" y="15875"/>
                </a:moveTo>
                <a:cubicBezTo>
                  <a:pt x="10666" y="15875"/>
                  <a:pt x="0" y="26541"/>
                  <a:pt x="0" y="39688"/>
                </a:cubicBezTo>
                <a:lnTo>
                  <a:pt x="0" y="103188"/>
                </a:lnTo>
                <a:cubicBezTo>
                  <a:pt x="0" y="116334"/>
                  <a:pt x="10666" y="127000"/>
                  <a:pt x="23812" y="127000"/>
                </a:cubicBezTo>
                <a:lnTo>
                  <a:pt x="87313" y="127000"/>
                </a:lnTo>
                <a:cubicBezTo>
                  <a:pt x="100459" y="127000"/>
                  <a:pt x="111125" y="116334"/>
                  <a:pt x="111125" y="103188"/>
                </a:cubicBezTo>
                <a:lnTo>
                  <a:pt x="111125" y="79375"/>
                </a:lnTo>
                <a:cubicBezTo>
                  <a:pt x="111125" y="74985"/>
                  <a:pt x="107578" y="71438"/>
                  <a:pt x="103188" y="71438"/>
                </a:cubicBezTo>
                <a:cubicBezTo>
                  <a:pt x="98797" y="71438"/>
                  <a:pt x="95250" y="74985"/>
                  <a:pt x="95250" y="79375"/>
                </a:cubicBezTo>
                <a:lnTo>
                  <a:pt x="95250" y="103188"/>
                </a:lnTo>
                <a:cubicBezTo>
                  <a:pt x="95250" y="107578"/>
                  <a:pt x="91703" y="111125"/>
                  <a:pt x="87313" y="111125"/>
                </a:cubicBezTo>
                <a:lnTo>
                  <a:pt x="23812" y="111125"/>
                </a:lnTo>
                <a:cubicBezTo>
                  <a:pt x="19422" y="111125"/>
                  <a:pt x="15875" y="107578"/>
                  <a:pt x="15875" y="103188"/>
                </a:cubicBezTo>
                <a:lnTo>
                  <a:pt x="15875" y="39688"/>
                </a:lnTo>
                <a:cubicBezTo>
                  <a:pt x="15875" y="35297"/>
                  <a:pt x="19422" y="31750"/>
                  <a:pt x="23812" y="31750"/>
                </a:cubicBezTo>
                <a:lnTo>
                  <a:pt x="47625" y="31750"/>
                </a:lnTo>
                <a:cubicBezTo>
                  <a:pt x="52015" y="31750"/>
                  <a:pt x="55563" y="28203"/>
                  <a:pt x="55563" y="23812"/>
                </a:cubicBezTo>
                <a:cubicBezTo>
                  <a:pt x="55563" y="19422"/>
                  <a:pt x="52015" y="15875"/>
                  <a:pt x="47625" y="15875"/>
                </a:cubicBezTo>
                <a:lnTo>
                  <a:pt x="23812" y="15875"/>
                </a:ln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53" name="Text 51"/>
          <p:cNvSpPr/>
          <p:nvPr/>
        </p:nvSpPr>
        <p:spPr>
          <a:xfrm>
            <a:off x="7804051" y="2174875"/>
            <a:ext cx="203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実践例：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804051" y="2397125"/>
            <a:ext cx="203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顧客リストの全データをコピペ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804051" y="2587625"/>
            <a:ext cx="203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⭕ 「売上上位3社の傾向を分析」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27801" y="3095625"/>
            <a:ext cx="4548188" cy="1460500"/>
          </a:xfrm>
          <a:custGeom>
            <a:avLst/>
            <a:gdLst/>
            <a:ahLst/>
            <a:cxnLst/>
            <a:rect l="l" t="t" r="r" b="b"/>
            <a:pathLst>
              <a:path w="4548188" h="1460500">
                <a:moveTo>
                  <a:pt x="95254" y="0"/>
                </a:moveTo>
                <a:lnTo>
                  <a:pt x="4452934" y="0"/>
                </a:lnTo>
                <a:cubicBezTo>
                  <a:pt x="4505541" y="0"/>
                  <a:pt x="4548188" y="42647"/>
                  <a:pt x="4548188" y="95254"/>
                </a:cubicBezTo>
                <a:lnTo>
                  <a:pt x="4548188" y="1365246"/>
                </a:lnTo>
                <a:cubicBezTo>
                  <a:pt x="4548187" y="1417853"/>
                  <a:pt x="4505541" y="1460500"/>
                  <a:pt x="4452934" y="1460500"/>
                </a:cubicBezTo>
                <a:lnTo>
                  <a:pt x="95254" y="1460500"/>
                </a:lnTo>
                <a:cubicBezTo>
                  <a:pt x="42647" y="1460500"/>
                  <a:pt x="0" y="1417853"/>
                  <a:pt x="0" y="1365246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/>
              </a:gs>
              <a:gs pos="100000">
                <a:srgbClr val="106EBE"/>
              </a:gs>
            </a:gsLst>
            <a:lin ang="2700000" scaled="1"/>
          </a:gradFill>
          <a:ln/>
        </p:spPr>
      </p:sp>
      <p:sp>
        <p:nvSpPr>
          <p:cNvPr id="57" name="Shape 55"/>
          <p:cNvSpPr/>
          <p:nvPr/>
        </p:nvSpPr>
        <p:spPr>
          <a:xfrm>
            <a:off x="7478613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788176" y="3222625"/>
            <a:ext cx="165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DLPポリシーとの連携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54801" y="3540125"/>
            <a:ext cx="4357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Purview DLPが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機密情報（SIT）を検出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した場合、Copilot応答を自動ブロック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454801" y="4048125"/>
            <a:ext cx="4294188" cy="381000"/>
          </a:xfrm>
          <a:custGeom>
            <a:avLst/>
            <a:gdLst/>
            <a:ahLst/>
            <a:cxnLst/>
            <a:rect l="l" t="t" r="r" b="b"/>
            <a:pathLst>
              <a:path w="4294188" h="381000">
                <a:moveTo>
                  <a:pt x="63501" y="0"/>
                </a:moveTo>
                <a:lnTo>
                  <a:pt x="4230686" y="0"/>
                </a:lnTo>
                <a:cubicBezTo>
                  <a:pt x="4265757" y="0"/>
                  <a:pt x="4294188" y="28430"/>
                  <a:pt x="4294188" y="63501"/>
                </a:cubicBezTo>
                <a:lnTo>
                  <a:pt x="4294188" y="317499"/>
                </a:lnTo>
                <a:cubicBezTo>
                  <a:pt x="4294188" y="352570"/>
                  <a:pt x="4265757" y="381000"/>
                  <a:pt x="4230686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550051" y="417512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87313" y="0"/>
                </a:moveTo>
                <a:cubicBezTo>
                  <a:pt x="87313" y="-4390"/>
                  <a:pt x="83765" y="-7937"/>
                  <a:pt x="79375" y="-7937"/>
                </a:cubicBezTo>
                <a:cubicBezTo>
                  <a:pt x="74985" y="-7937"/>
                  <a:pt x="71438" y="-4390"/>
                  <a:pt x="71438" y="0"/>
                </a:cubicBezTo>
                <a:lnTo>
                  <a:pt x="71438" y="15875"/>
                </a:lnTo>
                <a:lnTo>
                  <a:pt x="47625" y="15875"/>
                </a:lnTo>
                <a:cubicBezTo>
                  <a:pt x="34479" y="15875"/>
                  <a:pt x="23812" y="26541"/>
                  <a:pt x="23812" y="39688"/>
                </a:cubicBezTo>
                <a:lnTo>
                  <a:pt x="23812" y="95250"/>
                </a:lnTo>
                <a:cubicBezTo>
                  <a:pt x="23812" y="108396"/>
                  <a:pt x="34479" y="119063"/>
                  <a:pt x="47625" y="119063"/>
                </a:cubicBezTo>
                <a:lnTo>
                  <a:pt x="111125" y="119063"/>
                </a:lnTo>
                <a:cubicBezTo>
                  <a:pt x="124271" y="119063"/>
                  <a:pt x="134938" y="108396"/>
                  <a:pt x="134938" y="95250"/>
                </a:cubicBezTo>
                <a:lnTo>
                  <a:pt x="134938" y="39688"/>
                </a:lnTo>
                <a:cubicBezTo>
                  <a:pt x="134938" y="26541"/>
                  <a:pt x="124271" y="15875"/>
                  <a:pt x="111125" y="15875"/>
                </a:cubicBezTo>
                <a:lnTo>
                  <a:pt x="87313" y="15875"/>
                </a:lnTo>
                <a:lnTo>
                  <a:pt x="87313" y="0"/>
                </a:lnTo>
                <a:close/>
                <a:moveTo>
                  <a:pt x="39688" y="91281"/>
                </a:moveTo>
                <a:cubicBezTo>
                  <a:pt x="39688" y="87982"/>
                  <a:pt x="42342" y="85328"/>
                  <a:pt x="45641" y="85328"/>
                </a:cubicBezTo>
                <a:lnTo>
                  <a:pt x="53578" y="85328"/>
                </a:lnTo>
                <a:cubicBezTo>
                  <a:pt x="56877" y="85328"/>
                  <a:pt x="59531" y="87982"/>
                  <a:pt x="59531" y="91281"/>
                </a:cubicBezTo>
                <a:cubicBezTo>
                  <a:pt x="59531" y="94580"/>
                  <a:pt x="56877" y="97234"/>
                  <a:pt x="53578" y="97234"/>
                </a:cubicBezTo>
                <a:lnTo>
                  <a:pt x="45641" y="97234"/>
                </a:lnTo>
                <a:cubicBezTo>
                  <a:pt x="42342" y="97234"/>
                  <a:pt x="39688" y="94580"/>
                  <a:pt x="39688" y="91281"/>
                </a:cubicBezTo>
                <a:close/>
                <a:moveTo>
                  <a:pt x="69453" y="91281"/>
                </a:moveTo>
                <a:cubicBezTo>
                  <a:pt x="69453" y="87982"/>
                  <a:pt x="72107" y="85328"/>
                  <a:pt x="75406" y="85328"/>
                </a:cubicBezTo>
                <a:lnTo>
                  <a:pt x="83344" y="85328"/>
                </a:lnTo>
                <a:cubicBezTo>
                  <a:pt x="86643" y="85328"/>
                  <a:pt x="89297" y="87982"/>
                  <a:pt x="89297" y="91281"/>
                </a:cubicBezTo>
                <a:cubicBezTo>
                  <a:pt x="89297" y="94580"/>
                  <a:pt x="86643" y="97234"/>
                  <a:pt x="83344" y="97234"/>
                </a:cubicBezTo>
                <a:lnTo>
                  <a:pt x="75406" y="97234"/>
                </a:lnTo>
                <a:cubicBezTo>
                  <a:pt x="72107" y="97234"/>
                  <a:pt x="69453" y="94580"/>
                  <a:pt x="69453" y="91281"/>
                </a:cubicBezTo>
                <a:close/>
                <a:moveTo>
                  <a:pt x="99219" y="91281"/>
                </a:moveTo>
                <a:cubicBezTo>
                  <a:pt x="99219" y="87982"/>
                  <a:pt x="101873" y="85328"/>
                  <a:pt x="105172" y="85328"/>
                </a:cubicBezTo>
                <a:lnTo>
                  <a:pt x="113109" y="85328"/>
                </a:lnTo>
                <a:cubicBezTo>
                  <a:pt x="116408" y="85328"/>
                  <a:pt x="119063" y="87982"/>
                  <a:pt x="119063" y="91281"/>
                </a:cubicBezTo>
                <a:cubicBezTo>
                  <a:pt x="119063" y="94580"/>
                  <a:pt x="116408" y="97234"/>
                  <a:pt x="113109" y="97234"/>
                </a:cubicBezTo>
                <a:lnTo>
                  <a:pt x="105172" y="97234"/>
                </a:lnTo>
                <a:cubicBezTo>
                  <a:pt x="101873" y="97234"/>
                  <a:pt x="99219" y="94580"/>
                  <a:pt x="99219" y="91281"/>
                </a:cubicBezTo>
                <a:close/>
                <a:moveTo>
                  <a:pt x="55563" y="43656"/>
                </a:moveTo>
                <a:cubicBezTo>
                  <a:pt x="62134" y="43656"/>
                  <a:pt x="67469" y="48991"/>
                  <a:pt x="67469" y="55563"/>
                </a:cubicBezTo>
                <a:cubicBezTo>
                  <a:pt x="67469" y="62134"/>
                  <a:pt x="62134" y="67469"/>
                  <a:pt x="55563" y="67469"/>
                </a:cubicBezTo>
                <a:cubicBezTo>
                  <a:pt x="48991" y="67469"/>
                  <a:pt x="43656" y="62134"/>
                  <a:pt x="43656" y="55563"/>
                </a:cubicBezTo>
                <a:cubicBezTo>
                  <a:pt x="43656" y="48991"/>
                  <a:pt x="48991" y="43656"/>
                  <a:pt x="55563" y="43656"/>
                </a:cubicBezTo>
                <a:close/>
                <a:moveTo>
                  <a:pt x="91281" y="55563"/>
                </a:moveTo>
                <a:cubicBezTo>
                  <a:pt x="91281" y="48991"/>
                  <a:pt x="96616" y="43656"/>
                  <a:pt x="103188" y="43656"/>
                </a:cubicBezTo>
                <a:cubicBezTo>
                  <a:pt x="109759" y="43656"/>
                  <a:pt x="115094" y="48991"/>
                  <a:pt x="115094" y="55563"/>
                </a:cubicBezTo>
                <a:cubicBezTo>
                  <a:pt x="115094" y="62134"/>
                  <a:pt x="109759" y="67469"/>
                  <a:pt x="103188" y="67469"/>
                </a:cubicBezTo>
                <a:cubicBezTo>
                  <a:pt x="96616" y="67469"/>
                  <a:pt x="91281" y="62134"/>
                  <a:pt x="91281" y="55563"/>
                </a:cubicBezTo>
                <a:close/>
                <a:moveTo>
                  <a:pt x="15875" y="55563"/>
                </a:moveTo>
                <a:cubicBezTo>
                  <a:pt x="15875" y="51172"/>
                  <a:pt x="12328" y="47625"/>
                  <a:pt x="7938" y="47625"/>
                </a:cubicBezTo>
                <a:cubicBezTo>
                  <a:pt x="3547" y="47625"/>
                  <a:pt x="0" y="51172"/>
                  <a:pt x="0" y="55563"/>
                </a:cubicBezTo>
                <a:lnTo>
                  <a:pt x="0" y="79375"/>
                </a:lnTo>
                <a:cubicBezTo>
                  <a:pt x="0" y="83765"/>
                  <a:pt x="3547" y="87313"/>
                  <a:pt x="7938" y="87313"/>
                </a:cubicBezTo>
                <a:cubicBezTo>
                  <a:pt x="12328" y="87313"/>
                  <a:pt x="15875" y="83765"/>
                  <a:pt x="15875" y="79375"/>
                </a:cubicBezTo>
                <a:lnTo>
                  <a:pt x="15875" y="55563"/>
                </a:lnTo>
                <a:close/>
                <a:moveTo>
                  <a:pt x="150813" y="47625"/>
                </a:moveTo>
                <a:cubicBezTo>
                  <a:pt x="146422" y="47625"/>
                  <a:pt x="142875" y="51172"/>
                  <a:pt x="142875" y="55563"/>
                </a:cubicBezTo>
                <a:lnTo>
                  <a:pt x="142875" y="79375"/>
                </a:lnTo>
                <a:cubicBezTo>
                  <a:pt x="142875" y="83765"/>
                  <a:pt x="146422" y="87313"/>
                  <a:pt x="150813" y="87313"/>
                </a:cubicBezTo>
                <a:cubicBezTo>
                  <a:pt x="155203" y="87313"/>
                  <a:pt x="158750" y="83765"/>
                  <a:pt x="158750" y="79375"/>
                </a:cubicBezTo>
                <a:lnTo>
                  <a:pt x="158750" y="55563"/>
                </a:lnTo>
                <a:cubicBezTo>
                  <a:pt x="158750" y="51172"/>
                  <a:pt x="155203" y="47625"/>
                  <a:pt x="150813" y="47625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748488" y="4143375"/>
            <a:ext cx="396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AIによる自動検出で、人為的ミスを防ぐ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335738" y="4659313"/>
            <a:ext cx="4532313" cy="1285875"/>
          </a:xfrm>
          <a:custGeom>
            <a:avLst/>
            <a:gdLst/>
            <a:ahLst/>
            <a:cxnLst/>
            <a:rect l="l" t="t" r="r" b="b"/>
            <a:pathLst>
              <a:path w="4532313" h="1285875">
                <a:moveTo>
                  <a:pt x="95245" y="0"/>
                </a:moveTo>
                <a:lnTo>
                  <a:pt x="4437068" y="0"/>
                </a:lnTo>
                <a:cubicBezTo>
                  <a:pt x="4489670" y="0"/>
                  <a:pt x="4532313" y="42643"/>
                  <a:pt x="4532313" y="95245"/>
                </a:cubicBezTo>
                <a:lnTo>
                  <a:pt x="4532313" y="1190630"/>
                </a:lnTo>
                <a:cubicBezTo>
                  <a:pt x="4532313" y="1243232"/>
                  <a:pt x="4489670" y="1285875"/>
                  <a:pt x="4437068" y="1285875"/>
                </a:cubicBezTo>
                <a:lnTo>
                  <a:pt x="95245" y="1285875"/>
                </a:lnTo>
                <a:cubicBezTo>
                  <a:pt x="42643" y="1285875"/>
                  <a:pt x="0" y="1243232"/>
                  <a:pt x="0" y="1190630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94488" y="4810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65" name="Text 63"/>
          <p:cNvSpPr/>
          <p:nvPr/>
        </p:nvSpPr>
        <p:spPr>
          <a:xfrm>
            <a:off x="7804051" y="479425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重要な注意事項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86551" y="5143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67" name="Text 65"/>
          <p:cNvSpPr/>
          <p:nvPr/>
        </p:nvSpPr>
        <p:spPr>
          <a:xfrm>
            <a:off x="7692926" y="5111750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部分的な情報でも個人を特定できる場合は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入力禁止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486551" y="5397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69" name="Text 67"/>
          <p:cNvSpPr/>
          <p:nvPr/>
        </p:nvSpPr>
        <p:spPr>
          <a:xfrm>
            <a:off x="7692926" y="536575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数値データは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範囲や概算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で表現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486551" y="5651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71" name="Text 69"/>
          <p:cNvSpPr/>
          <p:nvPr/>
        </p:nvSpPr>
        <p:spPr>
          <a:xfrm>
            <a:off x="7692926" y="5619750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不確かな場合は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入力前に確認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255" y="324255"/>
            <a:ext cx="1160834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spc="51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4255" y="583660"/>
            <a:ext cx="11689404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8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高度なセキュリティ対策（Microsoft Purview）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4255" y="972766"/>
            <a:ext cx="1161644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包括的なデータ保護体制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255" y="1329447"/>
            <a:ext cx="5706894" cy="1734766"/>
          </a:xfrm>
          <a:custGeom>
            <a:avLst/>
            <a:gdLst/>
            <a:ahLst/>
            <a:cxnLst/>
            <a:rect l="l" t="t" r="r" b="b"/>
            <a:pathLst>
              <a:path w="5706894" h="1734766">
                <a:moveTo>
                  <a:pt x="97268" y="0"/>
                </a:moveTo>
                <a:lnTo>
                  <a:pt x="5609625" y="0"/>
                </a:lnTo>
                <a:cubicBezTo>
                  <a:pt x="5663345" y="0"/>
                  <a:pt x="5706894" y="43549"/>
                  <a:pt x="5706894" y="97268"/>
                </a:cubicBezTo>
                <a:lnTo>
                  <a:pt x="5706894" y="1637498"/>
                </a:lnTo>
                <a:cubicBezTo>
                  <a:pt x="5706894" y="1691217"/>
                  <a:pt x="5663345" y="1734766"/>
                  <a:pt x="5609625" y="1734766"/>
                </a:cubicBezTo>
                <a:lnTo>
                  <a:pt x="97268" y="1734766"/>
                </a:lnTo>
                <a:cubicBezTo>
                  <a:pt x="43584" y="1734766"/>
                  <a:pt x="0" y="1691181"/>
                  <a:pt x="0" y="1637498"/>
                </a:cubicBezTo>
                <a:lnTo>
                  <a:pt x="0" y="97268"/>
                </a:lnTo>
                <a:cubicBezTo>
                  <a:pt x="0" y="43584"/>
                  <a:pt x="43584" y="0"/>
                  <a:pt x="9726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/>
              </a:gs>
              <a:gs pos="100000">
                <a:srgbClr val="106EBE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78277" y="1475362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139531" y="156745"/>
                </a:moveTo>
                <a:lnTo>
                  <a:pt x="37809" y="55022"/>
                </a:lnTo>
                <a:cubicBezTo>
                  <a:pt x="29297" y="66954"/>
                  <a:pt x="24319" y="81545"/>
                  <a:pt x="24319" y="97277"/>
                </a:cubicBezTo>
                <a:cubicBezTo>
                  <a:pt x="24319" y="137555"/>
                  <a:pt x="56998" y="170234"/>
                  <a:pt x="97277" y="170234"/>
                </a:cubicBezTo>
                <a:cubicBezTo>
                  <a:pt x="113046" y="170234"/>
                  <a:pt x="127638" y="165256"/>
                  <a:pt x="139531" y="156745"/>
                </a:cubicBezTo>
                <a:close/>
                <a:moveTo>
                  <a:pt x="156745" y="139531"/>
                </a:moveTo>
                <a:cubicBezTo>
                  <a:pt x="165256" y="127600"/>
                  <a:pt x="170234" y="113008"/>
                  <a:pt x="170234" y="97277"/>
                </a:cubicBezTo>
                <a:cubicBezTo>
                  <a:pt x="170234" y="56998"/>
                  <a:pt x="137555" y="24319"/>
                  <a:pt x="97277" y="24319"/>
                </a:cubicBezTo>
                <a:cubicBezTo>
                  <a:pt x="81507" y="24319"/>
                  <a:pt x="66916" y="29297"/>
                  <a:pt x="55022" y="37809"/>
                </a:cubicBezTo>
                <a:lnTo>
                  <a:pt x="156745" y="139531"/>
                </a:lnTo>
                <a:close/>
                <a:moveTo>
                  <a:pt x="0" y="97277"/>
                </a:moveTo>
                <a:cubicBezTo>
                  <a:pt x="0" y="43588"/>
                  <a:pt x="43588" y="0"/>
                  <a:pt x="97277" y="0"/>
                </a:cubicBezTo>
                <a:cubicBezTo>
                  <a:pt x="150965" y="0"/>
                  <a:pt x="194553" y="43588"/>
                  <a:pt x="194553" y="97277"/>
                </a:cubicBezTo>
                <a:cubicBezTo>
                  <a:pt x="194553" y="150965"/>
                  <a:pt x="150965" y="194553"/>
                  <a:pt x="97277" y="194553"/>
                </a:cubicBezTo>
                <a:cubicBezTo>
                  <a:pt x="43588" y="194553"/>
                  <a:pt x="0" y="150965"/>
                  <a:pt x="0" y="972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94426" y="1459149"/>
            <a:ext cx="103761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DLPポリシー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3957" y="1783404"/>
            <a:ext cx="5512340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機密情報（SIT）が検出された場合、</a:t>
            </a:r>
            <a:pPr>
              <a:lnSpc>
                <a:spcPct val="140000"/>
              </a:lnSpc>
            </a:pPr>
            <a:r>
              <a:rPr lang="en-US" sz="1021" b="1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Copilot応答を自動ブロック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3957" y="2091447"/>
            <a:ext cx="5447489" cy="843064"/>
          </a:xfrm>
          <a:custGeom>
            <a:avLst/>
            <a:gdLst/>
            <a:ahLst/>
            <a:cxnLst/>
            <a:rect l="l" t="t" r="r" b="b"/>
            <a:pathLst>
              <a:path w="5447489" h="843064">
                <a:moveTo>
                  <a:pt x="64848" y="0"/>
                </a:moveTo>
                <a:lnTo>
                  <a:pt x="5382641" y="0"/>
                </a:lnTo>
                <a:cubicBezTo>
                  <a:pt x="5418456" y="0"/>
                  <a:pt x="5447489" y="29034"/>
                  <a:pt x="5447489" y="64848"/>
                </a:cubicBezTo>
                <a:lnTo>
                  <a:pt x="5447489" y="778215"/>
                </a:lnTo>
                <a:cubicBezTo>
                  <a:pt x="5447489" y="814030"/>
                  <a:pt x="5418456" y="843064"/>
                  <a:pt x="5382641" y="843064"/>
                </a:cubicBezTo>
                <a:lnTo>
                  <a:pt x="64848" y="843064"/>
                </a:lnTo>
                <a:cubicBezTo>
                  <a:pt x="29034" y="843064"/>
                  <a:pt x="0" y="814030"/>
                  <a:pt x="0" y="778215"/>
                </a:cubicBezTo>
                <a:lnTo>
                  <a:pt x="0" y="64848"/>
                </a:lnTo>
                <a:cubicBezTo>
                  <a:pt x="0" y="29058"/>
                  <a:pt x="29058" y="0"/>
                  <a:pt x="64848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1234" y="2188723"/>
            <a:ext cx="531778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自動検出対象：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447" y="2472447"/>
            <a:ext cx="113489" cy="113489"/>
          </a:xfrm>
          <a:custGeom>
            <a:avLst/>
            <a:gdLst/>
            <a:ahLst/>
            <a:cxnLst/>
            <a:rect l="l" t="t" r="r" b="b"/>
            <a:pathLst>
              <a:path w="113489" h="113489">
                <a:moveTo>
                  <a:pt x="56745" y="113489"/>
                </a:moveTo>
                <a:cubicBezTo>
                  <a:pt x="88063" y="113489"/>
                  <a:pt x="113489" y="88063"/>
                  <a:pt x="113489" y="56745"/>
                </a:cubicBezTo>
                <a:cubicBezTo>
                  <a:pt x="113489" y="25426"/>
                  <a:pt x="88063" y="0"/>
                  <a:pt x="56745" y="0"/>
                </a:cubicBezTo>
                <a:cubicBezTo>
                  <a:pt x="25426" y="0"/>
                  <a:pt x="0" y="25426"/>
                  <a:pt x="0" y="56745"/>
                </a:cubicBezTo>
                <a:cubicBezTo>
                  <a:pt x="0" y="88063"/>
                  <a:pt x="25426" y="113489"/>
                  <a:pt x="56745" y="113489"/>
                </a:cubicBezTo>
                <a:close/>
                <a:moveTo>
                  <a:pt x="75453" y="47147"/>
                </a:moveTo>
                <a:lnTo>
                  <a:pt x="57720" y="75519"/>
                </a:lnTo>
                <a:cubicBezTo>
                  <a:pt x="56789" y="77004"/>
                  <a:pt x="55193" y="77935"/>
                  <a:pt x="53442" y="78024"/>
                </a:cubicBezTo>
                <a:cubicBezTo>
                  <a:pt x="51691" y="78113"/>
                  <a:pt x="50006" y="77315"/>
                  <a:pt x="48964" y="75896"/>
                </a:cubicBezTo>
                <a:lnTo>
                  <a:pt x="38325" y="61710"/>
                </a:lnTo>
                <a:cubicBezTo>
                  <a:pt x="36552" y="59360"/>
                  <a:pt x="37039" y="56035"/>
                  <a:pt x="39389" y="54262"/>
                </a:cubicBezTo>
                <a:cubicBezTo>
                  <a:pt x="41738" y="52489"/>
                  <a:pt x="45063" y="52976"/>
                  <a:pt x="46837" y="55326"/>
                </a:cubicBezTo>
                <a:lnTo>
                  <a:pt x="52821" y="63306"/>
                </a:lnTo>
                <a:lnTo>
                  <a:pt x="66431" y="41517"/>
                </a:lnTo>
                <a:cubicBezTo>
                  <a:pt x="67983" y="39034"/>
                  <a:pt x="71263" y="38258"/>
                  <a:pt x="73768" y="39832"/>
                </a:cubicBezTo>
                <a:cubicBezTo>
                  <a:pt x="76273" y="41406"/>
                  <a:pt x="77026" y="44664"/>
                  <a:pt x="75453" y="471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97149" y="2448128"/>
            <a:ext cx="250487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クレジットカード番号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26340" y="2472447"/>
            <a:ext cx="113489" cy="113489"/>
          </a:xfrm>
          <a:custGeom>
            <a:avLst/>
            <a:gdLst/>
            <a:ahLst/>
            <a:cxnLst/>
            <a:rect l="l" t="t" r="r" b="b"/>
            <a:pathLst>
              <a:path w="113489" h="113489">
                <a:moveTo>
                  <a:pt x="56745" y="113489"/>
                </a:moveTo>
                <a:cubicBezTo>
                  <a:pt x="88063" y="113489"/>
                  <a:pt x="113489" y="88063"/>
                  <a:pt x="113489" y="56745"/>
                </a:cubicBezTo>
                <a:cubicBezTo>
                  <a:pt x="113489" y="25426"/>
                  <a:pt x="88063" y="0"/>
                  <a:pt x="56745" y="0"/>
                </a:cubicBezTo>
                <a:cubicBezTo>
                  <a:pt x="25426" y="0"/>
                  <a:pt x="0" y="25426"/>
                  <a:pt x="0" y="56745"/>
                </a:cubicBezTo>
                <a:cubicBezTo>
                  <a:pt x="0" y="88063"/>
                  <a:pt x="25426" y="113489"/>
                  <a:pt x="56745" y="113489"/>
                </a:cubicBezTo>
                <a:close/>
                <a:moveTo>
                  <a:pt x="75453" y="47147"/>
                </a:moveTo>
                <a:lnTo>
                  <a:pt x="57720" y="75519"/>
                </a:lnTo>
                <a:cubicBezTo>
                  <a:pt x="56789" y="77004"/>
                  <a:pt x="55193" y="77935"/>
                  <a:pt x="53442" y="78024"/>
                </a:cubicBezTo>
                <a:cubicBezTo>
                  <a:pt x="51691" y="78113"/>
                  <a:pt x="50006" y="77315"/>
                  <a:pt x="48964" y="75896"/>
                </a:cubicBezTo>
                <a:lnTo>
                  <a:pt x="38325" y="61710"/>
                </a:lnTo>
                <a:cubicBezTo>
                  <a:pt x="36552" y="59360"/>
                  <a:pt x="37039" y="56035"/>
                  <a:pt x="39389" y="54262"/>
                </a:cubicBezTo>
                <a:cubicBezTo>
                  <a:pt x="41738" y="52489"/>
                  <a:pt x="45063" y="52976"/>
                  <a:pt x="46837" y="55326"/>
                </a:cubicBezTo>
                <a:lnTo>
                  <a:pt x="52821" y="63306"/>
                </a:lnTo>
                <a:lnTo>
                  <a:pt x="66431" y="41517"/>
                </a:lnTo>
                <a:cubicBezTo>
                  <a:pt x="67983" y="39034"/>
                  <a:pt x="71263" y="38258"/>
                  <a:pt x="73768" y="39832"/>
                </a:cubicBezTo>
                <a:cubicBezTo>
                  <a:pt x="76273" y="41406"/>
                  <a:pt x="77026" y="44664"/>
                  <a:pt x="75453" y="471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356043" y="2448128"/>
            <a:ext cx="250487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マイナンバー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7447" y="2699426"/>
            <a:ext cx="113489" cy="113489"/>
          </a:xfrm>
          <a:custGeom>
            <a:avLst/>
            <a:gdLst/>
            <a:ahLst/>
            <a:cxnLst/>
            <a:rect l="l" t="t" r="r" b="b"/>
            <a:pathLst>
              <a:path w="113489" h="113489">
                <a:moveTo>
                  <a:pt x="56745" y="113489"/>
                </a:moveTo>
                <a:cubicBezTo>
                  <a:pt x="88063" y="113489"/>
                  <a:pt x="113489" y="88063"/>
                  <a:pt x="113489" y="56745"/>
                </a:cubicBezTo>
                <a:cubicBezTo>
                  <a:pt x="113489" y="25426"/>
                  <a:pt x="88063" y="0"/>
                  <a:pt x="56745" y="0"/>
                </a:cubicBezTo>
                <a:cubicBezTo>
                  <a:pt x="25426" y="0"/>
                  <a:pt x="0" y="25426"/>
                  <a:pt x="0" y="56745"/>
                </a:cubicBezTo>
                <a:cubicBezTo>
                  <a:pt x="0" y="88063"/>
                  <a:pt x="25426" y="113489"/>
                  <a:pt x="56745" y="113489"/>
                </a:cubicBezTo>
                <a:close/>
                <a:moveTo>
                  <a:pt x="75453" y="47147"/>
                </a:moveTo>
                <a:lnTo>
                  <a:pt x="57720" y="75519"/>
                </a:lnTo>
                <a:cubicBezTo>
                  <a:pt x="56789" y="77004"/>
                  <a:pt x="55193" y="77935"/>
                  <a:pt x="53442" y="78024"/>
                </a:cubicBezTo>
                <a:cubicBezTo>
                  <a:pt x="51691" y="78113"/>
                  <a:pt x="50006" y="77315"/>
                  <a:pt x="48964" y="75896"/>
                </a:cubicBezTo>
                <a:lnTo>
                  <a:pt x="38325" y="61710"/>
                </a:lnTo>
                <a:cubicBezTo>
                  <a:pt x="36552" y="59360"/>
                  <a:pt x="37039" y="56035"/>
                  <a:pt x="39389" y="54262"/>
                </a:cubicBezTo>
                <a:cubicBezTo>
                  <a:pt x="41738" y="52489"/>
                  <a:pt x="45063" y="52976"/>
                  <a:pt x="46837" y="55326"/>
                </a:cubicBezTo>
                <a:lnTo>
                  <a:pt x="52821" y="63306"/>
                </a:lnTo>
                <a:lnTo>
                  <a:pt x="66431" y="41517"/>
                </a:lnTo>
                <a:cubicBezTo>
                  <a:pt x="67983" y="39034"/>
                  <a:pt x="71263" y="38258"/>
                  <a:pt x="73768" y="39832"/>
                </a:cubicBezTo>
                <a:cubicBezTo>
                  <a:pt x="76273" y="41406"/>
                  <a:pt x="77026" y="44664"/>
                  <a:pt x="75453" y="471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7149" y="2675106"/>
            <a:ext cx="250487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財務データ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26340" y="2699426"/>
            <a:ext cx="113489" cy="113489"/>
          </a:xfrm>
          <a:custGeom>
            <a:avLst/>
            <a:gdLst/>
            <a:ahLst/>
            <a:cxnLst/>
            <a:rect l="l" t="t" r="r" b="b"/>
            <a:pathLst>
              <a:path w="113489" h="113489">
                <a:moveTo>
                  <a:pt x="56745" y="113489"/>
                </a:moveTo>
                <a:cubicBezTo>
                  <a:pt x="88063" y="113489"/>
                  <a:pt x="113489" y="88063"/>
                  <a:pt x="113489" y="56745"/>
                </a:cubicBezTo>
                <a:cubicBezTo>
                  <a:pt x="113489" y="25426"/>
                  <a:pt x="88063" y="0"/>
                  <a:pt x="56745" y="0"/>
                </a:cubicBezTo>
                <a:cubicBezTo>
                  <a:pt x="25426" y="0"/>
                  <a:pt x="0" y="25426"/>
                  <a:pt x="0" y="56745"/>
                </a:cubicBezTo>
                <a:cubicBezTo>
                  <a:pt x="0" y="88063"/>
                  <a:pt x="25426" y="113489"/>
                  <a:pt x="56745" y="113489"/>
                </a:cubicBezTo>
                <a:close/>
                <a:moveTo>
                  <a:pt x="75453" y="47147"/>
                </a:moveTo>
                <a:lnTo>
                  <a:pt x="57720" y="75519"/>
                </a:lnTo>
                <a:cubicBezTo>
                  <a:pt x="56789" y="77004"/>
                  <a:pt x="55193" y="77935"/>
                  <a:pt x="53442" y="78024"/>
                </a:cubicBezTo>
                <a:cubicBezTo>
                  <a:pt x="51691" y="78113"/>
                  <a:pt x="50006" y="77315"/>
                  <a:pt x="48964" y="75896"/>
                </a:cubicBezTo>
                <a:lnTo>
                  <a:pt x="38325" y="61710"/>
                </a:lnTo>
                <a:cubicBezTo>
                  <a:pt x="36552" y="59360"/>
                  <a:pt x="37039" y="56035"/>
                  <a:pt x="39389" y="54262"/>
                </a:cubicBezTo>
                <a:cubicBezTo>
                  <a:pt x="41738" y="52489"/>
                  <a:pt x="45063" y="52976"/>
                  <a:pt x="46837" y="55326"/>
                </a:cubicBezTo>
                <a:lnTo>
                  <a:pt x="52821" y="63306"/>
                </a:lnTo>
                <a:lnTo>
                  <a:pt x="66431" y="41517"/>
                </a:lnTo>
                <a:cubicBezTo>
                  <a:pt x="67983" y="39034"/>
                  <a:pt x="71263" y="38258"/>
                  <a:pt x="73768" y="39832"/>
                </a:cubicBezTo>
                <a:cubicBezTo>
                  <a:pt x="76273" y="41406"/>
                  <a:pt x="77026" y="44664"/>
                  <a:pt x="75453" y="471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356043" y="2675106"/>
            <a:ext cx="250487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医療情報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2362" y="3169596"/>
            <a:ext cx="5690681" cy="1297021"/>
          </a:xfrm>
          <a:custGeom>
            <a:avLst/>
            <a:gdLst/>
            <a:ahLst/>
            <a:cxnLst/>
            <a:rect l="l" t="t" r="r" b="b"/>
            <a:pathLst>
              <a:path w="5690681" h="1297021">
                <a:moveTo>
                  <a:pt x="97277" y="0"/>
                </a:moveTo>
                <a:lnTo>
                  <a:pt x="5593404" y="0"/>
                </a:lnTo>
                <a:cubicBezTo>
                  <a:pt x="5647129" y="0"/>
                  <a:pt x="5690681" y="43552"/>
                  <a:pt x="5690681" y="97277"/>
                </a:cubicBezTo>
                <a:lnTo>
                  <a:pt x="5690681" y="1199745"/>
                </a:lnTo>
                <a:cubicBezTo>
                  <a:pt x="5690681" y="1253469"/>
                  <a:pt x="5647129" y="1297021"/>
                  <a:pt x="5593404" y="1297021"/>
                </a:cubicBezTo>
                <a:lnTo>
                  <a:pt x="97277" y="1297021"/>
                </a:lnTo>
                <a:cubicBezTo>
                  <a:pt x="43552" y="1297021"/>
                  <a:pt x="0" y="1253469"/>
                  <a:pt x="0" y="1199745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809" y="3323617"/>
            <a:ext cx="145915" cy="194553"/>
          </a:xfrm>
          <a:custGeom>
            <a:avLst/>
            <a:gdLst/>
            <a:ahLst/>
            <a:cxnLst/>
            <a:rect l="l" t="t" r="r" b="b"/>
            <a:pathLst>
              <a:path w="145915" h="194553">
                <a:moveTo>
                  <a:pt x="48638" y="36479"/>
                </a:moveTo>
                <a:lnTo>
                  <a:pt x="48638" y="60798"/>
                </a:lnTo>
                <a:lnTo>
                  <a:pt x="97277" y="60798"/>
                </a:lnTo>
                <a:lnTo>
                  <a:pt x="97277" y="36479"/>
                </a:lnTo>
                <a:cubicBezTo>
                  <a:pt x="97277" y="23065"/>
                  <a:pt x="86371" y="12160"/>
                  <a:pt x="72957" y="12160"/>
                </a:cubicBezTo>
                <a:cubicBezTo>
                  <a:pt x="59544" y="12160"/>
                  <a:pt x="48638" y="23065"/>
                  <a:pt x="48638" y="36479"/>
                </a:cubicBezTo>
                <a:close/>
                <a:moveTo>
                  <a:pt x="24319" y="60798"/>
                </a:moveTo>
                <a:lnTo>
                  <a:pt x="24319" y="36479"/>
                </a:lnTo>
                <a:cubicBezTo>
                  <a:pt x="24319" y="9614"/>
                  <a:pt x="46092" y="-12160"/>
                  <a:pt x="72957" y="-12160"/>
                </a:cubicBezTo>
                <a:cubicBezTo>
                  <a:pt x="99823" y="-12160"/>
                  <a:pt x="121596" y="9614"/>
                  <a:pt x="121596" y="36479"/>
                </a:cubicBezTo>
                <a:lnTo>
                  <a:pt x="121596" y="60798"/>
                </a:lnTo>
                <a:cubicBezTo>
                  <a:pt x="135009" y="60798"/>
                  <a:pt x="145915" y="71703"/>
                  <a:pt x="145915" y="85117"/>
                </a:cubicBezTo>
                <a:lnTo>
                  <a:pt x="145915" y="170234"/>
                </a:lnTo>
                <a:cubicBezTo>
                  <a:pt x="145915" y="183648"/>
                  <a:pt x="135009" y="194553"/>
                  <a:pt x="121596" y="194553"/>
                </a:cubicBezTo>
                <a:lnTo>
                  <a:pt x="24319" y="194553"/>
                </a:lnTo>
                <a:cubicBezTo>
                  <a:pt x="10906" y="194553"/>
                  <a:pt x="0" y="183648"/>
                  <a:pt x="0" y="170234"/>
                </a:cubicBezTo>
                <a:lnTo>
                  <a:pt x="0" y="85117"/>
                </a:lnTo>
                <a:cubicBezTo>
                  <a:pt x="0" y="71703"/>
                  <a:pt x="10906" y="60798"/>
                  <a:pt x="24319" y="60798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810638" y="3307404"/>
            <a:ext cx="105383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暗号化の継承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170" y="3631660"/>
            <a:ext cx="5479915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ファイルの</a:t>
            </a:r>
            <a:pPr>
              <a:lnSpc>
                <a:spcPct val="140000"/>
              </a:lnSpc>
            </a:pPr>
            <a:r>
              <a:rPr lang="en-US" sz="1021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暗号化・アクセス制御 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はCopilot処理中も維持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0170" y="3939702"/>
            <a:ext cx="5415064" cy="389106"/>
          </a:xfrm>
          <a:custGeom>
            <a:avLst/>
            <a:gdLst/>
            <a:ahLst/>
            <a:cxnLst/>
            <a:rect l="l" t="t" r="r" b="b"/>
            <a:pathLst>
              <a:path w="5415064" h="389106">
                <a:moveTo>
                  <a:pt x="64852" y="0"/>
                </a:moveTo>
                <a:lnTo>
                  <a:pt x="5350211" y="0"/>
                </a:lnTo>
                <a:cubicBezTo>
                  <a:pt x="5386028" y="0"/>
                  <a:pt x="5415064" y="29035"/>
                  <a:pt x="5415064" y="64852"/>
                </a:cubicBezTo>
                <a:lnTo>
                  <a:pt x="5415064" y="324254"/>
                </a:lnTo>
                <a:cubicBezTo>
                  <a:pt x="5415064" y="360071"/>
                  <a:pt x="5386028" y="389106"/>
                  <a:pt x="5350211" y="389106"/>
                </a:cubicBezTo>
                <a:lnTo>
                  <a:pt x="64852" y="389106"/>
                </a:lnTo>
                <a:cubicBezTo>
                  <a:pt x="29035" y="389106"/>
                  <a:pt x="0" y="360071"/>
                  <a:pt x="0" y="32425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83660" y="4069404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85117" y="89170"/>
                </a:moveTo>
                <a:cubicBezTo>
                  <a:pt x="109740" y="89170"/>
                  <a:pt x="129702" y="69208"/>
                  <a:pt x="129702" y="44585"/>
                </a:cubicBezTo>
                <a:cubicBezTo>
                  <a:pt x="129702" y="19962"/>
                  <a:pt x="109740" y="0"/>
                  <a:pt x="85117" y="0"/>
                </a:cubicBezTo>
                <a:cubicBezTo>
                  <a:pt x="60494" y="0"/>
                  <a:pt x="40532" y="19962"/>
                  <a:pt x="40532" y="44585"/>
                </a:cubicBezTo>
                <a:cubicBezTo>
                  <a:pt x="40532" y="49322"/>
                  <a:pt x="41267" y="53907"/>
                  <a:pt x="42635" y="58189"/>
                </a:cubicBezTo>
                <a:lnTo>
                  <a:pt x="1773" y="99050"/>
                </a:lnTo>
                <a:cubicBezTo>
                  <a:pt x="633" y="100190"/>
                  <a:pt x="0" y="101735"/>
                  <a:pt x="0" y="103356"/>
                </a:cubicBezTo>
                <a:lnTo>
                  <a:pt x="0" y="123622"/>
                </a:lnTo>
                <a:cubicBezTo>
                  <a:pt x="0" y="126992"/>
                  <a:pt x="2711" y="129702"/>
                  <a:pt x="6080" y="129702"/>
                </a:cubicBezTo>
                <a:lnTo>
                  <a:pt x="26346" y="129702"/>
                </a:lnTo>
                <a:cubicBezTo>
                  <a:pt x="29715" y="129702"/>
                  <a:pt x="32426" y="126992"/>
                  <a:pt x="32426" y="123622"/>
                </a:cubicBezTo>
                <a:lnTo>
                  <a:pt x="32426" y="113489"/>
                </a:lnTo>
                <a:lnTo>
                  <a:pt x="42559" y="113489"/>
                </a:lnTo>
                <a:cubicBezTo>
                  <a:pt x="45928" y="113489"/>
                  <a:pt x="48638" y="110779"/>
                  <a:pt x="48638" y="107410"/>
                </a:cubicBezTo>
                <a:lnTo>
                  <a:pt x="48638" y="97277"/>
                </a:lnTo>
                <a:lnTo>
                  <a:pt x="58771" y="97277"/>
                </a:lnTo>
                <a:cubicBezTo>
                  <a:pt x="60393" y="97277"/>
                  <a:pt x="61938" y="96643"/>
                  <a:pt x="63078" y="95503"/>
                </a:cubicBezTo>
                <a:lnTo>
                  <a:pt x="71513" y="87068"/>
                </a:lnTo>
                <a:cubicBezTo>
                  <a:pt x="75795" y="88436"/>
                  <a:pt x="80380" y="89170"/>
                  <a:pt x="85117" y="89170"/>
                </a:cubicBezTo>
                <a:close/>
                <a:moveTo>
                  <a:pt x="95250" y="24319"/>
                </a:moveTo>
                <a:cubicBezTo>
                  <a:pt x="100843" y="24319"/>
                  <a:pt x="105383" y="28860"/>
                  <a:pt x="105383" y="34452"/>
                </a:cubicBezTo>
                <a:cubicBezTo>
                  <a:pt x="105383" y="40045"/>
                  <a:pt x="100843" y="44585"/>
                  <a:pt x="95250" y="44585"/>
                </a:cubicBezTo>
                <a:cubicBezTo>
                  <a:pt x="89657" y="44585"/>
                  <a:pt x="85117" y="40045"/>
                  <a:pt x="85117" y="34452"/>
                </a:cubicBezTo>
                <a:cubicBezTo>
                  <a:pt x="85117" y="28860"/>
                  <a:pt x="89657" y="24319"/>
                  <a:pt x="95250" y="24319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770969" y="4036979"/>
            <a:ext cx="508184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Sensitivity Labelの権限設定が継承</a:t>
            </a:r>
            <a:pPr>
              <a:lnSpc>
                <a:spcPct val="130000"/>
              </a:lnSpc>
            </a:pPr>
            <a:r>
              <a:rPr lang="en-US" sz="102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される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2362" y="4580106"/>
            <a:ext cx="5690681" cy="1297021"/>
          </a:xfrm>
          <a:custGeom>
            <a:avLst/>
            <a:gdLst/>
            <a:ahLst/>
            <a:cxnLst/>
            <a:rect l="l" t="t" r="r" b="b"/>
            <a:pathLst>
              <a:path w="5690681" h="1297021">
                <a:moveTo>
                  <a:pt x="97277" y="0"/>
                </a:moveTo>
                <a:lnTo>
                  <a:pt x="5593404" y="0"/>
                </a:lnTo>
                <a:cubicBezTo>
                  <a:pt x="5647129" y="0"/>
                  <a:pt x="5690681" y="43552"/>
                  <a:pt x="5690681" y="97277"/>
                </a:cubicBezTo>
                <a:lnTo>
                  <a:pt x="5690681" y="1199745"/>
                </a:lnTo>
                <a:cubicBezTo>
                  <a:pt x="5690681" y="1253469"/>
                  <a:pt x="5647129" y="1297021"/>
                  <a:pt x="5593404" y="1297021"/>
                </a:cubicBezTo>
                <a:lnTo>
                  <a:pt x="97277" y="1297021"/>
                </a:lnTo>
                <a:cubicBezTo>
                  <a:pt x="43552" y="1297021"/>
                  <a:pt x="0" y="1253469"/>
                  <a:pt x="0" y="1199745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809" y="4734128"/>
            <a:ext cx="145915" cy="194553"/>
          </a:xfrm>
          <a:custGeom>
            <a:avLst/>
            <a:gdLst/>
            <a:ahLst/>
            <a:cxnLst/>
            <a:rect l="l" t="t" r="r" b="b"/>
            <a:pathLst>
              <a:path w="145915" h="194553">
                <a:moveTo>
                  <a:pt x="118328" y="12160"/>
                </a:moveTo>
                <a:lnTo>
                  <a:pt x="121596" y="12160"/>
                </a:lnTo>
                <a:cubicBezTo>
                  <a:pt x="135009" y="12160"/>
                  <a:pt x="145915" y="23065"/>
                  <a:pt x="145915" y="36479"/>
                </a:cubicBezTo>
                <a:lnTo>
                  <a:pt x="145915" y="170234"/>
                </a:lnTo>
                <a:cubicBezTo>
                  <a:pt x="145915" y="183648"/>
                  <a:pt x="135009" y="194553"/>
                  <a:pt x="121596" y="194553"/>
                </a:cubicBezTo>
                <a:lnTo>
                  <a:pt x="24319" y="194553"/>
                </a:lnTo>
                <a:cubicBezTo>
                  <a:pt x="10906" y="194553"/>
                  <a:pt x="0" y="183648"/>
                  <a:pt x="0" y="170234"/>
                </a:cubicBezTo>
                <a:lnTo>
                  <a:pt x="0" y="36479"/>
                </a:lnTo>
                <a:cubicBezTo>
                  <a:pt x="0" y="23065"/>
                  <a:pt x="10906" y="12160"/>
                  <a:pt x="24319" y="12160"/>
                </a:cubicBezTo>
                <a:lnTo>
                  <a:pt x="27587" y="12160"/>
                </a:lnTo>
                <a:cubicBezTo>
                  <a:pt x="31767" y="4902"/>
                  <a:pt x="39633" y="0"/>
                  <a:pt x="48638" y="0"/>
                </a:cubicBezTo>
                <a:lnTo>
                  <a:pt x="97277" y="0"/>
                </a:lnTo>
                <a:cubicBezTo>
                  <a:pt x="106282" y="0"/>
                  <a:pt x="114148" y="4902"/>
                  <a:pt x="118328" y="12160"/>
                </a:cubicBezTo>
                <a:close/>
                <a:moveTo>
                  <a:pt x="94237" y="42559"/>
                </a:moveTo>
                <a:cubicBezTo>
                  <a:pt x="99291" y="42559"/>
                  <a:pt x="103356" y="38493"/>
                  <a:pt x="103356" y="33439"/>
                </a:cubicBezTo>
                <a:cubicBezTo>
                  <a:pt x="103356" y="28385"/>
                  <a:pt x="99291" y="24319"/>
                  <a:pt x="94237" y="24319"/>
                </a:cubicBezTo>
                <a:lnTo>
                  <a:pt x="51678" y="24319"/>
                </a:lnTo>
                <a:cubicBezTo>
                  <a:pt x="46624" y="24319"/>
                  <a:pt x="42559" y="28385"/>
                  <a:pt x="42559" y="33439"/>
                </a:cubicBezTo>
                <a:cubicBezTo>
                  <a:pt x="42559" y="38493"/>
                  <a:pt x="46624" y="42559"/>
                  <a:pt x="51678" y="42559"/>
                </a:cubicBezTo>
                <a:lnTo>
                  <a:pt x="94237" y="42559"/>
                </a:lnTo>
                <a:close/>
                <a:moveTo>
                  <a:pt x="48638" y="97277"/>
                </a:moveTo>
                <a:cubicBezTo>
                  <a:pt x="48638" y="90566"/>
                  <a:pt x="43190" y="85117"/>
                  <a:pt x="36479" y="85117"/>
                </a:cubicBezTo>
                <a:cubicBezTo>
                  <a:pt x="29768" y="85117"/>
                  <a:pt x="24319" y="90566"/>
                  <a:pt x="24319" y="97277"/>
                </a:cubicBezTo>
                <a:cubicBezTo>
                  <a:pt x="24319" y="103988"/>
                  <a:pt x="29768" y="109436"/>
                  <a:pt x="36479" y="109436"/>
                </a:cubicBezTo>
                <a:cubicBezTo>
                  <a:pt x="43190" y="109436"/>
                  <a:pt x="48638" y="103988"/>
                  <a:pt x="48638" y="97277"/>
                </a:cubicBezTo>
                <a:close/>
                <a:moveTo>
                  <a:pt x="60798" y="97277"/>
                </a:moveTo>
                <a:cubicBezTo>
                  <a:pt x="60798" y="102330"/>
                  <a:pt x="64864" y="106396"/>
                  <a:pt x="69918" y="106396"/>
                </a:cubicBezTo>
                <a:lnTo>
                  <a:pt x="112476" y="106396"/>
                </a:lnTo>
                <a:cubicBezTo>
                  <a:pt x="117530" y="106396"/>
                  <a:pt x="121596" y="102330"/>
                  <a:pt x="121596" y="97277"/>
                </a:cubicBezTo>
                <a:cubicBezTo>
                  <a:pt x="121596" y="92223"/>
                  <a:pt x="117530" y="88157"/>
                  <a:pt x="112476" y="88157"/>
                </a:cubicBezTo>
                <a:lnTo>
                  <a:pt x="69918" y="88157"/>
                </a:lnTo>
                <a:cubicBezTo>
                  <a:pt x="64864" y="88157"/>
                  <a:pt x="60798" y="92223"/>
                  <a:pt x="60798" y="97277"/>
                </a:cubicBezTo>
                <a:close/>
                <a:moveTo>
                  <a:pt x="60798" y="145915"/>
                </a:moveTo>
                <a:cubicBezTo>
                  <a:pt x="60798" y="150969"/>
                  <a:pt x="64864" y="155035"/>
                  <a:pt x="69918" y="155035"/>
                </a:cubicBezTo>
                <a:lnTo>
                  <a:pt x="112476" y="155035"/>
                </a:lnTo>
                <a:cubicBezTo>
                  <a:pt x="117530" y="155035"/>
                  <a:pt x="121596" y="150969"/>
                  <a:pt x="121596" y="145915"/>
                </a:cubicBezTo>
                <a:cubicBezTo>
                  <a:pt x="121596" y="140861"/>
                  <a:pt x="117530" y="136795"/>
                  <a:pt x="112476" y="136795"/>
                </a:cubicBezTo>
                <a:lnTo>
                  <a:pt x="69918" y="136795"/>
                </a:lnTo>
                <a:cubicBezTo>
                  <a:pt x="64864" y="136795"/>
                  <a:pt x="60798" y="140861"/>
                  <a:pt x="60798" y="145915"/>
                </a:cubicBezTo>
                <a:close/>
                <a:moveTo>
                  <a:pt x="36479" y="158074"/>
                </a:moveTo>
                <a:cubicBezTo>
                  <a:pt x="43190" y="158074"/>
                  <a:pt x="48638" y="152626"/>
                  <a:pt x="48638" y="145915"/>
                </a:cubicBezTo>
                <a:cubicBezTo>
                  <a:pt x="48638" y="139204"/>
                  <a:pt x="43190" y="133755"/>
                  <a:pt x="36479" y="133755"/>
                </a:cubicBezTo>
                <a:cubicBezTo>
                  <a:pt x="29768" y="133755"/>
                  <a:pt x="24319" y="139204"/>
                  <a:pt x="24319" y="145915"/>
                </a:cubicBezTo>
                <a:cubicBezTo>
                  <a:pt x="24319" y="152626"/>
                  <a:pt x="29768" y="158074"/>
                  <a:pt x="36479" y="158074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28" name="Text 26"/>
          <p:cNvSpPr/>
          <p:nvPr/>
        </p:nvSpPr>
        <p:spPr>
          <a:xfrm>
            <a:off x="810638" y="4717915"/>
            <a:ext cx="72957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監査ログ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170" y="5042170"/>
            <a:ext cx="5479915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106EBE"/>
                </a:solidFill>
                <a:highlight>
                  <a:srgbClr val="106EBE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誰が、いつ、どのデータを使用したか 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を追跡可能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0170" y="5350213"/>
            <a:ext cx="5415064" cy="389106"/>
          </a:xfrm>
          <a:custGeom>
            <a:avLst/>
            <a:gdLst/>
            <a:ahLst/>
            <a:cxnLst/>
            <a:rect l="l" t="t" r="r" b="b"/>
            <a:pathLst>
              <a:path w="5415064" h="389106">
                <a:moveTo>
                  <a:pt x="64852" y="0"/>
                </a:moveTo>
                <a:lnTo>
                  <a:pt x="5350211" y="0"/>
                </a:lnTo>
                <a:cubicBezTo>
                  <a:pt x="5386028" y="0"/>
                  <a:pt x="5415064" y="29035"/>
                  <a:pt x="5415064" y="64852"/>
                </a:cubicBezTo>
                <a:lnTo>
                  <a:pt x="5415064" y="324254"/>
                </a:lnTo>
                <a:cubicBezTo>
                  <a:pt x="5415064" y="360071"/>
                  <a:pt x="5386028" y="389106"/>
                  <a:pt x="5350211" y="389106"/>
                </a:cubicBezTo>
                <a:lnTo>
                  <a:pt x="64852" y="389106"/>
                </a:lnTo>
                <a:cubicBezTo>
                  <a:pt x="29035" y="389106"/>
                  <a:pt x="0" y="360071"/>
                  <a:pt x="0" y="32425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583660" y="5479915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105383" y="52691"/>
                </a:moveTo>
                <a:cubicBezTo>
                  <a:pt x="105383" y="64319"/>
                  <a:pt x="101608" y="75060"/>
                  <a:pt x="95250" y="83774"/>
                </a:cubicBezTo>
                <a:lnTo>
                  <a:pt x="127321" y="115871"/>
                </a:lnTo>
                <a:cubicBezTo>
                  <a:pt x="130487" y="119037"/>
                  <a:pt x="130487" y="124180"/>
                  <a:pt x="127321" y="127346"/>
                </a:cubicBezTo>
                <a:cubicBezTo>
                  <a:pt x="124154" y="130513"/>
                  <a:pt x="119012" y="130513"/>
                  <a:pt x="115845" y="127346"/>
                </a:cubicBezTo>
                <a:lnTo>
                  <a:pt x="83774" y="95250"/>
                </a:lnTo>
                <a:cubicBezTo>
                  <a:pt x="75060" y="101608"/>
                  <a:pt x="64319" y="105383"/>
                  <a:pt x="52691" y="105383"/>
                </a:cubicBezTo>
                <a:cubicBezTo>
                  <a:pt x="23585" y="105383"/>
                  <a:pt x="0" y="81798"/>
                  <a:pt x="0" y="52691"/>
                </a:cubicBezTo>
                <a:cubicBezTo>
                  <a:pt x="0" y="23585"/>
                  <a:pt x="23585" y="0"/>
                  <a:pt x="52691" y="0"/>
                </a:cubicBezTo>
                <a:cubicBezTo>
                  <a:pt x="81798" y="0"/>
                  <a:pt x="105383" y="23585"/>
                  <a:pt x="105383" y="52691"/>
                </a:cubicBezTo>
                <a:close/>
                <a:moveTo>
                  <a:pt x="52691" y="89170"/>
                </a:moveTo>
                <a:cubicBezTo>
                  <a:pt x="72825" y="89170"/>
                  <a:pt x="89170" y="72825"/>
                  <a:pt x="89170" y="52691"/>
                </a:cubicBezTo>
                <a:cubicBezTo>
                  <a:pt x="89170" y="32558"/>
                  <a:pt x="72825" y="16213"/>
                  <a:pt x="52691" y="16213"/>
                </a:cubicBezTo>
                <a:cubicBezTo>
                  <a:pt x="32558" y="16213"/>
                  <a:pt x="16213" y="32558"/>
                  <a:pt x="16213" y="52691"/>
                </a:cubicBezTo>
                <a:cubicBezTo>
                  <a:pt x="16213" y="72825"/>
                  <a:pt x="32558" y="89170"/>
                  <a:pt x="52691" y="8917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32" name="Text 30"/>
          <p:cNvSpPr/>
          <p:nvPr/>
        </p:nvSpPr>
        <p:spPr>
          <a:xfrm>
            <a:off x="770969" y="5447489"/>
            <a:ext cx="508184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統合監査ログ</a:t>
            </a:r>
            <a:pPr>
              <a:lnSpc>
                <a:spcPct val="130000"/>
              </a:lnSpc>
            </a:pPr>
            <a:r>
              <a:rPr lang="en-US" sz="102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に記録、eDiscovery対応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68957" y="1337553"/>
            <a:ext cx="5690681" cy="2059021"/>
          </a:xfrm>
          <a:custGeom>
            <a:avLst/>
            <a:gdLst/>
            <a:ahLst/>
            <a:cxnLst/>
            <a:rect l="l" t="t" r="r" b="b"/>
            <a:pathLst>
              <a:path w="5690681" h="2059021">
                <a:moveTo>
                  <a:pt x="97268" y="0"/>
                </a:moveTo>
                <a:lnTo>
                  <a:pt x="5593413" y="0"/>
                </a:lnTo>
                <a:cubicBezTo>
                  <a:pt x="5647132" y="0"/>
                  <a:pt x="5690681" y="43548"/>
                  <a:pt x="5690681" y="97268"/>
                </a:cubicBezTo>
                <a:lnTo>
                  <a:pt x="5690681" y="1961753"/>
                </a:lnTo>
                <a:cubicBezTo>
                  <a:pt x="5690681" y="2015473"/>
                  <a:pt x="5647132" y="2059021"/>
                  <a:pt x="5593413" y="2059021"/>
                </a:cubicBezTo>
                <a:lnTo>
                  <a:pt x="97268" y="2059021"/>
                </a:lnTo>
                <a:cubicBezTo>
                  <a:pt x="43548" y="2059021"/>
                  <a:pt x="0" y="2015473"/>
                  <a:pt x="0" y="1961753"/>
                </a:cubicBezTo>
                <a:lnTo>
                  <a:pt x="0" y="97268"/>
                </a:lnTo>
                <a:cubicBezTo>
                  <a:pt x="0" y="43548"/>
                  <a:pt x="43548" y="0"/>
                  <a:pt x="9726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18926" y="1491574"/>
            <a:ext cx="218872" cy="194553"/>
          </a:xfrm>
          <a:custGeom>
            <a:avLst/>
            <a:gdLst/>
            <a:ahLst/>
            <a:cxnLst/>
            <a:rect l="l" t="t" r="r" b="b"/>
            <a:pathLst>
              <a:path w="218872" h="194553">
                <a:moveTo>
                  <a:pt x="152451" y="14857"/>
                </a:moveTo>
                <a:lnTo>
                  <a:pt x="208765" y="71969"/>
                </a:lnTo>
                <a:cubicBezTo>
                  <a:pt x="219290" y="82647"/>
                  <a:pt x="219290" y="99747"/>
                  <a:pt x="208765" y="110424"/>
                </a:cubicBezTo>
                <a:lnTo>
                  <a:pt x="149335" y="170576"/>
                </a:lnTo>
                <a:cubicBezTo>
                  <a:pt x="145801" y="174148"/>
                  <a:pt x="140025" y="174186"/>
                  <a:pt x="136453" y="170652"/>
                </a:cubicBezTo>
                <a:cubicBezTo>
                  <a:pt x="132881" y="167118"/>
                  <a:pt x="132843" y="161342"/>
                  <a:pt x="136377" y="157770"/>
                </a:cubicBezTo>
                <a:lnTo>
                  <a:pt x="195807" y="97581"/>
                </a:lnTo>
                <a:cubicBezTo>
                  <a:pt x="199303" y="94047"/>
                  <a:pt x="199303" y="88309"/>
                  <a:pt x="195807" y="84775"/>
                </a:cubicBezTo>
                <a:lnTo>
                  <a:pt x="139455" y="27701"/>
                </a:lnTo>
                <a:cubicBezTo>
                  <a:pt x="135921" y="24129"/>
                  <a:pt x="135959" y="18353"/>
                  <a:pt x="139531" y="14819"/>
                </a:cubicBezTo>
                <a:cubicBezTo>
                  <a:pt x="143103" y="11286"/>
                  <a:pt x="148879" y="11324"/>
                  <a:pt x="152413" y="14895"/>
                </a:cubicBezTo>
                <a:close/>
                <a:moveTo>
                  <a:pt x="12198" y="87207"/>
                </a:moveTo>
                <a:lnTo>
                  <a:pt x="12198" y="36479"/>
                </a:lnTo>
                <a:cubicBezTo>
                  <a:pt x="12198" y="23065"/>
                  <a:pt x="23103" y="12160"/>
                  <a:pt x="36517" y="12160"/>
                </a:cubicBezTo>
                <a:lnTo>
                  <a:pt x="87245" y="12160"/>
                </a:lnTo>
                <a:cubicBezTo>
                  <a:pt x="93705" y="12160"/>
                  <a:pt x="99899" y="14705"/>
                  <a:pt x="104458" y="19265"/>
                </a:cubicBezTo>
                <a:lnTo>
                  <a:pt x="159176" y="73983"/>
                </a:lnTo>
                <a:cubicBezTo>
                  <a:pt x="168676" y="83483"/>
                  <a:pt x="168676" y="98873"/>
                  <a:pt x="159176" y="108372"/>
                </a:cubicBezTo>
                <a:lnTo>
                  <a:pt x="108448" y="159100"/>
                </a:lnTo>
                <a:cubicBezTo>
                  <a:pt x="98949" y="168600"/>
                  <a:pt x="83559" y="168600"/>
                  <a:pt x="74059" y="159100"/>
                </a:cubicBezTo>
                <a:lnTo>
                  <a:pt x="19341" y="104382"/>
                </a:lnTo>
                <a:cubicBezTo>
                  <a:pt x="14781" y="99823"/>
                  <a:pt x="12236" y="93629"/>
                  <a:pt x="12236" y="87169"/>
                </a:cubicBezTo>
                <a:close/>
                <a:moveTo>
                  <a:pt x="66916" y="54718"/>
                </a:moveTo>
                <a:cubicBezTo>
                  <a:pt x="66916" y="48007"/>
                  <a:pt x="61467" y="42559"/>
                  <a:pt x="54756" y="42559"/>
                </a:cubicBezTo>
                <a:cubicBezTo>
                  <a:pt x="48045" y="42559"/>
                  <a:pt x="42597" y="48007"/>
                  <a:pt x="42597" y="54718"/>
                </a:cubicBezTo>
                <a:cubicBezTo>
                  <a:pt x="42597" y="61429"/>
                  <a:pt x="48045" y="66878"/>
                  <a:pt x="54756" y="66878"/>
                </a:cubicBezTo>
                <a:cubicBezTo>
                  <a:pt x="61467" y="66878"/>
                  <a:pt x="66916" y="61429"/>
                  <a:pt x="66916" y="54718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5" name="Text 33"/>
          <p:cNvSpPr/>
          <p:nvPr/>
        </p:nvSpPr>
        <p:spPr>
          <a:xfrm>
            <a:off x="6647234" y="1475362"/>
            <a:ext cx="121595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機密ラベル制御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6766" y="1799617"/>
            <a:ext cx="5479915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高機密ラベル文書は</a:t>
            </a:r>
            <a:pPr>
              <a:lnSpc>
                <a:spcPct val="140000"/>
              </a:lnSpc>
            </a:pPr>
            <a:r>
              <a:rPr lang="en-US" sz="1021" b="1" dirty="0">
                <a:solidFill>
                  <a:srgbClr val="0078D4"/>
                </a:solidFill>
                <a:highlight>
                  <a:srgbClr val="0078D4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AI要約・検索を制限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0819" y="2111713"/>
            <a:ext cx="5406957" cy="332362"/>
          </a:xfrm>
          <a:custGeom>
            <a:avLst/>
            <a:gdLst/>
            <a:ahLst/>
            <a:cxnLst/>
            <a:rect l="l" t="t" r="r" b="b"/>
            <a:pathLst>
              <a:path w="5406957" h="332362">
                <a:moveTo>
                  <a:pt x="64850" y="0"/>
                </a:moveTo>
                <a:lnTo>
                  <a:pt x="5342107" y="0"/>
                </a:lnTo>
                <a:cubicBezTo>
                  <a:pt x="5377923" y="0"/>
                  <a:pt x="5406957" y="29035"/>
                  <a:pt x="5406957" y="64850"/>
                </a:cubicBezTo>
                <a:lnTo>
                  <a:pt x="5406957" y="267511"/>
                </a:lnTo>
                <a:cubicBezTo>
                  <a:pt x="5406957" y="303327"/>
                  <a:pt x="5377923" y="332362"/>
                  <a:pt x="5342107" y="332362"/>
                </a:cubicBezTo>
                <a:lnTo>
                  <a:pt x="64850" y="332362"/>
                </a:lnTo>
                <a:cubicBezTo>
                  <a:pt x="29035" y="332362"/>
                  <a:pt x="0" y="303327"/>
                  <a:pt x="0" y="267511"/>
                </a:cubicBezTo>
                <a:lnTo>
                  <a:pt x="0" y="64850"/>
                </a:lnTo>
                <a:cubicBezTo>
                  <a:pt x="0" y="29058"/>
                  <a:pt x="29058" y="0"/>
                  <a:pt x="64850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9723" y="2180617"/>
            <a:ext cx="58366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高度機密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93332" y="2196830"/>
            <a:ext cx="616085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AI処理禁止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0819" y="2517032"/>
            <a:ext cx="5406957" cy="332362"/>
          </a:xfrm>
          <a:custGeom>
            <a:avLst/>
            <a:gdLst/>
            <a:ahLst/>
            <a:cxnLst/>
            <a:rect l="l" t="t" r="r" b="b"/>
            <a:pathLst>
              <a:path w="5406957" h="332362">
                <a:moveTo>
                  <a:pt x="64850" y="0"/>
                </a:moveTo>
                <a:lnTo>
                  <a:pt x="5342107" y="0"/>
                </a:lnTo>
                <a:cubicBezTo>
                  <a:pt x="5377923" y="0"/>
                  <a:pt x="5406957" y="29035"/>
                  <a:pt x="5406957" y="64850"/>
                </a:cubicBezTo>
                <a:lnTo>
                  <a:pt x="5406957" y="267511"/>
                </a:lnTo>
                <a:cubicBezTo>
                  <a:pt x="5406957" y="303327"/>
                  <a:pt x="5377923" y="332362"/>
                  <a:pt x="5342107" y="332362"/>
                </a:cubicBezTo>
                <a:lnTo>
                  <a:pt x="64850" y="332362"/>
                </a:lnTo>
                <a:cubicBezTo>
                  <a:pt x="29035" y="332362"/>
                  <a:pt x="0" y="303327"/>
                  <a:pt x="0" y="267511"/>
                </a:cubicBezTo>
                <a:lnTo>
                  <a:pt x="0" y="64850"/>
                </a:lnTo>
                <a:cubicBezTo>
                  <a:pt x="0" y="29058"/>
                  <a:pt x="29058" y="0"/>
                  <a:pt x="6485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9723" y="2585936"/>
            <a:ext cx="58366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06E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社内限定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67936" y="2602149"/>
            <a:ext cx="73768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制限付き利用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0819" y="2922351"/>
            <a:ext cx="5406957" cy="332362"/>
          </a:xfrm>
          <a:custGeom>
            <a:avLst/>
            <a:gdLst/>
            <a:ahLst/>
            <a:cxnLst/>
            <a:rect l="l" t="t" r="r" b="b"/>
            <a:pathLst>
              <a:path w="5406957" h="332362">
                <a:moveTo>
                  <a:pt x="64850" y="0"/>
                </a:moveTo>
                <a:lnTo>
                  <a:pt x="5342107" y="0"/>
                </a:lnTo>
                <a:cubicBezTo>
                  <a:pt x="5377923" y="0"/>
                  <a:pt x="5406957" y="29035"/>
                  <a:pt x="5406957" y="64850"/>
                </a:cubicBezTo>
                <a:lnTo>
                  <a:pt x="5406957" y="267511"/>
                </a:lnTo>
                <a:cubicBezTo>
                  <a:pt x="5406957" y="303327"/>
                  <a:pt x="5377923" y="332362"/>
                  <a:pt x="5342107" y="332362"/>
                </a:cubicBezTo>
                <a:lnTo>
                  <a:pt x="64850" y="332362"/>
                </a:lnTo>
                <a:cubicBezTo>
                  <a:pt x="29035" y="332362"/>
                  <a:pt x="0" y="303327"/>
                  <a:pt x="0" y="267511"/>
                </a:cubicBezTo>
                <a:lnTo>
                  <a:pt x="0" y="64850"/>
                </a:lnTo>
                <a:cubicBezTo>
                  <a:pt x="0" y="29058"/>
                  <a:pt x="29058" y="0"/>
                  <a:pt x="6485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9723" y="2991255"/>
            <a:ext cx="32425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94915" y="3007468"/>
            <a:ext cx="51070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利用可能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0851" y="3501957"/>
            <a:ext cx="5706894" cy="1280809"/>
          </a:xfrm>
          <a:custGeom>
            <a:avLst/>
            <a:gdLst/>
            <a:ahLst/>
            <a:cxnLst/>
            <a:rect l="l" t="t" r="r" b="b"/>
            <a:pathLst>
              <a:path w="5706894" h="1280809">
                <a:moveTo>
                  <a:pt x="97277" y="0"/>
                </a:moveTo>
                <a:lnTo>
                  <a:pt x="5609616" y="0"/>
                </a:lnTo>
                <a:cubicBezTo>
                  <a:pt x="5663341" y="0"/>
                  <a:pt x="5706894" y="43553"/>
                  <a:pt x="5706894" y="97277"/>
                </a:cubicBezTo>
                <a:lnTo>
                  <a:pt x="5706894" y="1183531"/>
                </a:lnTo>
                <a:cubicBezTo>
                  <a:pt x="5706894" y="1237256"/>
                  <a:pt x="5663341" y="1280809"/>
                  <a:pt x="5609616" y="1280809"/>
                </a:cubicBezTo>
                <a:lnTo>
                  <a:pt x="97277" y="1280809"/>
                </a:lnTo>
                <a:cubicBezTo>
                  <a:pt x="43553" y="1280809"/>
                  <a:pt x="0" y="1237256"/>
                  <a:pt x="0" y="1183531"/>
                </a:cubicBezTo>
                <a:lnTo>
                  <a:pt x="0" y="97277"/>
                </a:lnTo>
                <a:cubicBezTo>
                  <a:pt x="0" y="43553"/>
                  <a:pt x="43553" y="0"/>
                  <a:pt x="9727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6EBE"/>
              </a:gs>
              <a:gs pos="100000">
                <a:srgbClr val="0078D4"/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6302713" y="3647872"/>
            <a:ext cx="218872" cy="194553"/>
          </a:xfrm>
          <a:custGeom>
            <a:avLst/>
            <a:gdLst/>
            <a:ahLst/>
            <a:cxnLst/>
            <a:rect l="l" t="t" r="r" b="b"/>
            <a:pathLst>
              <a:path w="218872" h="194553">
                <a:moveTo>
                  <a:pt x="145915" y="54718"/>
                </a:moveTo>
                <a:cubicBezTo>
                  <a:pt x="145915" y="91653"/>
                  <a:pt x="113236" y="121596"/>
                  <a:pt x="72957" y="121596"/>
                </a:cubicBezTo>
                <a:cubicBezTo>
                  <a:pt x="62812" y="121596"/>
                  <a:pt x="53160" y="119696"/>
                  <a:pt x="44382" y="116276"/>
                </a:cubicBezTo>
                <a:lnTo>
                  <a:pt x="13376" y="132691"/>
                </a:lnTo>
                <a:cubicBezTo>
                  <a:pt x="9842" y="134553"/>
                  <a:pt x="5510" y="133907"/>
                  <a:pt x="2660" y="131095"/>
                </a:cubicBezTo>
                <a:cubicBezTo>
                  <a:pt x="-190" y="128284"/>
                  <a:pt x="-836" y="123914"/>
                  <a:pt x="1064" y="120380"/>
                </a:cubicBezTo>
                <a:lnTo>
                  <a:pt x="14591" y="94845"/>
                </a:lnTo>
                <a:cubicBezTo>
                  <a:pt x="5434" y="83673"/>
                  <a:pt x="0" y="69766"/>
                  <a:pt x="0" y="54718"/>
                </a:cubicBezTo>
                <a:cubicBezTo>
                  <a:pt x="0" y="17783"/>
                  <a:pt x="32679" y="-12160"/>
                  <a:pt x="72957" y="-12160"/>
                </a:cubicBezTo>
                <a:cubicBezTo>
                  <a:pt x="113236" y="-12160"/>
                  <a:pt x="145915" y="17783"/>
                  <a:pt x="145915" y="54718"/>
                </a:cubicBezTo>
                <a:close/>
                <a:moveTo>
                  <a:pt x="145915" y="194553"/>
                </a:moveTo>
                <a:cubicBezTo>
                  <a:pt x="110158" y="194553"/>
                  <a:pt x="80405" y="170956"/>
                  <a:pt x="74173" y="139835"/>
                </a:cubicBezTo>
                <a:cubicBezTo>
                  <a:pt x="119772" y="139265"/>
                  <a:pt x="159404" y="106814"/>
                  <a:pt x="163774" y="62812"/>
                </a:cubicBezTo>
                <a:cubicBezTo>
                  <a:pt x="195427" y="70108"/>
                  <a:pt x="218872" y="96365"/>
                  <a:pt x="218872" y="127676"/>
                </a:cubicBezTo>
                <a:cubicBezTo>
                  <a:pt x="218872" y="142723"/>
                  <a:pt x="213439" y="156631"/>
                  <a:pt x="204281" y="167802"/>
                </a:cubicBezTo>
                <a:lnTo>
                  <a:pt x="217808" y="193337"/>
                </a:lnTo>
                <a:cubicBezTo>
                  <a:pt x="219670" y="196871"/>
                  <a:pt x="219024" y="201203"/>
                  <a:pt x="216212" y="204053"/>
                </a:cubicBezTo>
                <a:cubicBezTo>
                  <a:pt x="213401" y="206903"/>
                  <a:pt x="209031" y="207549"/>
                  <a:pt x="205497" y="205649"/>
                </a:cubicBezTo>
                <a:lnTo>
                  <a:pt x="174490" y="189233"/>
                </a:lnTo>
                <a:cubicBezTo>
                  <a:pt x="165712" y="192653"/>
                  <a:pt x="156061" y="194553"/>
                  <a:pt x="145915" y="1945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631021" y="3631660"/>
            <a:ext cx="170234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通信コンプライアンス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90553" y="3955915"/>
            <a:ext cx="5512340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不適切または危険なやり取りや</a:t>
            </a:r>
            <a:pPr>
              <a:lnSpc>
                <a:spcPct val="140000"/>
              </a:lnSpc>
            </a:pPr>
            <a:r>
              <a:rPr lang="en-US" sz="1021" b="1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機密情報の共有を検出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90553" y="4263957"/>
            <a:ext cx="5447489" cy="389106"/>
          </a:xfrm>
          <a:custGeom>
            <a:avLst/>
            <a:gdLst/>
            <a:ahLst/>
            <a:cxnLst/>
            <a:rect l="l" t="t" r="r" b="b"/>
            <a:pathLst>
              <a:path w="5447489" h="389106">
                <a:moveTo>
                  <a:pt x="64852" y="0"/>
                </a:moveTo>
                <a:lnTo>
                  <a:pt x="5382637" y="0"/>
                </a:lnTo>
                <a:cubicBezTo>
                  <a:pt x="5418454" y="0"/>
                  <a:pt x="5447489" y="29035"/>
                  <a:pt x="5447489" y="64852"/>
                </a:cubicBezTo>
                <a:lnTo>
                  <a:pt x="5447489" y="324254"/>
                </a:lnTo>
                <a:cubicBezTo>
                  <a:pt x="5447489" y="360071"/>
                  <a:pt x="5418454" y="389106"/>
                  <a:pt x="5382637" y="389106"/>
                </a:cubicBezTo>
                <a:lnTo>
                  <a:pt x="64852" y="389106"/>
                </a:lnTo>
                <a:cubicBezTo>
                  <a:pt x="29035" y="389106"/>
                  <a:pt x="0" y="360071"/>
                  <a:pt x="0" y="324254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04043" y="4393660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0"/>
                </a:moveTo>
                <a:cubicBezTo>
                  <a:pt x="66016" y="0"/>
                  <a:pt x="67182" y="253"/>
                  <a:pt x="68246" y="735"/>
                </a:cubicBezTo>
                <a:lnTo>
                  <a:pt x="115972" y="20975"/>
                </a:lnTo>
                <a:cubicBezTo>
                  <a:pt x="121545" y="23331"/>
                  <a:pt x="125700" y="28828"/>
                  <a:pt x="125674" y="35465"/>
                </a:cubicBezTo>
                <a:cubicBezTo>
                  <a:pt x="125548" y="60595"/>
                  <a:pt x="115212" y="106574"/>
                  <a:pt x="71564" y="127473"/>
                </a:cubicBezTo>
                <a:cubicBezTo>
                  <a:pt x="67334" y="129499"/>
                  <a:pt x="62419" y="129499"/>
                  <a:pt x="58189" y="127473"/>
                </a:cubicBezTo>
                <a:cubicBezTo>
                  <a:pt x="14515" y="106574"/>
                  <a:pt x="4205" y="60595"/>
                  <a:pt x="4079" y="35465"/>
                </a:cubicBezTo>
                <a:cubicBezTo>
                  <a:pt x="4053" y="28828"/>
                  <a:pt x="8208" y="23331"/>
                  <a:pt x="13781" y="20975"/>
                </a:cubicBezTo>
                <a:lnTo>
                  <a:pt x="61482" y="735"/>
                </a:lnTo>
                <a:cubicBezTo>
                  <a:pt x="62546" y="253"/>
                  <a:pt x="63686" y="0"/>
                  <a:pt x="64851" y="0"/>
                </a:cubicBezTo>
                <a:close/>
                <a:moveTo>
                  <a:pt x="64851" y="16922"/>
                </a:moveTo>
                <a:lnTo>
                  <a:pt x="64851" y="112704"/>
                </a:lnTo>
                <a:cubicBezTo>
                  <a:pt x="99810" y="95782"/>
                  <a:pt x="109208" y="58290"/>
                  <a:pt x="109436" y="35845"/>
                </a:cubicBezTo>
                <a:lnTo>
                  <a:pt x="64851" y="16947"/>
                </a:lnTo>
                <a:lnTo>
                  <a:pt x="64851" y="16947"/>
                </a:ln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591352" y="4361234"/>
            <a:ext cx="511426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プロンプトインジェクション（脱獄攻撃）対策</a:t>
            </a:r>
            <a:pPr>
              <a:lnSpc>
                <a:spcPct val="130000"/>
              </a:lnSpc>
            </a:pPr>
            <a:r>
              <a:rPr lang="en-US" sz="102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も含む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68957" y="4888149"/>
            <a:ext cx="5690681" cy="1637489"/>
          </a:xfrm>
          <a:custGeom>
            <a:avLst/>
            <a:gdLst/>
            <a:ahLst/>
            <a:cxnLst/>
            <a:rect l="l" t="t" r="r" b="b"/>
            <a:pathLst>
              <a:path w="5690681" h="1637489">
                <a:moveTo>
                  <a:pt x="97283" y="0"/>
                </a:moveTo>
                <a:lnTo>
                  <a:pt x="5593398" y="0"/>
                </a:lnTo>
                <a:cubicBezTo>
                  <a:pt x="5647126" y="0"/>
                  <a:pt x="5690681" y="43555"/>
                  <a:pt x="5690681" y="97283"/>
                </a:cubicBezTo>
                <a:lnTo>
                  <a:pt x="5690681" y="1540206"/>
                </a:lnTo>
                <a:cubicBezTo>
                  <a:pt x="5690681" y="1593934"/>
                  <a:pt x="5647126" y="1637489"/>
                  <a:pt x="5593398" y="1637489"/>
                </a:cubicBezTo>
                <a:lnTo>
                  <a:pt x="97283" y="1637489"/>
                </a:lnTo>
                <a:cubicBezTo>
                  <a:pt x="43555" y="1637489"/>
                  <a:pt x="0" y="1593934"/>
                  <a:pt x="0" y="1540206"/>
                </a:cubicBezTo>
                <a:lnTo>
                  <a:pt x="0" y="97283"/>
                </a:lnTo>
                <a:cubicBezTo>
                  <a:pt x="0" y="43591"/>
                  <a:pt x="43591" y="0"/>
                  <a:pt x="97283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032" y="5066489"/>
            <a:ext cx="145915" cy="145915"/>
          </a:xfrm>
          <a:custGeom>
            <a:avLst/>
            <a:gdLst/>
            <a:ahLst/>
            <a:cxnLst/>
            <a:rect l="l" t="t" r="r" b="b"/>
            <a:pathLst>
              <a:path w="145915" h="145915">
                <a:moveTo>
                  <a:pt x="72957" y="145915"/>
                </a:moveTo>
                <a:cubicBezTo>
                  <a:pt x="113224" y="145915"/>
                  <a:pt x="145915" y="113224"/>
                  <a:pt x="145915" y="72957"/>
                </a:cubicBezTo>
                <a:cubicBezTo>
                  <a:pt x="145915" y="32691"/>
                  <a:pt x="113224" y="0"/>
                  <a:pt x="72957" y="0"/>
                </a:cubicBezTo>
                <a:cubicBezTo>
                  <a:pt x="32691" y="0"/>
                  <a:pt x="0" y="32691"/>
                  <a:pt x="0" y="72957"/>
                </a:cubicBezTo>
                <a:cubicBezTo>
                  <a:pt x="0" y="113224"/>
                  <a:pt x="32691" y="145915"/>
                  <a:pt x="72957" y="145915"/>
                </a:cubicBezTo>
                <a:close/>
                <a:moveTo>
                  <a:pt x="63838" y="45598"/>
                </a:moveTo>
                <a:cubicBezTo>
                  <a:pt x="63838" y="40565"/>
                  <a:pt x="67924" y="36479"/>
                  <a:pt x="72957" y="36479"/>
                </a:cubicBezTo>
                <a:cubicBezTo>
                  <a:pt x="77991" y="36479"/>
                  <a:pt x="82077" y="40565"/>
                  <a:pt x="82077" y="45598"/>
                </a:cubicBezTo>
                <a:cubicBezTo>
                  <a:pt x="82077" y="50632"/>
                  <a:pt x="77991" y="54718"/>
                  <a:pt x="72957" y="54718"/>
                </a:cubicBezTo>
                <a:cubicBezTo>
                  <a:pt x="67924" y="54718"/>
                  <a:pt x="63838" y="50632"/>
                  <a:pt x="63838" y="45598"/>
                </a:cubicBezTo>
                <a:close/>
                <a:moveTo>
                  <a:pt x="61558" y="63838"/>
                </a:moveTo>
                <a:lnTo>
                  <a:pt x="75237" y="63838"/>
                </a:lnTo>
                <a:cubicBezTo>
                  <a:pt x="79028" y="63838"/>
                  <a:pt x="82077" y="66887"/>
                  <a:pt x="82077" y="70678"/>
                </a:cubicBezTo>
                <a:lnTo>
                  <a:pt x="82077" y="95757"/>
                </a:lnTo>
                <a:lnTo>
                  <a:pt x="84357" y="95757"/>
                </a:lnTo>
                <a:cubicBezTo>
                  <a:pt x="88147" y="95757"/>
                  <a:pt x="91197" y="98806"/>
                  <a:pt x="91197" y="102596"/>
                </a:cubicBezTo>
                <a:cubicBezTo>
                  <a:pt x="91197" y="106387"/>
                  <a:pt x="88147" y="109436"/>
                  <a:pt x="84357" y="109436"/>
                </a:cubicBezTo>
                <a:lnTo>
                  <a:pt x="61558" y="109436"/>
                </a:lnTo>
                <a:cubicBezTo>
                  <a:pt x="57767" y="109436"/>
                  <a:pt x="54718" y="106387"/>
                  <a:pt x="54718" y="102596"/>
                </a:cubicBezTo>
                <a:cubicBezTo>
                  <a:pt x="54718" y="98806"/>
                  <a:pt x="57767" y="95757"/>
                  <a:pt x="61558" y="95757"/>
                </a:cubicBezTo>
                <a:lnTo>
                  <a:pt x="68398" y="95757"/>
                </a:lnTo>
                <a:lnTo>
                  <a:pt x="68398" y="77517"/>
                </a:lnTo>
                <a:lnTo>
                  <a:pt x="61558" y="77517"/>
                </a:lnTo>
                <a:cubicBezTo>
                  <a:pt x="57767" y="77517"/>
                  <a:pt x="54718" y="74468"/>
                  <a:pt x="54718" y="70678"/>
                </a:cubicBezTo>
                <a:cubicBezTo>
                  <a:pt x="54718" y="66887"/>
                  <a:pt x="57767" y="63838"/>
                  <a:pt x="61558" y="63838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5" name="Text 53"/>
          <p:cNvSpPr/>
          <p:nvPr/>
        </p:nvSpPr>
        <p:spPr>
          <a:xfrm>
            <a:off x="6493213" y="5025957"/>
            <a:ext cx="530157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Purviewの統合機能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06766" y="5350213"/>
            <a:ext cx="2675106" cy="486383"/>
          </a:xfrm>
          <a:custGeom>
            <a:avLst/>
            <a:gdLst/>
            <a:ahLst/>
            <a:cxnLst/>
            <a:rect l="l" t="t" r="r" b="b"/>
            <a:pathLst>
              <a:path w="2675106" h="486383">
                <a:moveTo>
                  <a:pt x="64849" y="0"/>
                </a:moveTo>
                <a:lnTo>
                  <a:pt x="2610257" y="0"/>
                </a:lnTo>
                <a:cubicBezTo>
                  <a:pt x="2646072" y="0"/>
                  <a:pt x="2675106" y="29034"/>
                  <a:pt x="2675106" y="64849"/>
                </a:cubicBezTo>
                <a:lnTo>
                  <a:pt x="2675106" y="421534"/>
                </a:lnTo>
                <a:cubicBezTo>
                  <a:pt x="2675106" y="457349"/>
                  <a:pt x="2646072" y="486383"/>
                  <a:pt x="2610257" y="486383"/>
                </a:cubicBezTo>
                <a:lnTo>
                  <a:pt x="64849" y="486383"/>
                </a:lnTo>
                <a:cubicBezTo>
                  <a:pt x="29058" y="486383"/>
                  <a:pt x="0" y="457325"/>
                  <a:pt x="0" y="421534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7563255" y="5415064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131729" y="65864"/>
                </a:moveTo>
                <a:cubicBezTo>
                  <a:pt x="131729" y="80399"/>
                  <a:pt x="127011" y="93825"/>
                  <a:pt x="119063" y="104718"/>
                </a:cubicBezTo>
                <a:lnTo>
                  <a:pt x="159151" y="144838"/>
                </a:lnTo>
                <a:cubicBezTo>
                  <a:pt x="163109" y="148796"/>
                  <a:pt x="163109" y="155225"/>
                  <a:pt x="159151" y="159183"/>
                </a:cubicBezTo>
                <a:cubicBezTo>
                  <a:pt x="155193" y="163141"/>
                  <a:pt x="148765" y="163141"/>
                  <a:pt x="144807" y="159183"/>
                </a:cubicBezTo>
                <a:lnTo>
                  <a:pt x="104718" y="119063"/>
                </a:lnTo>
                <a:cubicBezTo>
                  <a:pt x="93825" y="127011"/>
                  <a:pt x="80399" y="131729"/>
                  <a:pt x="65864" y="131729"/>
                </a:cubicBezTo>
                <a:cubicBezTo>
                  <a:pt x="29481" y="131729"/>
                  <a:pt x="0" y="102248"/>
                  <a:pt x="0" y="65864"/>
                </a:cubicBezTo>
                <a:cubicBezTo>
                  <a:pt x="0" y="29481"/>
                  <a:pt x="29481" y="0"/>
                  <a:pt x="65864" y="0"/>
                </a:cubicBezTo>
                <a:cubicBezTo>
                  <a:pt x="102248" y="0"/>
                  <a:pt x="131729" y="29481"/>
                  <a:pt x="131729" y="65864"/>
                </a:cubicBezTo>
                <a:close/>
                <a:moveTo>
                  <a:pt x="65864" y="111463"/>
                </a:moveTo>
                <a:cubicBezTo>
                  <a:pt x="91031" y="111463"/>
                  <a:pt x="111463" y="91031"/>
                  <a:pt x="111463" y="65864"/>
                </a:cubicBezTo>
                <a:cubicBezTo>
                  <a:pt x="111463" y="40698"/>
                  <a:pt x="91031" y="20266"/>
                  <a:pt x="65864" y="20266"/>
                </a:cubicBezTo>
                <a:cubicBezTo>
                  <a:pt x="40698" y="20266"/>
                  <a:pt x="20266" y="40698"/>
                  <a:pt x="20266" y="65864"/>
                </a:cubicBezTo>
                <a:cubicBezTo>
                  <a:pt x="20266" y="91031"/>
                  <a:pt x="40698" y="111463"/>
                  <a:pt x="65864" y="111463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8" name="Text 56"/>
          <p:cNvSpPr/>
          <p:nvPr/>
        </p:nvSpPr>
        <p:spPr>
          <a:xfrm>
            <a:off x="6343245" y="5609617"/>
            <a:ext cx="2602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コンテンツ検索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46723" y="5350213"/>
            <a:ext cx="2675106" cy="486383"/>
          </a:xfrm>
          <a:custGeom>
            <a:avLst/>
            <a:gdLst/>
            <a:ahLst/>
            <a:cxnLst/>
            <a:rect l="l" t="t" r="r" b="b"/>
            <a:pathLst>
              <a:path w="2675106" h="486383">
                <a:moveTo>
                  <a:pt x="64849" y="0"/>
                </a:moveTo>
                <a:lnTo>
                  <a:pt x="2610257" y="0"/>
                </a:lnTo>
                <a:cubicBezTo>
                  <a:pt x="2646072" y="0"/>
                  <a:pt x="2675106" y="29034"/>
                  <a:pt x="2675106" y="64849"/>
                </a:cubicBezTo>
                <a:lnTo>
                  <a:pt x="2675106" y="421534"/>
                </a:lnTo>
                <a:cubicBezTo>
                  <a:pt x="2675106" y="457349"/>
                  <a:pt x="2646072" y="486383"/>
                  <a:pt x="2610257" y="486383"/>
                </a:cubicBezTo>
                <a:lnTo>
                  <a:pt x="64849" y="486383"/>
                </a:lnTo>
                <a:cubicBezTo>
                  <a:pt x="29058" y="486383"/>
                  <a:pt x="0" y="457325"/>
                  <a:pt x="0" y="421534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10293080" y="5415064"/>
            <a:ext cx="182394" cy="162128"/>
          </a:xfrm>
          <a:custGeom>
            <a:avLst/>
            <a:gdLst/>
            <a:ahLst/>
            <a:cxnLst/>
            <a:rect l="l" t="t" r="r" b="b"/>
            <a:pathLst>
              <a:path w="182394" h="162128">
                <a:moveTo>
                  <a:pt x="53705" y="48575"/>
                </a:moveTo>
                <a:lnTo>
                  <a:pt x="47783" y="42654"/>
                </a:lnTo>
                <a:cubicBezTo>
                  <a:pt x="43825" y="38695"/>
                  <a:pt x="43825" y="32267"/>
                  <a:pt x="47783" y="28309"/>
                </a:cubicBezTo>
                <a:lnTo>
                  <a:pt x="84104" y="-8043"/>
                </a:lnTo>
                <a:cubicBezTo>
                  <a:pt x="88062" y="-12001"/>
                  <a:pt x="94490" y="-12001"/>
                  <a:pt x="98448" y="-8043"/>
                </a:cubicBezTo>
                <a:lnTo>
                  <a:pt x="104370" y="-2090"/>
                </a:lnTo>
                <a:cubicBezTo>
                  <a:pt x="108328" y="1868"/>
                  <a:pt x="108328" y="8296"/>
                  <a:pt x="104370" y="12255"/>
                </a:cubicBezTo>
                <a:lnTo>
                  <a:pt x="68049" y="48575"/>
                </a:lnTo>
                <a:cubicBezTo>
                  <a:pt x="64091" y="52533"/>
                  <a:pt x="57663" y="52533"/>
                  <a:pt x="53705" y="48575"/>
                </a:cubicBezTo>
                <a:close/>
                <a:moveTo>
                  <a:pt x="87397" y="67036"/>
                </a:moveTo>
                <a:lnTo>
                  <a:pt x="77454" y="57093"/>
                </a:lnTo>
                <a:lnTo>
                  <a:pt x="112919" y="21628"/>
                </a:lnTo>
                <a:lnTo>
                  <a:pt x="150728" y="59436"/>
                </a:lnTo>
                <a:lnTo>
                  <a:pt x="115263" y="94902"/>
                </a:lnTo>
                <a:lnTo>
                  <a:pt x="105320" y="84959"/>
                </a:lnTo>
                <a:lnTo>
                  <a:pt x="31856" y="158423"/>
                </a:lnTo>
                <a:cubicBezTo>
                  <a:pt x="26916" y="163363"/>
                  <a:pt x="18904" y="163363"/>
                  <a:pt x="13933" y="158423"/>
                </a:cubicBezTo>
                <a:cubicBezTo>
                  <a:pt x="8961" y="153483"/>
                  <a:pt x="8993" y="145472"/>
                  <a:pt x="13933" y="140500"/>
                </a:cubicBezTo>
                <a:lnTo>
                  <a:pt x="87397" y="67036"/>
                </a:lnTo>
                <a:close/>
                <a:moveTo>
                  <a:pt x="123781" y="118619"/>
                </a:moveTo>
                <a:cubicBezTo>
                  <a:pt x="119822" y="114661"/>
                  <a:pt x="119822" y="108233"/>
                  <a:pt x="123781" y="104275"/>
                </a:cubicBezTo>
                <a:lnTo>
                  <a:pt x="160101" y="67954"/>
                </a:lnTo>
                <a:cubicBezTo>
                  <a:pt x="164059" y="63996"/>
                  <a:pt x="170487" y="63996"/>
                  <a:pt x="174446" y="67954"/>
                </a:cubicBezTo>
                <a:lnTo>
                  <a:pt x="180367" y="73876"/>
                </a:lnTo>
                <a:cubicBezTo>
                  <a:pt x="184325" y="77834"/>
                  <a:pt x="184325" y="84262"/>
                  <a:pt x="180367" y="88220"/>
                </a:cubicBezTo>
                <a:lnTo>
                  <a:pt x="144047" y="124572"/>
                </a:lnTo>
                <a:cubicBezTo>
                  <a:pt x="140088" y="128531"/>
                  <a:pt x="133660" y="128531"/>
                  <a:pt x="129702" y="124572"/>
                </a:cubicBezTo>
                <a:lnTo>
                  <a:pt x="123781" y="118651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61" name="Text 59"/>
          <p:cNvSpPr/>
          <p:nvPr/>
        </p:nvSpPr>
        <p:spPr>
          <a:xfrm>
            <a:off x="9083202" y="5609617"/>
            <a:ext cx="2602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電子情報開示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06766" y="5901447"/>
            <a:ext cx="2675106" cy="486383"/>
          </a:xfrm>
          <a:custGeom>
            <a:avLst/>
            <a:gdLst/>
            <a:ahLst/>
            <a:cxnLst/>
            <a:rect l="l" t="t" r="r" b="b"/>
            <a:pathLst>
              <a:path w="2675106" h="486383">
                <a:moveTo>
                  <a:pt x="64849" y="0"/>
                </a:moveTo>
                <a:lnTo>
                  <a:pt x="2610257" y="0"/>
                </a:lnTo>
                <a:cubicBezTo>
                  <a:pt x="2646072" y="0"/>
                  <a:pt x="2675106" y="29034"/>
                  <a:pt x="2675106" y="64849"/>
                </a:cubicBezTo>
                <a:lnTo>
                  <a:pt x="2675106" y="421534"/>
                </a:lnTo>
                <a:cubicBezTo>
                  <a:pt x="2675106" y="457349"/>
                  <a:pt x="2646072" y="486383"/>
                  <a:pt x="2610257" y="486383"/>
                </a:cubicBezTo>
                <a:lnTo>
                  <a:pt x="64849" y="486383"/>
                </a:lnTo>
                <a:cubicBezTo>
                  <a:pt x="29058" y="486383"/>
                  <a:pt x="0" y="457325"/>
                  <a:pt x="0" y="421534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7563255" y="5966298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0" y="20266"/>
                </a:moveTo>
                <a:cubicBezTo>
                  <a:pt x="0" y="14661"/>
                  <a:pt x="4528" y="10133"/>
                  <a:pt x="10133" y="10133"/>
                </a:cubicBezTo>
                <a:lnTo>
                  <a:pt x="151995" y="10133"/>
                </a:lnTo>
                <a:cubicBezTo>
                  <a:pt x="157599" y="10133"/>
                  <a:pt x="162128" y="14661"/>
                  <a:pt x="162128" y="20266"/>
                </a:cubicBezTo>
                <a:lnTo>
                  <a:pt x="162128" y="30399"/>
                </a:lnTo>
                <a:cubicBezTo>
                  <a:pt x="162128" y="36004"/>
                  <a:pt x="157599" y="40532"/>
                  <a:pt x="151995" y="40532"/>
                </a:cubicBezTo>
                <a:lnTo>
                  <a:pt x="10133" y="40532"/>
                </a:lnTo>
                <a:cubicBezTo>
                  <a:pt x="4528" y="40532"/>
                  <a:pt x="0" y="36004"/>
                  <a:pt x="0" y="30399"/>
                </a:cubicBezTo>
                <a:lnTo>
                  <a:pt x="0" y="20266"/>
                </a:lnTo>
                <a:close/>
                <a:moveTo>
                  <a:pt x="10133" y="55731"/>
                </a:moveTo>
                <a:lnTo>
                  <a:pt x="151995" y="55731"/>
                </a:lnTo>
                <a:lnTo>
                  <a:pt x="151995" y="131729"/>
                </a:lnTo>
                <a:cubicBezTo>
                  <a:pt x="151995" y="142907"/>
                  <a:pt x="142907" y="151995"/>
                  <a:pt x="131729" y="151995"/>
                </a:cubicBezTo>
                <a:lnTo>
                  <a:pt x="30399" y="151995"/>
                </a:lnTo>
                <a:cubicBezTo>
                  <a:pt x="19221" y="151995"/>
                  <a:pt x="10133" y="142907"/>
                  <a:pt x="10133" y="131729"/>
                </a:cubicBezTo>
                <a:lnTo>
                  <a:pt x="10133" y="55731"/>
                </a:lnTo>
                <a:close/>
                <a:moveTo>
                  <a:pt x="58265" y="75997"/>
                </a:moveTo>
                <a:cubicBezTo>
                  <a:pt x="54053" y="75997"/>
                  <a:pt x="50665" y="79386"/>
                  <a:pt x="50665" y="83597"/>
                </a:cubicBezTo>
                <a:cubicBezTo>
                  <a:pt x="50665" y="87809"/>
                  <a:pt x="54053" y="91197"/>
                  <a:pt x="58265" y="91197"/>
                </a:cubicBezTo>
                <a:lnTo>
                  <a:pt x="103863" y="91197"/>
                </a:lnTo>
                <a:cubicBezTo>
                  <a:pt x="108075" y="91197"/>
                  <a:pt x="111463" y="87809"/>
                  <a:pt x="111463" y="83597"/>
                </a:cubicBezTo>
                <a:cubicBezTo>
                  <a:pt x="111463" y="79386"/>
                  <a:pt x="108075" y="75997"/>
                  <a:pt x="103863" y="75997"/>
                </a:cubicBezTo>
                <a:lnTo>
                  <a:pt x="58265" y="75997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64" name="Text 62"/>
          <p:cNvSpPr/>
          <p:nvPr/>
        </p:nvSpPr>
        <p:spPr>
          <a:xfrm>
            <a:off x="6343245" y="6160851"/>
            <a:ext cx="2602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保持ポリシー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46723" y="5901447"/>
            <a:ext cx="2675106" cy="486383"/>
          </a:xfrm>
          <a:custGeom>
            <a:avLst/>
            <a:gdLst/>
            <a:ahLst/>
            <a:cxnLst/>
            <a:rect l="l" t="t" r="r" b="b"/>
            <a:pathLst>
              <a:path w="2675106" h="486383">
                <a:moveTo>
                  <a:pt x="64849" y="0"/>
                </a:moveTo>
                <a:lnTo>
                  <a:pt x="2610257" y="0"/>
                </a:lnTo>
                <a:cubicBezTo>
                  <a:pt x="2646072" y="0"/>
                  <a:pt x="2675106" y="29034"/>
                  <a:pt x="2675106" y="64849"/>
                </a:cubicBezTo>
                <a:lnTo>
                  <a:pt x="2675106" y="421534"/>
                </a:lnTo>
                <a:cubicBezTo>
                  <a:pt x="2675106" y="457349"/>
                  <a:pt x="2646072" y="486383"/>
                  <a:pt x="2610257" y="486383"/>
                </a:cubicBezTo>
                <a:lnTo>
                  <a:pt x="64849" y="486383"/>
                </a:lnTo>
                <a:cubicBezTo>
                  <a:pt x="29058" y="486383"/>
                  <a:pt x="0" y="457325"/>
                  <a:pt x="0" y="421534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03213" y="5966298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81064" y="162128"/>
                </a:moveTo>
                <a:cubicBezTo>
                  <a:pt x="125804" y="162128"/>
                  <a:pt x="162128" y="125804"/>
                  <a:pt x="162128" y="81064"/>
                </a:cubicBezTo>
                <a:cubicBezTo>
                  <a:pt x="162128" y="36323"/>
                  <a:pt x="125804" y="0"/>
                  <a:pt x="81064" y="0"/>
                </a:cubicBezTo>
                <a:cubicBezTo>
                  <a:pt x="36323" y="0"/>
                  <a:pt x="0" y="36323"/>
                  <a:pt x="0" y="81064"/>
                </a:cubicBezTo>
                <a:cubicBezTo>
                  <a:pt x="0" y="125804"/>
                  <a:pt x="36323" y="162128"/>
                  <a:pt x="81064" y="162128"/>
                </a:cubicBezTo>
                <a:close/>
                <a:moveTo>
                  <a:pt x="81064" y="43065"/>
                </a:moveTo>
                <a:cubicBezTo>
                  <a:pt x="85275" y="43065"/>
                  <a:pt x="88664" y="46453"/>
                  <a:pt x="88664" y="50665"/>
                </a:cubicBezTo>
                <a:lnTo>
                  <a:pt x="88664" y="86130"/>
                </a:lnTo>
                <a:cubicBezTo>
                  <a:pt x="88664" y="90342"/>
                  <a:pt x="85275" y="93730"/>
                  <a:pt x="81064" y="93730"/>
                </a:cubicBezTo>
                <a:cubicBezTo>
                  <a:pt x="76852" y="93730"/>
                  <a:pt x="73464" y="90342"/>
                  <a:pt x="73464" y="86130"/>
                </a:cubicBezTo>
                <a:lnTo>
                  <a:pt x="73464" y="50665"/>
                </a:lnTo>
                <a:cubicBezTo>
                  <a:pt x="73464" y="46453"/>
                  <a:pt x="76852" y="43065"/>
                  <a:pt x="81064" y="43065"/>
                </a:cubicBezTo>
                <a:close/>
                <a:moveTo>
                  <a:pt x="72609" y="111463"/>
                </a:moveTo>
                <a:cubicBezTo>
                  <a:pt x="72417" y="108324"/>
                  <a:pt x="73982" y="105339"/>
                  <a:pt x="76672" y="103711"/>
                </a:cubicBezTo>
                <a:cubicBezTo>
                  <a:pt x="79362" y="102084"/>
                  <a:pt x="82734" y="102084"/>
                  <a:pt x="85424" y="103711"/>
                </a:cubicBezTo>
                <a:cubicBezTo>
                  <a:pt x="88114" y="105339"/>
                  <a:pt x="89679" y="108324"/>
                  <a:pt x="89487" y="111463"/>
                </a:cubicBezTo>
                <a:cubicBezTo>
                  <a:pt x="89679" y="114601"/>
                  <a:pt x="88114" y="117587"/>
                  <a:pt x="85424" y="119214"/>
                </a:cubicBezTo>
                <a:cubicBezTo>
                  <a:pt x="82734" y="120841"/>
                  <a:pt x="79362" y="120841"/>
                  <a:pt x="76672" y="119214"/>
                </a:cubicBezTo>
                <a:cubicBezTo>
                  <a:pt x="73982" y="117587"/>
                  <a:pt x="72417" y="114601"/>
                  <a:pt x="72609" y="111463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67" name="Text 65"/>
          <p:cNvSpPr/>
          <p:nvPr/>
        </p:nvSpPr>
        <p:spPr>
          <a:xfrm>
            <a:off x="9083202" y="6160851"/>
            <a:ext cx="2602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インサイダーリスク管理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753" y="322753"/>
            <a:ext cx="1161104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spc="51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2753" y="580956"/>
            <a:ext cx="1169173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効率的な質問方法（プロンプト設計）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2753" y="968259"/>
            <a:ext cx="11619113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安全で高品質な回答を得るための4要素フレームワーク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2753" y="1323288"/>
            <a:ext cx="5712731" cy="2081758"/>
          </a:xfrm>
          <a:custGeom>
            <a:avLst/>
            <a:gdLst/>
            <a:ahLst/>
            <a:cxnLst/>
            <a:rect l="l" t="t" r="r" b="b"/>
            <a:pathLst>
              <a:path w="5712731" h="2081758">
                <a:moveTo>
                  <a:pt x="96823" y="0"/>
                </a:moveTo>
                <a:lnTo>
                  <a:pt x="5615908" y="0"/>
                </a:lnTo>
                <a:cubicBezTo>
                  <a:pt x="5669382" y="0"/>
                  <a:pt x="5712731" y="43349"/>
                  <a:pt x="5712731" y="96823"/>
                </a:cubicBezTo>
                <a:lnTo>
                  <a:pt x="5712731" y="1984935"/>
                </a:lnTo>
                <a:cubicBezTo>
                  <a:pt x="5712731" y="2038409"/>
                  <a:pt x="5669382" y="2081758"/>
                  <a:pt x="5615908" y="2081758"/>
                </a:cubicBezTo>
                <a:lnTo>
                  <a:pt x="96823" y="2081758"/>
                </a:lnTo>
                <a:cubicBezTo>
                  <a:pt x="43349" y="2081758"/>
                  <a:pt x="0" y="2038409"/>
                  <a:pt x="0" y="1984935"/>
                </a:cubicBezTo>
                <a:lnTo>
                  <a:pt x="0" y="96823"/>
                </a:lnTo>
                <a:cubicBezTo>
                  <a:pt x="0" y="43349"/>
                  <a:pt x="43349" y="0"/>
                  <a:pt x="9682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/>
              </a:gs>
              <a:gs pos="100000">
                <a:srgbClr val="106EBE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51854" y="1452389"/>
            <a:ext cx="387304" cy="387304"/>
          </a:xfrm>
          <a:custGeom>
            <a:avLst/>
            <a:gdLst/>
            <a:ahLst/>
            <a:cxnLst/>
            <a:rect l="l" t="t" r="r" b="b"/>
            <a:pathLst>
              <a:path w="387304" h="387304">
                <a:moveTo>
                  <a:pt x="193652" y="0"/>
                </a:moveTo>
                <a:lnTo>
                  <a:pt x="193652" y="0"/>
                </a:lnTo>
                <a:cubicBezTo>
                  <a:pt x="300531" y="0"/>
                  <a:pt x="387304" y="86773"/>
                  <a:pt x="387304" y="193652"/>
                </a:cubicBezTo>
                <a:lnTo>
                  <a:pt x="387304" y="193652"/>
                </a:lnTo>
                <a:cubicBezTo>
                  <a:pt x="387304" y="300531"/>
                  <a:pt x="300531" y="387304"/>
                  <a:pt x="193652" y="387304"/>
                </a:cubicBezTo>
                <a:lnTo>
                  <a:pt x="193652" y="387304"/>
                </a:lnTo>
                <a:cubicBezTo>
                  <a:pt x="86773" y="387304"/>
                  <a:pt x="0" y="300531"/>
                  <a:pt x="0" y="193652"/>
                </a:cubicBezTo>
                <a:lnTo>
                  <a:pt x="0" y="193652"/>
                </a:lnTo>
                <a:cubicBezTo>
                  <a:pt x="0" y="86773"/>
                  <a:pt x="86773" y="0"/>
                  <a:pt x="1936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03441" y="1452389"/>
            <a:ext cx="484130" cy="38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5984" y="1516940"/>
            <a:ext cx="1274875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Goal（目的）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1854" y="1920381"/>
            <a:ext cx="1549215" cy="242065"/>
          </a:xfrm>
          <a:custGeom>
            <a:avLst/>
            <a:gdLst/>
            <a:ahLst/>
            <a:cxnLst/>
            <a:rect l="l" t="t" r="r" b="b"/>
            <a:pathLst>
              <a:path w="1549215" h="242065">
                <a:moveTo>
                  <a:pt x="32275" y="0"/>
                </a:moveTo>
                <a:lnTo>
                  <a:pt x="1516941" y="0"/>
                </a:lnTo>
                <a:cubicBezTo>
                  <a:pt x="1534765" y="0"/>
                  <a:pt x="1549215" y="14450"/>
                  <a:pt x="1549215" y="32275"/>
                </a:cubicBezTo>
                <a:lnTo>
                  <a:pt x="1549215" y="209790"/>
                </a:lnTo>
                <a:cubicBezTo>
                  <a:pt x="1549215" y="227615"/>
                  <a:pt x="1534765" y="242065"/>
                  <a:pt x="1516941" y="242065"/>
                </a:cubicBezTo>
                <a:lnTo>
                  <a:pt x="32275" y="242065"/>
                </a:lnTo>
                <a:cubicBezTo>
                  <a:pt x="14450" y="242065"/>
                  <a:pt x="0" y="227615"/>
                  <a:pt x="0" y="209790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1854" y="1920381"/>
            <a:ext cx="1613766" cy="242065"/>
          </a:xfrm>
          <a:prstGeom prst="rect">
            <a:avLst/>
          </a:prstGeom>
          <a:noFill/>
          <a:ln/>
        </p:spPr>
        <p:txBody>
          <a:bodyPr wrap="square" lIns="64551" tIns="32275" rIns="64551" bIns="32275" rtlCol="0" anchor="ctr"/>
          <a:lstStyle/>
          <a:p>
            <a:pPr>
              <a:lnSpc>
                <a:spcPct val="140000"/>
              </a:lnSpc>
            </a:pPr>
            <a:r>
              <a:rPr lang="en-US" sz="1017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何を作りたいかを明確化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1854" y="2243134"/>
            <a:ext cx="5454528" cy="1032810"/>
          </a:xfrm>
          <a:custGeom>
            <a:avLst/>
            <a:gdLst/>
            <a:ahLst/>
            <a:cxnLst/>
            <a:rect l="l" t="t" r="r" b="b"/>
            <a:pathLst>
              <a:path w="5454528" h="1032810">
                <a:moveTo>
                  <a:pt x="64551" y="0"/>
                </a:moveTo>
                <a:lnTo>
                  <a:pt x="5389977" y="0"/>
                </a:lnTo>
                <a:cubicBezTo>
                  <a:pt x="5425628" y="0"/>
                  <a:pt x="5454528" y="28900"/>
                  <a:pt x="5454528" y="64551"/>
                </a:cubicBezTo>
                <a:lnTo>
                  <a:pt x="5454528" y="968259"/>
                </a:lnTo>
                <a:cubicBezTo>
                  <a:pt x="5454528" y="1003910"/>
                  <a:pt x="5425628" y="1032810"/>
                  <a:pt x="5389977" y="1032810"/>
                </a:cubicBezTo>
                <a:lnTo>
                  <a:pt x="64551" y="1032810"/>
                </a:lnTo>
                <a:cubicBezTo>
                  <a:pt x="28900" y="1032810"/>
                  <a:pt x="0" y="1003910"/>
                  <a:pt x="0" y="968259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80" y="2339960"/>
            <a:ext cx="5325427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実践例：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80" y="2598163"/>
            <a:ext cx="5325427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「～を作成したい」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80" y="2791815"/>
            <a:ext cx="5325427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「～を分析したい」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80" y="2985467"/>
            <a:ext cx="5325427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「～を比較したい」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0822" y="3509940"/>
            <a:ext cx="5696593" cy="2097895"/>
          </a:xfrm>
          <a:custGeom>
            <a:avLst/>
            <a:gdLst/>
            <a:ahLst/>
            <a:cxnLst/>
            <a:rect l="l" t="t" r="r" b="b"/>
            <a:pathLst>
              <a:path w="5696593" h="2097895">
                <a:moveTo>
                  <a:pt x="96818" y="0"/>
                </a:moveTo>
                <a:lnTo>
                  <a:pt x="5599775" y="0"/>
                </a:lnTo>
                <a:cubicBezTo>
                  <a:pt x="5653246" y="0"/>
                  <a:pt x="5696593" y="43347"/>
                  <a:pt x="5696593" y="96818"/>
                </a:cubicBezTo>
                <a:lnTo>
                  <a:pt x="5696593" y="2001078"/>
                </a:lnTo>
                <a:cubicBezTo>
                  <a:pt x="5696593" y="2054549"/>
                  <a:pt x="5653246" y="2097895"/>
                  <a:pt x="5599775" y="2097895"/>
                </a:cubicBezTo>
                <a:lnTo>
                  <a:pt x="96818" y="2097895"/>
                </a:lnTo>
                <a:cubicBezTo>
                  <a:pt x="43347" y="2097895"/>
                  <a:pt x="0" y="2054549"/>
                  <a:pt x="0" y="2001078"/>
                </a:cubicBezTo>
                <a:lnTo>
                  <a:pt x="0" y="96818"/>
                </a:lnTo>
                <a:cubicBezTo>
                  <a:pt x="0" y="43383"/>
                  <a:pt x="43383" y="0"/>
                  <a:pt x="9681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992" y="3647111"/>
            <a:ext cx="387304" cy="387304"/>
          </a:xfrm>
          <a:custGeom>
            <a:avLst/>
            <a:gdLst/>
            <a:ahLst/>
            <a:cxnLst/>
            <a:rect l="l" t="t" r="r" b="b"/>
            <a:pathLst>
              <a:path w="387304" h="387304">
                <a:moveTo>
                  <a:pt x="193652" y="0"/>
                </a:moveTo>
                <a:lnTo>
                  <a:pt x="193652" y="0"/>
                </a:lnTo>
                <a:cubicBezTo>
                  <a:pt x="300531" y="0"/>
                  <a:pt x="387304" y="86773"/>
                  <a:pt x="387304" y="193652"/>
                </a:cubicBezTo>
                <a:lnTo>
                  <a:pt x="387304" y="193652"/>
                </a:lnTo>
                <a:cubicBezTo>
                  <a:pt x="387304" y="300531"/>
                  <a:pt x="300531" y="387304"/>
                  <a:pt x="193652" y="387304"/>
                </a:cubicBezTo>
                <a:lnTo>
                  <a:pt x="193652" y="387304"/>
                </a:lnTo>
                <a:cubicBezTo>
                  <a:pt x="86773" y="387304"/>
                  <a:pt x="0" y="300531"/>
                  <a:pt x="0" y="193652"/>
                </a:cubicBezTo>
                <a:lnTo>
                  <a:pt x="0" y="193652"/>
                </a:lnTo>
                <a:cubicBezTo>
                  <a:pt x="0" y="86773"/>
                  <a:pt x="86773" y="0"/>
                  <a:pt x="193652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9579" y="3647111"/>
            <a:ext cx="484130" cy="38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5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2122" y="3711661"/>
            <a:ext cx="1565353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Context（背景）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7992" y="4115103"/>
            <a:ext cx="1678316" cy="242065"/>
          </a:xfrm>
          <a:custGeom>
            <a:avLst/>
            <a:gdLst/>
            <a:ahLst/>
            <a:cxnLst/>
            <a:rect l="l" t="t" r="r" b="b"/>
            <a:pathLst>
              <a:path w="1678316" h="242065">
                <a:moveTo>
                  <a:pt x="32275" y="0"/>
                </a:moveTo>
                <a:lnTo>
                  <a:pt x="1646042" y="0"/>
                </a:lnTo>
                <a:cubicBezTo>
                  <a:pt x="1663867" y="0"/>
                  <a:pt x="1678316" y="14450"/>
                  <a:pt x="1678316" y="32275"/>
                </a:cubicBezTo>
                <a:lnTo>
                  <a:pt x="1678316" y="209790"/>
                </a:lnTo>
                <a:cubicBezTo>
                  <a:pt x="1678316" y="227615"/>
                  <a:pt x="1663867" y="242065"/>
                  <a:pt x="1646042" y="242065"/>
                </a:cubicBezTo>
                <a:lnTo>
                  <a:pt x="32275" y="242065"/>
                </a:lnTo>
                <a:cubicBezTo>
                  <a:pt x="14450" y="242065"/>
                  <a:pt x="0" y="227615"/>
                  <a:pt x="0" y="209790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0078D4">
              <a:alpha val="14902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7992" y="4115103"/>
            <a:ext cx="1742867" cy="242065"/>
          </a:xfrm>
          <a:prstGeom prst="rect">
            <a:avLst/>
          </a:prstGeom>
          <a:noFill/>
          <a:ln/>
        </p:spPr>
        <p:txBody>
          <a:bodyPr wrap="square" lIns="64551" tIns="32275" rIns="64551" bIns="32275" rtlCol="0" anchor="ctr"/>
          <a:lstStyle/>
          <a:p>
            <a:pPr>
              <a:lnSpc>
                <a:spcPct val="140000"/>
              </a:lnSpc>
            </a:pPr>
            <a:r>
              <a:rPr lang="en-US" sz="1017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対象読者・業務目的を提示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7992" y="4437856"/>
            <a:ext cx="5422253" cy="1032810"/>
          </a:xfrm>
          <a:custGeom>
            <a:avLst/>
            <a:gdLst/>
            <a:ahLst/>
            <a:cxnLst/>
            <a:rect l="l" t="t" r="r" b="b"/>
            <a:pathLst>
              <a:path w="5422253" h="1032810">
                <a:moveTo>
                  <a:pt x="64551" y="0"/>
                </a:moveTo>
                <a:lnTo>
                  <a:pt x="5357702" y="0"/>
                </a:lnTo>
                <a:cubicBezTo>
                  <a:pt x="5393353" y="0"/>
                  <a:pt x="5422253" y="28900"/>
                  <a:pt x="5422253" y="64551"/>
                </a:cubicBezTo>
                <a:lnTo>
                  <a:pt x="5422253" y="968259"/>
                </a:lnTo>
                <a:cubicBezTo>
                  <a:pt x="5422253" y="1003910"/>
                  <a:pt x="5393353" y="1032810"/>
                  <a:pt x="5357702" y="1032810"/>
                </a:cubicBezTo>
                <a:lnTo>
                  <a:pt x="64551" y="1032810"/>
                </a:lnTo>
                <a:cubicBezTo>
                  <a:pt x="28900" y="1032810"/>
                  <a:pt x="0" y="1003910"/>
                  <a:pt x="0" y="968259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564818" y="4534682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実践例：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4818" y="4792884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「部長向けの報告書」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4818" y="4986536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「顧客説明用の資料」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4818" y="5180188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「社内研修用のマニュアル」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8998" y="1331357"/>
            <a:ext cx="5696593" cy="2097895"/>
          </a:xfrm>
          <a:custGeom>
            <a:avLst/>
            <a:gdLst/>
            <a:ahLst/>
            <a:cxnLst/>
            <a:rect l="l" t="t" r="r" b="b"/>
            <a:pathLst>
              <a:path w="5696593" h="2097895">
                <a:moveTo>
                  <a:pt x="96818" y="0"/>
                </a:moveTo>
                <a:lnTo>
                  <a:pt x="5599775" y="0"/>
                </a:lnTo>
                <a:cubicBezTo>
                  <a:pt x="5653246" y="0"/>
                  <a:pt x="5696593" y="43347"/>
                  <a:pt x="5696593" y="96818"/>
                </a:cubicBezTo>
                <a:lnTo>
                  <a:pt x="5696593" y="2001078"/>
                </a:lnTo>
                <a:cubicBezTo>
                  <a:pt x="5696593" y="2054549"/>
                  <a:pt x="5653246" y="2097895"/>
                  <a:pt x="5599775" y="2097895"/>
                </a:cubicBezTo>
                <a:lnTo>
                  <a:pt x="96818" y="2097895"/>
                </a:lnTo>
                <a:cubicBezTo>
                  <a:pt x="43347" y="2097895"/>
                  <a:pt x="0" y="2054549"/>
                  <a:pt x="0" y="2001078"/>
                </a:cubicBezTo>
                <a:lnTo>
                  <a:pt x="0" y="96818"/>
                </a:lnTo>
                <a:cubicBezTo>
                  <a:pt x="0" y="43383"/>
                  <a:pt x="43383" y="0"/>
                  <a:pt x="9681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6168" y="1468527"/>
            <a:ext cx="387304" cy="387304"/>
          </a:xfrm>
          <a:custGeom>
            <a:avLst/>
            <a:gdLst/>
            <a:ahLst/>
            <a:cxnLst/>
            <a:rect l="l" t="t" r="r" b="b"/>
            <a:pathLst>
              <a:path w="387304" h="387304">
                <a:moveTo>
                  <a:pt x="193652" y="0"/>
                </a:moveTo>
                <a:lnTo>
                  <a:pt x="193652" y="0"/>
                </a:lnTo>
                <a:cubicBezTo>
                  <a:pt x="300531" y="0"/>
                  <a:pt x="387304" y="86773"/>
                  <a:pt x="387304" y="193652"/>
                </a:cubicBezTo>
                <a:lnTo>
                  <a:pt x="387304" y="193652"/>
                </a:lnTo>
                <a:cubicBezTo>
                  <a:pt x="387304" y="300531"/>
                  <a:pt x="300531" y="387304"/>
                  <a:pt x="193652" y="387304"/>
                </a:cubicBezTo>
                <a:lnTo>
                  <a:pt x="193652" y="387304"/>
                </a:lnTo>
                <a:cubicBezTo>
                  <a:pt x="86773" y="387304"/>
                  <a:pt x="0" y="300531"/>
                  <a:pt x="0" y="193652"/>
                </a:cubicBezTo>
                <a:lnTo>
                  <a:pt x="0" y="193652"/>
                </a:lnTo>
                <a:cubicBezTo>
                  <a:pt x="0" y="86773"/>
                  <a:pt x="86773" y="0"/>
                  <a:pt x="193652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57755" y="1468527"/>
            <a:ext cx="484130" cy="38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5" b="1" dirty="0">
                <a:solidFill>
                  <a:srgbClr val="106E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0297" y="1533077"/>
            <a:ext cx="1912312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Expectation（形式）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6168" y="1936519"/>
            <a:ext cx="2065620" cy="242065"/>
          </a:xfrm>
          <a:custGeom>
            <a:avLst/>
            <a:gdLst/>
            <a:ahLst/>
            <a:cxnLst/>
            <a:rect l="l" t="t" r="r" b="b"/>
            <a:pathLst>
              <a:path w="2065620" h="242065">
                <a:moveTo>
                  <a:pt x="32275" y="0"/>
                </a:moveTo>
                <a:lnTo>
                  <a:pt x="2033346" y="0"/>
                </a:lnTo>
                <a:cubicBezTo>
                  <a:pt x="2051170" y="0"/>
                  <a:pt x="2065620" y="14450"/>
                  <a:pt x="2065620" y="32275"/>
                </a:cubicBezTo>
                <a:lnTo>
                  <a:pt x="2065620" y="209790"/>
                </a:lnTo>
                <a:cubicBezTo>
                  <a:pt x="2065620" y="227615"/>
                  <a:pt x="2051170" y="242065"/>
                  <a:pt x="2033346" y="242065"/>
                </a:cubicBezTo>
                <a:lnTo>
                  <a:pt x="32275" y="242065"/>
                </a:lnTo>
                <a:cubicBezTo>
                  <a:pt x="14450" y="242065"/>
                  <a:pt x="0" y="227615"/>
                  <a:pt x="0" y="209790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106EBE">
              <a:alpha val="14902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06168" y="1936519"/>
            <a:ext cx="2130171" cy="242065"/>
          </a:xfrm>
          <a:prstGeom prst="rect">
            <a:avLst/>
          </a:prstGeom>
          <a:noFill/>
          <a:ln/>
        </p:spPr>
        <p:txBody>
          <a:bodyPr wrap="square" lIns="64551" tIns="32275" rIns="64551" bIns="32275" rtlCol="0" anchor="ctr"/>
          <a:lstStyle/>
          <a:p>
            <a:pPr>
              <a:lnSpc>
                <a:spcPct val="140000"/>
              </a:lnSpc>
            </a:pPr>
            <a:r>
              <a:rPr lang="en-US" sz="1017" b="1" dirty="0">
                <a:solidFill>
                  <a:srgbClr val="106E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箇条書き・文字数・トーンを指定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6168" y="2259272"/>
            <a:ext cx="5422253" cy="1032810"/>
          </a:xfrm>
          <a:custGeom>
            <a:avLst/>
            <a:gdLst/>
            <a:ahLst/>
            <a:cxnLst/>
            <a:rect l="l" t="t" r="r" b="b"/>
            <a:pathLst>
              <a:path w="5422253" h="1032810">
                <a:moveTo>
                  <a:pt x="64551" y="0"/>
                </a:moveTo>
                <a:lnTo>
                  <a:pt x="5357702" y="0"/>
                </a:lnTo>
                <a:cubicBezTo>
                  <a:pt x="5393353" y="0"/>
                  <a:pt x="5422253" y="28900"/>
                  <a:pt x="5422253" y="64551"/>
                </a:cubicBezTo>
                <a:lnTo>
                  <a:pt x="5422253" y="968259"/>
                </a:lnTo>
                <a:cubicBezTo>
                  <a:pt x="5422253" y="1003910"/>
                  <a:pt x="5393353" y="1032810"/>
                  <a:pt x="5357702" y="1032810"/>
                </a:cubicBezTo>
                <a:lnTo>
                  <a:pt x="64551" y="1032810"/>
                </a:lnTo>
                <a:cubicBezTo>
                  <a:pt x="28900" y="1032810"/>
                  <a:pt x="0" y="1003910"/>
                  <a:pt x="0" y="968259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2994" y="2356098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実践例：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2994" y="2614300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「3つのポイントで」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2994" y="2807952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「500文字以内で」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2994" y="3001604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「フォーマルな調子で」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8998" y="3542216"/>
            <a:ext cx="5696593" cy="2097895"/>
          </a:xfrm>
          <a:custGeom>
            <a:avLst/>
            <a:gdLst/>
            <a:ahLst/>
            <a:cxnLst/>
            <a:rect l="l" t="t" r="r" b="b"/>
            <a:pathLst>
              <a:path w="5696593" h="2097895">
                <a:moveTo>
                  <a:pt x="96818" y="0"/>
                </a:moveTo>
                <a:lnTo>
                  <a:pt x="5599775" y="0"/>
                </a:lnTo>
                <a:cubicBezTo>
                  <a:pt x="5653246" y="0"/>
                  <a:pt x="5696593" y="43347"/>
                  <a:pt x="5696593" y="96818"/>
                </a:cubicBezTo>
                <a:lnTo>
                  <a:pt x="5696593" y="2001078"/>
                </a:lnTo>
                <a:cubicBezTo>
                  <a:pt x="5696593" y="2054549"/>
                  <a:pt x="5653246" y="2097895"/>
                  <a:pt x="5599775" y="2097895"/>
                </a:cubicBezTo>
                <a:lnTo>
                  <a:pt x="96818" y="2097895"/>
                </a:lnTo>
                <a:cubicBezTo>
                  <a:pt x="43347" y="2097895"/>
                  <a:pt x="0" y="2054549"/>
                  <a:pt x="0" y="2001078"/>
                </a:cubicBezTo>
                <a:lnTo>
                  <a:pt x="0" y="96818"/>
                </a:lnTo>
                <a:cubicBezTo>
                  <a:pt x="0" y="43383"/>
                  <a:pt x="43383" y="0"/>
                  <a:pt x="9681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6168" y="3679386"/>
            <a:ext cx="387304" cy="387304"/>
          </a:xfrm>
          <a:custGeom>
            <a:avLst/>
            <a:gdLst/>
            <a:ahLst/>
            <a:cxnLst/>
            <a:rect l="l" t="t" r="r" b="b"/>
            <a:pathLst>
              <a:path w="387304" h="387304">
                <a:moveTo>
                  <a:pt x="193652" y="0"/>
                </a:moveTo>
                <a:lnTo>
                  <a:pt x="193652" y="0"/>
                </a:lnTo>
                <a:cubicBezTo>
                  <a:pt x="300531" y="0"/>
                  <a:pt x="387304" y="86773"/>
                  <a:pt x="387304" y="193652"/>
                </a:cubicBezTo>
                <a:lnTo>
                  <a:pt x="387304" y="193652"/>
                </a:lnTo>
                <a:cubicBezTo>
                  <a:pt x="387304" y="300531"/>
                  <a:pt x="300531" y="387304"/>
                  <a:pt x="193652" y="387304"/>
                </a:cubicBezTo>
                <a:lnTo>
                  <a:pt x="193652" y="387304"/>
                </a:lnTo>
                <a:cubicBezTo>
                  <a:pt x="86773" y="387304"/>
                  <a:pt x="0" y="300531"/>
                  <a:pt x="0" y="193652"/>
                </a:cubicBezTo>
                <a:lnTo>
                  <a:pt x="0" y="193652"/>
                </a:lnTo>
                <a:cubicBezTo>
                  <a:pt x="0" y="86773"/>
                  <a:pt x="86773" y="0"/>
                  <a:pt x="193652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57755" y="3679386"/>
            <a:ext cx="484130" cy="38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5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90297" y="3743936"/>
            <a:ext cx="1686385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Source（参照元）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06168" y="4147378"/>
            <a:ext cx="1807418" cy="242065"/>
          </a:xfrm>
          <a:custGeom>
            <a:avLst/>
            <a:gdLst/>
            <a:ahLst/>
            <a:cxnLst/>
            <a:rect l="l" t="t" r="r" b="b"/>
            <a:pathLst>
              <a:path w="1807418" h="242065">
                <a:moveTo>
                  <a:pt x="32275" y="0"/>
                </a:moveTo>
                <a:lnTo>
                  <a:pt x="1775143" y="0"/>
                </a:lnTo>
                <a:cubicBezTo>
                  <a:pt x="1792968" y="0"/>
                  <a:pt x="1807418" y="14450"/>
                  <a:pt x="1807418" y="32275"/>
                </a:cubicBezTo>
                <a:lnTo>
                  <a:pt x="1807418" y="209790"/>
                </a:lnTo>
                <a:cubicBezTo>
                  <a:pt x="1807418" y="227615"/>
                  <a:pt x="1792968" y="242065"/>
                  <a:pt x="1775143" y="242065"/>
                </a:cubicBezTo>
                <a:lnTo>
                  <a:pt x="32275" y="242065"/>
                </a:lnTo>
                <a:cubicBezTo>
                  <a:pt x="14450" y="242065"/>
                  <a:pt x="0" y="227615"/>
                  <a:pt x="0" y="209790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0078D4">
              <a:alpha val="14902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06168" y="4147378"/>
            <a:ext cx="1871968" cy="242065"/>
          </a:xfrm>
          <a:prstGeom prst="rect">
            <a:avLst/>
          </a:prstGeom>
          <a:noFill/>
          <a:ln/>
        </p:spPr>
        <p:txBody>
          <a:bodyPr wrap="square" lIns="64551" tIns="32275" rIns="64551" bIns="32275" rtlCol="0" anchor="ctr"/>
          <a:lstStyle/>
          <a:p>
            <a:pPr>
              <a:lnSpc>
                <a:spcPct val="140000"/>
              </a:lnSpc>
            </a:pPr>
            <a:r>
              <a:rPr lang="en-US" sz="1017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社内規程・マニュアルを指定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6168" y="4470131"/>
            <a:ext cx="5422253" cy="1032810"/>
          </a:xfrm>
          <a:custGeom>
            <a:avLst/>
            <a:gdLst/>
            <a:ahLst/>
            <a:cxnLst/>
            <a:rect l="l" t="t" r="r" b="b"/>
            <a:pathLst>
              <a:path w="5422253" h="1032810">
                <a:moveTo>
                  <a:pt x="64551" y="0"/>
                </a:moveTo>
                <a:lnTo>
                  <a:pt x="5357702" y="0"/>
                </a:lnTo>
                <a:cubicBezTo>
                  <a:pt x="5393353" y="0"/>
                  <a:pt x="5422253" y="28900"/>
                  <a:pt x="5422253" y="64551"/>
                </a:cubicBezTo>
                <a:lnTo>
                  <a:pt x="5422253" y="968259"/>
                </a:lnTo>
                <a:cubicBezTo>
                  <a:pt x="5422253" y="1003910"/>
                  <a:pt x="5393353" y="1032810"/>
                  <a:pt x="5357702" y="1032810"/>
                </a:cubicBezTo>
                <a:lnTo>
                  <a:pt x="64551" y="1032810"/>
                </a:lnTo>
                <a:cubicBezTo>
                  <a:pt x="28900" y="1032810"/>
                  <a:pt x="0" y="1003910"/>
                  <a:pt x="0" y="968259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2994" y="4566957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実践例：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2994" y="4825159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「社内セキュリティ規程に基づいて」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02994" y="5018811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「過去の類似案件データを参照して」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2994" y="5212463"/>
            <a:ext cx="529315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「ISO 27001の観点から」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0822" y="5753075"/>
            <a:ext cx="11530356" cy="774608"/>
          </a:xfrm>
          <a:custGeom>
            <a:avLst/>
            <a:gdLst/>
            <a:ahLst/>
            <a:cxnLst/>
            <a:rect l="l" t="t" r="r" b="b"/>
            <a:pathLst>
              <a:path w="11530356" h="774608">
                <a:moveTo>
                  <a:pt x="96826" y="0"/>
                </a:moveTo>
                <a:lnTo>
                  <a:pt x="11433530" y="0"/>
                </a:lnTo>
                <a:cubicBezTo>
                  <a:pt x="11487006" y="0"/>
                  <a:pt x="11530356" y="43350"/>
                  <a:pt x="11530356" y="96826"/>
                </a:cubicBezTo>
                <a:lnTo>
                  <a:pt x="11530356" y="677782"/>
                </a:lnTo>
                <a:cubicBezTo>
                  <a:pt x="11530356" y="731257"/>
                  <a:pt x="11487006" y="774608"/>
                  <a:pt x="11433530" y="774608"/>
                </a:cubicBezTo>
                <a:lnTo>
                  <a:pt x="96826" y="774608"/>
                </a:lnTo>
                <a:cubicBezTo>
                  <a:pt x="43386" y="774608"/>
                  <a:pt x="0" y="731221"/>
                  <a:pt x="0" y="677782"/>
                </a:cubicBezTo>
                <a:lnTo>
                  <a:pt x="0" y="96826"/>
                </a:lnTo>
                <a:cubicBezTo>
                  <a:pt x="0" y="43386"/>
                  <a:pt x="43386" y="0"/>
                  <a:pt x="9682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8D4">
                  <a:alpha val="10000"/>
                </a:srgbClr>
              </a:gs>
              <a:gs pos="100000">
                <a:srgbClr val="106EBE">
                  <a:alpha val="10000"/>
                </a:srgbClr>
              </a:gs>
            </a:gsLst>
            <a:lin ang="0" scaled="1"/>
          </a:gradFill>
          <a:ln w="25400">
            <a:solidFill>
              <a:srgbClr val="0078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0525" y="5890245"/>
            <a:ext cx="181549" cy="242065"/>
          </a:xfrm>
          <a:custGeom>
            <a:avLst/>
            <a:gdLst/>
            <a:ahLst/>
            <a:cxnLst/>
            <a:rect l="l" t="t" r="r" b="b"/>
            <a:pathLst>
              <a:path w="181549" h="242065">
                <a:moveTo>
                  <a:pt x="138478" y="181549"/>
                </a:moveTo>
                <a:cubicBezTo>
                  <a:pt x="141929" y="171006"/>
                  <a:pt x="148832" y="161455"/>
                  <a:pt x="156633" y="153229"/>
                </a:cubicBezTo>
                <a:cubicBezTo>
                  <a:pt x="172093" y="136965"/>
                  <a:pt x="181549" y="114981"/>
                  <a:pt x="181549" y="90774"/>
                </a:cubicBezTo>
                <a:cubicBezTo>
                  <a:pt x="181549" y="40659"/>
                  <a:pt x="140889" y="0"/>
                  <a:pt x="90774" y="0"/>
                </a:cubicBezTo>
                <a:cubicBezTo>
                  <a:pt x="40659" y="0"/>
                  <a:pt x="0" y="40659"/>
                  <a:pt x="0" y="90774"/>
                </a:cubicBezTo>
                <a:cubicBezTo>
                  <a:pt x="0" y="114981"/>
                  <a:pt x="9456" y="136965"/>
                  <a:pt x="24916" y="153229"/>
                </a:cubicBezTo>
                <a:cubicBezTo>
                  <a:pt x="32717" y="161455"/>
                  <a:pt x="39666" y="171006"/>
                  <a:pt x="43071" y="181549"/>
                </a:cubicBezTo>
                <a:lnTo>
                  <a:pt x="138431" y="181549"/>
                </a:lnTo>
                <a:close/>
                <a:moveTo>
                  <a:pt x="136161" y="204242"/>
                </a:moveTo>
                <a:lnTo>
                  <a:pt x="45387" y="204242"/>
                </a:lnTo>
                <a:lnTo>
                  <a:pt x="45387" y="211807"/>
                </a:lnTo>
                <a:cubicBezTo>
                  <a:pt x="45387" y="232704"/>
                  <a:pt x="62313" y="249629"/>
                  <a:pt x="83210" y="249629"/>
                </a:cubicBezTo>
                <a:lnTo>
                  <a:pt x="98339" y="249629"/>
                </a:lnTo>
                <a:cubicBezTo>
                  <a:pt x="119236" y="249629"/>
                  <a:pt x="136161" y="232704"/>
                  <a:pt x="136161" y="211807"/>
                </a:cubicBezTo>
                <a:lnTo>
                  <a:pt x="136161" y="204242"/>
                </a:lnTo>
                <a:close/>
                <a:moveTo>
                  <a:pt x="86992" y="52952"/>
                </a:moveTo>
                <a:cubicBezTo>
                  <a:pt x="68175" y="52952"/>
                  <a:pt x="52952" y="68175"/>
                  <a:pt x="52952" y="86992"/>
                </a:cubicBezTo>
                <a:cubicBezTo>
                  <a:pt x="52952" y="93280"/>
                  <a:pt x="47893" y="98339"/>
                  <a:pt x="41605" y="98339"/>
                </a:cubicBezTo>
                <a:cubicBezTo>
                  <a:pt x="35317" y="98339"/>
                  <a:pt x="30258" y="93280"/>
                  <a:pt x="30258" y="86992"/>
                </a:cubicBezTo>
                <a:cubicBezTo>
                  <a:pt x="30258" y="55647"/>
                  <a:pt x="55647" y="30258"/>
                  <a:pt x="86992" y="30258"/>
                </a:cubicBezTo>
                <a:cubicBezTo>
                  <a:pt x="93280" y="30258"/>
                  <a:pt x="98339" y="35317"/>
                  <a:pt x="98339" y="41605"/>
                </a:cubicBezTo>
                <a:cubicBezTo>
                  <a:pt x="98339" y="47893"/>
                  <a:pt x="93280" y="52952"/>
                  <a:pt x="86992" y="52952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1" name="Text 49"/>
          <p:cNvSpPr/>
          <p:nvPr/>
        </p:nvSpPr>
        <p:spPr>
          <a:xfrm>
            <a:off x="899674" y="5890245"/>
            <a:ext cx="7544355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対話を繰り返し精度を高める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9674" y="6180723"/>
            <a:ext cx="7536286" cy="20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初回の回答を確認し、</a:t>
            </a:r>
            <a:pPr>
              <a:lnSpc>
                <a:spcPct val="140000"/>
              </a:lnSpc>
            </a:pPr>
            <a:r>
              <a:rPr lang="en-US" sz="1017" b="1" dirty="0">
                <a:solidFill>
                  <a:srgbClr val="0078D4"/>
                </a:solidFill>
                <a:highlight>
                  <a:srgbClr val="0078D4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追加質問や修正依頼 </a:t>
            </a:r>
            <a:pPr>
              <a:lnSpc>
                <a:spcPct val="14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を行うことで、より適切な出力を得られます。AIとの対話は</a:t>
            </a:r>
            <a:pPr>
              <a:lnSpc>
                <a:spcPct val="140000"/>
              </a:lnSpc>
            </a:pPr>
            <a:r>
              <a:rPr lang="en-US" sz="101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継続的なプロセス</a:t>
            </a:r>
            <a:pPr>
              <a:lnSpc>
                <a:spcPct val="140000"/>
              </a:lnSpc>
            </a:pPr>
            <a:r>
              <a:rPr lang="en-US" sz="101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です。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spc="56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ハルシネーション（幻覚）対策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8062" y="1074185"/>
            <a:ext cx="11556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AIの誤った出力に対する対策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062" y="1468053"/>
            <a:ext cx="3732793" cy="1879824"/>
          </a:xfrm>
          <a:custGeom>
            <a:avLst/>
            <a:gdLst/>
            <a:ahLst/>
            <a:cxnLst/>
            <a:rect l="l" t="t" r="r" b="b"/>
            <a:pathLst>
              <a:path w="3732793" h="1879824">
                <a:moveTo>
                  <a:pt x="107413" y="0"/>
                </a:moveTo>
                <a:lnTo>
                  <a:pt x="3625380" y="0"/>
                </a:lnTo>
                <a:cubicBezTo>
                  <a:pt x="3684702" y="0"/>
                  <a:pt x="3732793" y="48090"/>
                  <a:pt x="3732793" y="107413"/>
                </a:cubicBezTo>
                <a:lnTo>
                  <a:pt x="3732793" y="1772411"/>
                </a:lnTo>
                <a:cubicBezTo>
                  <a:pt x="3732793" y="1831733"/>
                  <a:pt x="3684702" y="1879824"/>
                  <a:pt x="3625380" y="1879824"/>
                </a:cubicBezTo>
                <a:lnTo>
                  <a:pt x="107413" y="1879824"/>
                </a:lnTo>
                <a:cubicBezTo>
                  <a:pt x="48130" y="1879824"/>
                  <a:pt x="0" y="1831694"/>
                  <a:pt x="0" y="1772411"/>
                </a:cubicBezTo>
                <a:lnTo>
                  <a:pt x="0" y="107413"/>
                </a:lnTo>
                <a:cubicBezTo>
                  <a:pt x="0" y="48130"/>
                  <a:pt x="48130" y="0"/>
                  <a:pt x="10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D83B01"/>
              </a:gs>
              <a:gs pos="100000">
                <a:srgbClr val="D83B01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01286" y="1611278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250643" y="0"/>
                </a:moveTo>
                <a:lnTo>
                  <a:pt x="250643" y="0"/>
                </a:lnTo>
                <a:cubicBezTo>
                  <a:pt x="388977" y="0"/>
                  <a:pt x="501286" y="112309"/>
                  <a:pt x="501286" y="250643"/>
                </a:cubicBezTo>
                <a:lnTo>
                  <a:pt x="501286" y="250643"/>
                </a:lnTo>
                <a:cubicBezTo>
                  <a:pt x="501286" y="388977"/>
                  <a:pt x="388977" y="501286"/>
                  <a:pt x="250643" y="501286"/>
                </a:cubicBezTo>
                <a:lnTo>
                  <a:pt x="250643" y="501286"/>
                </a:lnTo>
                <a:cubicBezTo>
                  <a:pt x="112309" y="501286"/>
                  <a:pt x="0" y="388977"/>
                  <a:pt x="0" y="250643"/>
                </a:cubicBezTo>
                <a:lnTo>
                  <a:pt x="0" y="250643"/>
                </a:lnTo>
                <a:cubicBezTo>
                  <a:pt x="0" y="112309"/>
                  <a:pt x="112309" y="0"/>
                  <a:pt x="25064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47577" y="1611278"/>
            <a:ext cx="608705" cy="50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9991" y="1736599"/>
            <a:ext cx="134273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目視確認の徹底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1286" y="2202079"/>
            <a:ext cx="1002573" cy="268546"/>
          </a:xfrm>
          <a:custGeom>
            <a:avLst/>
            <a:gdLst/>
            <a:ahLst/>
            <a:cxnLst/>
            <a:rect l="l" t="t" r="r" b="b"/>
            <a:pathLst>
              <a:path w="1002573" h="268546">
                <a:moveTo>
                  <a:pt x="35805" y="0"/>
                </a:moveTo>
                <a:lnTo>
                  <a:pt x="966767" y="0"/>
                </a:lnTo>
                <a:cubicBezTo>
                  <a:pt x="986542" y="0"/>
                  <a:pt x="1002573" y="16031"/>
                  <a:pt x="1002573" y="35805"/>
                </a:cubicBezTo>
                <a:lnTo>
                  <a:pt x="1002573" y="232741"/>
                </a:lnTo>
                <a:cubicBezTo>
                  <a:pt x="1002573" y="252516"/>
                  <a:pt x="986542" y="268546"/>
                  <a:pt x="966767" y="268546"/>
                </a:cubicBezTo>
                <a:lnTo>
                  <a:pt x="35805" y="268546"/>
                </a:lnTo>
                <a:cubicBezTo>
                  <a:pt x="16031" y="268546"/>
                  <a:pt x="0" y="252516"/>
                  <a:pt x="0" y="232741"/>
                </a:cubicBezTo>
                <a:lnTo>
                  <a:pt x="0" y="35805"/>
                </a:lnTo>
                <a:cubicBezTo>
                  <a:pt x="0" y="16044"/>
                  <a:pt x="16044" y="0"/>
                  <a:pt x="35805" y="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1286" y="2202079"/>
            <a:ext cx="1074185" cy="268546"/>
          </a:xfrm>
          <a:prstGeom prst="rect">
            <a:avLst/>
          </a:prstGeom>
          <a:noFill/>
          <a:ln/>
        </p:spPr>
        <p:txBody>
          <a:bodyPr wrap="square" lIns="71612" tIns="35806" rIns="71612" bIns="35806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必ず人が検証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1286" y="2560141"/>
            <a:ext cx="3446344" cy="644511"/>
          </a:xfrm>
          <a:custGeom>
            <a:avLst/>
            <a:gdLst/>
            <a:ahLst/>
            <a:cxnLst/>
            <a:rect l="l" t="t" r="r" b="b"/>
            <a:pathLst>
              <a:path w="3446344" h="644511">
                <a:moveTo>
                  <a:pt x="71612" y="0"/>
                </a:moveTo>
                <a:lnTo>
                  <a:pt x="3374732" y="0"/>
                </a:lnTo>
                <a:cubicBezTo>
                  <a:pt x="3414282" y="0"/>
                  <a:pt x="3446344" y="32062"/>
                  <a:pt x="3446344" y="71612"/>
                </a:cubicBezTo>
                <a:lnTo>
                  <a:pt x="3446344" y="572899"/>
                </a:lnTo>
                <a:cubicBezTo>
                  <a:pt x="3446344" y="612449"/>
                  <a:pt x="3414282" y="644511"/>
                  <a:pt x="3374732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8705" y="2703366"/>
            <a:ext cx="179031" cy="143225"/>
          </a:xfrm>
          <a:custGeom>
            <a:avLst/>
            <a:gdLst/>
            <a:ahLst/>
            <a:cxnLst/>
            <a:rect l="l" t="t" r="r" b="b"/>
            <a:pathLst>
              <a:path w="179031" h="143225">
                <a:moveTo>
                  <a:pt x="38044" y="35806"/>
                </a:moveTo>
                <a:cubicBezTo>
                  <a:pt x="38044" y="17279"/>
                  <a:pt x="53085" y="2238"/>
                  <a:pt x="71612" y="2238"/>
                </a:cubicBezTo>
                <a:cubicBezTo>
                  <a:pt x="90139" y="2238"/>
                  <a:pt x="105181" y="17279"/>
                  <a:pt x="105181" y="35806"/>
                </a:cubicBezTo>
                <a:cubicBezTo>
                  <a:pt x="105181" y="54333"/>
                  <a:pt x="90139" y="69374"/>
                  <a:pt x="71612" y="69374"/>
                </a:cubicBezTo>
                <a:cubicBezTo>
                  <a:pt x="53085" y="69374"/>
                  <a:pt x="38044" y="54333"/>
                  <a:pt x="38044" y="35806"/>
                </a:cubicBezTo>
                <a:close/>
                <a:moveTo>
                  <a:pt x="13427" y="134917"/>
                </a:moveTo>
                <a:cubicBezTo>
                  <a:pt x="13427" y="107363"/>
                  <a:pt x="35750" y="85040"/>
                  <a:pt x="63304" y="85040"/>
                </a:cubicBezTo>
                <a:lnTo>
                  <a:pt x="79920" y="85040"/>
                </a:lnTo>
                <a:cubicBezTo>
                  <a:pt x="107474" y="85040"/>
                  <a:pt x="129797" y="107363"/>
                  <a:pt x="129797" y="134917"/>
                </a:cubicBezTo>
                <a:cubicBezTo>
                  <a:pt x="129797" y="139504"/>
                  <a:pt x="126077" y="143225"/>
                  <a:pt x="121489" y="143225"/>
                </a:cubicBezTo>
                <a:lnTo>
                  <a:pt x="21735" y="143225"/>
                </a:lnTo>
                <a:cubicBezTo>
                  <a:pt x="17148" y="143225"/>
                  <a:pt x="13427" y="139504"/>
                  <a:pt x="13427" y="134917"/>
                </a:cubicBezTo>
                <a:close/>
                <a:moveTo>
                  <a:pt x="171310" y="37121"/>
                </a:moveTo>
                <a:lnTo>
                  <a:pt x="148931" y="72927"/>
                </a:lnTo>
                <a:cubicBezTo>
                  <a:pt x="147756" y="74801"/>
                  <a:pt x="145742" y="75976"/>
                  <a:pt x="143532" y="76088"/>
                </a:cubicBezTo>
                <a:cubicBezTo>
                  <a:pt x="141322" y="76200"/>
                  <a:pt x="139196" y="75193"/>
                  <a:pt x="137882" y="73403"/>
                </a:cubicBezTo>
                <a:lnTo>
                  <a:pt x="124454" y="55500"/>
                </a:lnTo>
                <a:cubicBezTo>
                  <a:pt x="122217" y="52534"/>
                  <a:pt x="122832" y="48338"/>
                  <a:pt x="125797" y="46100"/>
                </a:cubicBezTo>
                <a:cubicBezTo>
                  <a:pt x="128762" y="43863"/>
                  <a:pt x="132958" y="44478"/>
                  <a:pt x="135196" y="47443"/>
                </a:cubicBezTo>
                <a:lnTo>
                  <a:pt x="142749" y="57514"/>
                </a:lnTo>
                <a:lnTo>
                  <a:pt x="159925" y="30016"/>
                </a:lnTo>
                <a:cubicBezTo>
                  <a:pt x="161883" y="26883"/>
                  <a:pt x="166023" y="25904"/>
                  <a:pt x="169184" y="27890"/>
                </a:cubicBezTo>
                <a:cubicBezTo>
                  <a:pt x="172345" y="29876"/>
                  <a:pt x="173296" y="33988"/>
                  <a:pt x="171310" y="37149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8211" y="2667559"/>
            <a:ext cx="3073612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AIの出力を</a:t>
            </a:r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そのまま使用せず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、内容の正確性を人間が確認することが必須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7013" y="3464247"/>
            <a:ext cx="3714890" cy="2184176"/>
          </a:xfrm>
          <a:custGeom>
            <a:avLst/>
            <a:gdLst/>
            <a:ahLst/>
            <a:cxnLst/>
            <a:rect l="l" t="t" r="r" b="b"/>
            <a:pathLst>
              <a:path w="3714890" h="2184176">
                <a:moveTo>
                  <a:pt x="107418" y="0"/>
                </a:moveTo>
                <a:lnTo>
                  <a:pt x="3607472" y="0"/>
                </a:lnTo>
                <a:cubicBezTo>
                  <a:pt x="3666797" y="0"/>
                  <a:pt x="3714890" y="48093"/>
                  <a:pt x="3714890" y="107418"/>
                </a:cubicBezTo>
                <a:lnTo>
                  <a:pt x="3714890" y="2076758"/>
                </a:lnTo>
                <a:cubicBezTo>
                  <a:pt x="3714890" y="2136084"/>
                  <a:pt x="3666797" y="2184176"/>
                  <a:pt x="3607472" y="2184176"/>
                </a:cubicBezTo>
                <a:lnTo>
                  <a:pt x="107418" y="2184176"/>
                </a:lnTo>
                <a:cubicBezTo>
                  <a:pt x="48093" y="2184176"/>
                  <a:pt x="0" y="2136084"/>
                  <a:pt x="0" y="2076758"/>
                </a:cubicBezTo>
                <a:lnTo>
                  <a:pt x="0" y="107418"/>
                </a:lnTo>
                <a:cubicBezTo>
                  <a:pt x="0" y="48132"/>
                  <a:pt x="48132" y="0"/>
                  <a:pt x="10741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189" y="3616423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250643" y="0"/>
                </a:moveTo>
                <a:lnTo>
                  <a:pt x="250643" y="0"/>
                </a:lnTo>
                <a:cubicBezTo>
                  <a:pt x="388977" y="0"/>
                  <a:pt x="501286" y="112309"/>
                  <a:pt x="501286" y="250643"/>
                </a:cubicBezTo>
                <a:lnTo>
                  <a:pt x="501286" y="250643"/>
                </a:lnTo>
                <a:cubicBezTo>
                  <a:pt x="501286" y="388977"/>
                  <a:pt x="388977" y="501286"/>
                  <a:pt x="250643" y="501286"/>
                </a:cubicBezTo>
                <a:lnTo>
                  <a:pt x="250643" y="501286"/>
                </a:lnTo>
                <a:cubicBezTo>
                  <a:pt x="112309" y="501286"/>
                  <a:pt x="0" y="388977"/>
                  <a:pt x="0" y="250643"/>
                </a:cubicBezTo>
                <a:lnTo>
                  <a:pt x="0" y="250643"/>
                </a:lnTo>
                <a:cubicBezTo>
                  <a:pt x="0" y="112309"/>
                  <a:pt x="112309" y="0"/>
                  <a:pt x="250643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65480" y="3616423"/>
            <a:ext cx="608705" cy="50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7894" y="3741744"/>
            <a:ext cx="80563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出典確認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9189" y="4207225"/>
            <a:ext cx="1145797" cy="268546"/>
          </a:xfrm>
          <a:custGeom>
            <a:avLst/>
            <a:gdLst/>
            <a:ahLst/>
            <a:cxnLst/>
            <a:rect l="l" t="t" r="r" b="b"/>
            <a:pathLst>
              <a:path w="1145797" h="268546">
                <a:moveTo>
                  <a:pt x="35805" y="0"/>
                </a:moveTo>
                <a:lnTo>
                  <a:pt x="1109992" y="0"/>
                </a:lnTo>
                <a:cubicBezTo>
                  <a:pt x="1129767" y="0"/>
                  <a:pt x="1145797" y="16031"/>
                  <a:pt x="1145797" y="35805"/>
                </a:cubicBezTo>
                <a:lnTo>
                  <a:pt x="1145797" y="232741"/>
                </a:lnTo>
                <a:cubicBezTo>
                  <a:pt x="1145797" y="252516"/>
                  <a:pt x="1129767" y="268546"/>
                  <a:pt x="1109992" y="268546"/>
                </a:cubicBezTo>
                <a:lnTo>
                  <a:pt x="35805" y="268546"/>
                </a:lnTo>
                <a:cubicBezTo>
                  <a:pt x="16031" y="268546"/>
                  <a:pt x="0" y="252516"/>
                  <a:pt x="0" y="232741"/>
                </a:cubicBezTo>
                <a:lnTo>
                  <a:pt x="0" y="35805"/>
                </a:lnTo>
                <a:cubicBezTo>
                  <a:pt x="0" y="16044"/>
                  <a:pt x="16044" y="0"/>
                  <a:pt x="35805" y="0"/>
                </a:cubicBezTo>
                <a:close/>
              </a:path>
            </a:pathLst>
          </a:custGeom>
          <a:solidFill>
            <a:srgbClr val="0078D4">
              <a:alpha val="14902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9189" y="4207225"/>
            <a:ext cx="1217410" cy="268546"/>
          </a:xfrm>
          <a:prstGeom prst="rect">
            <a:avLst/>
          </a:prstGeom>
          <a:noFill/>
          <a:ln/>
        </p:spPr>
        <p:txBody>
          <a:bodyPr wrap="square" lIns="71612" tIns="35806" rIns="71612" bIns="35806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一次資料と突合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9189" y="4565286"/>
            <a:ext cx="3410537" cy="930960"/>
          </a:xfrm>
          <a:custGeom>
            <a:avLst/>
            <a:gdLst/>
            <a:ahLst/>
            <a:cxnLst/>
            <a:rect l="l" t="t" r="r" b="b"/>
            <a:pathLst>
              <a:path w="3410537" h="930960">
                <a:moveTo>
                  <a:pt x="71609" y="0"/>
                </a:moveTo>
                <a:lnTo>
                  <a:pt x="3338928" y="0"/>
                </a:lnTo>
                <a:cubicBezTo>
                  <a:pt x="3378477" y="0"/>
                  <a:pt x="3410537" y="32061"/>
                  <a:pt x="3410537" y="71609"/>
                </a:cubicBezTo>
                <a:lnTo>
                  <a:pt x="3410537" y="859351"/>
                </a:lnTo>
                <a:cubicBezTo>
                  <a:pt x="3410537" y="898900"/>
                  <a:pt x="3378477" y="930960"/>
                  <a:pt x="3338928" y="930960"/>
                </a:cubicBezTo>
                <a:lnTo>
                  <a:pt x="71609" y="930960"/>
                </a:lnTo>
                <a:cubicBezTo>
                  <a:pt x="32061" y="930960"/>
                  <a:pt x="0" y="898900"/>
                  <a:pt x="0" y="859351"/>
                </a:cubicBezTo>
                <a:lnTo>
                  <a:pt x="0" y="71609"/>
                </a:lnTo>
                <a:cubicBezTo>
                  <a:pt x="0" y="32087"/>
                  <a:pt x="32087" y="0"/>
                  <a:pt x="716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463" y="4708511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107419" y="143225"/>
                </a:moveTo>
                <a:lnTo>
                  <a:pt x="26855" y="143225"/>
                </a:lnTo>
                <a:cubicBezTo>
                  <a:pt x="12029" y="143225"/>
                  <a:pt x="0" y="131196"/>
                  <a:pt x="0" y="116370"/>
                </a:cubicBezTo>
                <a:lnTo>
                  <a:pt x="0" y="26855"/>
                </a:lnTo>
                <a:cubicBezTo>
                  <a:pt x="0" y="12029"/>
                  <a:pt x="12029" y="0"/>
                  <a:pt x="26855" y="0"/>
                </a:cubicBezTo>
                <a:lnTo>
                  <a:pt x="111894" y="0"/>
                </a:lnTo>
                <a:cubicBezTo>
                  <a:pt x="119307" y="0"/>
                  <a:pt x="125322" y="6014"/>
                  <a:pt x="125322" y="13427"/>
                </a:cubicBezTo>
                <a:lnTo>
                  <a:pt x="125322" y="93991"/>
                </a:lnTo>
                <a:cubicBezTo>
                  <a:pt x="125322" y="99838"/>
                  <a:pt x="121573" y="104817"/>
                  <a:pt x="116370" y="106663"/>
                </a:cubicBezTo>
                <a:lnTo>
                  <a:pt x="116370" y="125322"/>
                </a:lnTo>
                <a:cubicBezTo>
                  <a:pt x="121321" y="125322"/>
                  <a:pt x="125322" y="129322"/>
                  <a:pt x="125322" y="134273"/>
                </a:cubicBezTo>
                <a:cubicBezTo>
                  <a:pt x="125322" y="139224"/>
                  <a:pt x="121321" y="143225"/>
                  <a:pt x="116370" y="143225"/>
                </a:cubicBezTo>
                <a:lnTo>
                  <a:pt x="107419" y="143225"/>
                </a:lnTo>
                <a:close/>
                <a:moveTo>
                  <a:pt x="26855" y="107419"/>
                </a:moveTo>
                <a:cubicBezTo>
                  <a:pt x="21903" y="107419"/>
                  <a:pt x="17903" y="111419"/>
                  <a:pt x="17903" y="116370"/>
                </a:cubicBezTo>
                <a:cubicBezTo>
                  <a:pt x="17903" y="121321"/>
                  <a:pt x="21903" y="125322"/>
                  <a:pt x="26855" y="125322"/>
                </a:cubicBezTo>
                <a:lnTo>
                  <a:pt x="98467" y="125322"/>
                </a:lnTo>
                <a:lnTo>
                  <a:pt x="98467" y="107419"/>
                </a:lnTo>
                <a:lnTo>
                  <a:pt x="26855" y="107419"/>
                </a:lnTo>
                <a:close/>
                <a:moveTo>
                  <a:pt x="35806" y="42520"/>
                </a:moveTo>
                <a:cubicBezTo>
                  <a:pt x="35806" y="46240"/>
                  <a:pt x="38799" y="49233"/>
                  <a:pt x="42520" y="49233"/>
                </a:cubicBezTo>
                <a:lnTo>
                  <a:pt x="91753" y="49233"/>
                </a:lnTo>
                <a:cubicBezTo>
                  <a:pt x="95474" y="49233"/>
                  <a:pt x="98467" y="46240"/>
                  <a:pt x="98467" y="42520"/>
                </a:cubicBezTo>
                <a:cubicBezTo>
                  <a:pt x="98467" y="38799"/>
                  <a:pt x="95474" y="35806"/>
                  <a:pt x="91753" y="35806"/>
                </a:cubicBezTo>
                <a:lnTo>
                  <a:pt x="42520" y="35806"/>
                </a:lnTo>
                <a:cubicBezTo>
                  <a:pt x="38799" y="35806"/>
                  <a:pt x="35806" y="38799"/>
                  <a:pt x="35806" y="42520"/>
                </a:cubicBezTo>
                <a:close/>
                <a:moveTo>
                  <a:pt x="42520" y="62661"/>
                </a:moveTo>
                <a:cubicBezTo>
                  <a:pt x="38799" y="62661"/>
                  <a:pt x="35806" y="65654"/>
                  <a:pt x="35806" y="69374"/>
                </a:cubicBezTo>
                <a:cubicBezTo>
                  <a:pt x="35806" y="73095"/>
                  <a:pt x="38799" y="76088"/>
                  <a:pt x="42520" y="76088"/>
                </a:cubicBezTo>
                <a:lnTo>
                  <a:pt x="91753" y="76088"/>
                </a:lnTo>
                <a:cubicBezTo>
                  <a:pt x="95474" y="76088"/>
                  <a:pt x="98467" y="73095"/>
                  <a:pt x="98467" y="69374"/>
                </a:cubicBezTo>
                <a:cubicBezTo>
                  <a:pt x="98467" y="65654"/>
                  <a:pt x="95474" y="62661"/>
                  <a:pt x="91753" y="62661"/>
                </a:cubicBezTo>
                <a:lnTo>
                  <a:pt x="42520" y="62661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856114" y="4672705"/>
            <a:ext cx="3037806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AIが提示する情報の出典を確認し、</a:t>
            </a:r>
            <a:pPr>
              <a:lnSpc>
                <a:spcPct val="130000"/>
              </a:lnSpc>
            </a:pPr>
            <a:r>
              <a:rPr lang="en-US" sz="1128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信頼できる一次資料と照合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する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511" y="5209797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0"/>
                </a:moveTo>
                <a:cubicBezTo>
                  <a:pt x="75724" y="0"/>
                  <a:pt x="79501" y="2266"/>
                  <a:pt x="81459" y="5874"/>
                </a:cubicBezTo>
                <a:lnTo>
                  <a:pt x="141882" y="117769"/>
                </a:lnTo>
                <a:cubicBezTo>
                  <a:pt x="143756" y="121237"/>
                  <a:pt x="143672" y="125433"/>
                  <a:pt x="141658" y="128818"/>
                </a:cubicBezTo>
                <a:cubicBezTo>
                  <a:pt x="139644" y="132203"/>
                  <a:pt x="135980" y="134273"/>
                  <a:pt x="132035" y="134273"/>
                </a:cubicBezTo>
                <a:lnTo>
                  <a:pt x="11189" y="134273"/>
                </a:lnTo>
                <a:cubicBezTo>
                  <a:pt x="7245" y="134273"/>
                  <a:pt x="3609" y="132203"/>
                  <a:pt x="1567" y="128818"/>
                </a:cubicBezTo>
                <a:cubicBezTo>
                  <a:pt x="-476" y="125433"/>
                  <a:pt x="-531" y="121237"/>
                  <a:pt x="1343" y="117769"/>
                </a:cubicBezTo>
                <a:lnTo>
                  <a:pt x="61766" y="5874"/>
                </a:lnTo>
                <a:cubicBezTo>
                  <a:pt x="63724" y="2266"/>
                  <a:pt x="67500" y="0"/>
                  <a:pt x="71612" y="0"/>
                </a:cubicBezTo>
                <a:close/>
                <a:moveTo>
                  <a:pt x="71612" y="46996"/>
                </a:moveTo>
                <a:cubicBezTo>
                  <a:pt x="67892" y="46996"/>
                  <a:pt x="64899" y="49989"/>
                  <a:pt x="64899" y="53709"/>
                </a:cubicBezTo>
                <a:lnTo>
                  <a:pt x="64899" y="85040"/>
                </a:lnTo>
                <a:cubicBezTo>
                  <a:pt x="64899" y="88760"/>
                  <a:pt x="67892" y="91753"/>
                  <a:pt x="71612" y="91753"/>
                </a:cubicBezTo>
                <a:cubicBezTo>
                  <a:pt x="75333" y="91753"/>
                  <a:pt x="78326" y="88760"/>
                  <a:pt x="78326" y="85040"/>
                </a:cubicBezTo>
                <a:lnTo>
                  <a:pt x="78326" y="53709"/>
                </a:lnTo>
                <a:cubicBezTo>
                  <a:pt x="78326" y="49989"/>
                  <a:pt x="75333" y="46996"/>
                  <a:pt x="71612" y="46996"/>
                </a:cubicBezTo>
                <a:close/>
                <a:moveTo>
                  <a:pt x="79081" y="107419"/>
                </a:moveTo>
                <a:cubicBezTo>
                  <a:pt x="79251" y="104646"/>
                  <a:pt x="77869" y="102008"/>
                  <a:pt x="75492" y="100571"/>
                </a:cubicBezTo>
                <a:cubicBezTo>
                  <a:pt x="73115" y="99133"/>
                  <a:pt x="70137" y="99133"/>
                  <a:pt x="67761" y="100571"/>
                </a:cubicBezTo>
                <a:cubicBezTo>
                  <a:pt x="65384" y="102008"/>
                  <a:pt x="64001" y="104646"/>
                  <a:pt x="64171" y="107419"/>
                </a:cubicBezTo>
                <a:cubicBezTo>
                  <a:pt x="64001" y="110191"/>
                  <a:pt x="65384" y="112829"/>
                  <a:pt x="67761" y="114266"/>
                </a:cubicBezTo>
                <a:cubicBezTo>
                  <a:pt x="70137" y="115704"/>
                  <a:pt x="73115" y="115704"/>
                  <a:pt x="75492" y="114266"/>
                </a:cubicBezTo>
                <a:cubicBezTo>
                  <a:pt x="77869" y="112829"/>
                  <a:pt x="79251" y="110191"/>
                  <a:pt x="79081" y="107419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24" name="Text 22"/>
          <p:cNvSpPr/>
          <p:nvPr/>
        </p:nvSpPr>
        <p:spPr>
          <a:xfrm>
            <a:off x="856114" y="5173991"/>
            <a:ext cx="303780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特に</a:t>
            </a:r>
            <a:pPr>
              <a:lnSpc>
                <a:spcPct val="130000"/>
              </a:lnSpc>
            </a:pPr>
            <a:r>
              <a:rPr lang="en-US" sz="1128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数値・日付・固有名詞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は要注意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39254" y="1477004"/>
            <a:ext cx="3714890" cy="2309498"/>
          </a:xfrm>
          <a:custGeom>
            <a:avLst/>
            <a:gdLst/>
            <a:ahLst/>
            <a:cxnLst/>
            <a:rect l="l" t="t" r="r" b="b"/>
            <a:pathLst>
              <a:path w="3714890" h="2309498">
                <a:moveTo>
                  <a:pt x="107415" y="0"/>
                </a:moveTo>
                <a:lnTo>
                  <a:pt x="3607475" y="0"/>
                </a:lnTo>
                <a:cubicBezTo>
                  <a:pt x="3666799" y="0"/>
                  <a:pt x="3714890" y="48091"/>
                  <a:pt x="3714890" y="107415"/>
                </a:cubicBezTo>
                <a:lnTo>
                  <a:pt x="3714890" y="2202083"/>
                </a:lnTo>
                <a:cubicBezTo>
                  <a:pt x="3714890" y="2261367"/>
                  <a:pt x="3666759" y="2309498"/>
                  <a:pt x="3607475" y="2309498"/>
                </a:cubicBezTo>
                <a:lnTo>
                  <a:pt x="107415" y="2309498"/>
                </a:lnTo>
                <a:cubicBezTo>
                  <a:pt x="48091" y="2309498"/>
                  <a:pt x="0" y="2261407"/>
                  <a:pt x="0" y="2202083"/>
                </a:cubicBezTo>
                <a:lnTo>
                  <a:pt x="0" y="107415"/>
                </a:lnTo>
                <a:cubicBezTo>
                  <a:pt x="0" y="48091"/>
                  <a:pt x="48091" y="0"/>
                  <a:pt x="10741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91431" y="1629181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250643" y="0"/>
                </a:moveTo>
                <a:lnTo>
                  <a:pt x="250643" y="0"/>
                </a:lnTo>
                <a:cubicBezTo>
                  <a:pt x="388977" y="0"/>
                  <a:pt x="501286" y="112309"/>
                  <a:pt x="501286" y="250643"/>
                </a:cubicBezTo>
                <a:lnTo>
                  <a:pt x="501286" y="250643"/>
                </a:lnTo>
                <a:cubicBezTo>
                  <a:pt x="501286" y="388977"/>
                  <a:pt x="388977" y="501286"/>
                  <a:pt x="250643" y="501286"/>
                </a:cubicBezTo>
                <a:lnTo>
                  <a:pt x="250643" y="501286"/>
                </a:lnTo>
                <a:cubicBezTo>
                  <a:pt x="112309" y="501286"/>
                  <a:pt x="0" y="388977"/>
                  <a:pt x="0" y="250643"/>
                </a:cubicBezTo>
                <a:lnTo>
                  <a:pt x="0" y="250643"/>
                </a:lnTo>
                <a:cubicBezTo>
                  <a:pt x="0" y="112309"/>
                  <a:pt x="112309" y="0"/>
                  <a:pt x="250643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337721" y="1629181"/>
            <a:ext cx="608705" cy="50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106E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00135" y="1754502"/>
            <a:ext cx="170079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専門領域の慎重利用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91431" y="2219982"/>
            <a:ext cx="2291595" cy="268546"/>
          </a:xfrm>
          <a:custGeom>
            <a:avLst/>
            <a:gdLst/>
            <a:ahLst/>
            <a:cxnLst/>
            <a:rect l="l" t="t" r="r" b="b"/>
            <a:pathLst>
              <a:path w="2291595" h="268546">
                <a:moveTo>
                  <a:pt x="35805" y="0"/>
                </a:moveTo>
                <a:lnTo>
                  <a:pt x="2255789" y="0"/>
                </a:lnTo>
                <a:cubicBezTo>
                  <a:pt x="2275564" y="0"/>
                  <a:pt x="2291595" y="16031"/>
                  <a:pt x="2291595" y="35805"/>
                </a:cubicBezTo>
                <a:lnTo>
                  <a:pt x="2291595" y="232741"/>
                </a:lnTo>
                <a:cubicBezTo>
                  <a:pt x="2291595" y="252516"/>
                  <a:pt x="2275564" y="268546"/>
                  <a:pt x="2255789" y="268546"/>
                </a:cubicBezTo>
                <a:lnTo>
                  <a:pt x="35805" y="268546"/>
                </a:lnTo>
                <a:cubicBezTo>
                  <a:pt x="16031" y="268546"/>
                  <a:pt x="0" y="252516"/>
                  <a:pt x="0" y="232741"/>
                </a:cubicBezTo>
                <a:lnTo>
                  <a:pt x="0" y="35805"/>
                </a:lnTo>
                <a:cubicBezTo>
                  <a:pt x="0" y="16044"/>
                  <a:pt x="16044" y="0"/>
                  <a:pt x="35805" y="0"/>
                </a:cubicBezTo>
                <a:close/>
              </a:path>
            </a:pathLst>
          </a:custGeom>
          <a:solidFill>
            <a:srgbClr val="106EBE">
              <a:alpha val="14902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391431" y="2219982"/>
            <a:ext cx="2363207" cy="268546"/>
          </a:xfrm>
          <a:prstGeom prst="rect">
            <a:avLst/>
          </a:prstGeom>
          <a:noFill/>
          <a:ln/>
        </p:spPr>
        <p:txBody>
          <a:bodyPr wrap="square" lIns="71612" tIns="35806" rIns="71612" bIns="35806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106E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保険約款・法規制は原本確認必須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91431" y="2578044"/>
            <a:ext cx="3410537" cy="644511"/>
          </a:xfrm>
          <a:custGeom>
            <a:avLst/>
            <a:gdLst/>
            <a:ahLst/>
            <a:cxnLst/>
            <a:rect l="l" t="t" r="r" b="b"/>
            <a:pathLst>
              <a:path w="3410537" h="644511">
                <a:moveTo>
                  <a:pt x="71612" y="0"/>
                </a:moveTo>
                <a:lnTo>
                  <a:pt x="3338926" y="0"/>
                </a:lnTo>
                <a:cubicBezTo>
                  <a:pt x="3378476" y="0"/>
                  <a:pt x="3410537" y="32062"/>
                  <a:pt x="3410537" y="71612"/>
                </a:cubicBezTo>
                <a:lnTo>
                  <a:pt x="3410537" y="572899"/>
                </a:lnTo>
                <a:cubicBezTo>
                  <a:pt x="3410537" y="612449"/>
                  <a:pt x="3378476" y="644511"/>
                  <a:pt x="3338926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4498849" y="2721269"/>
            <a:ext cx="179031" cy="143225"/>
          </a:xfrm>
          <a:custGeom>
            <a:avLst/>
            <a:gdLst/>
            <a:ahLst/>
            <a:cxnLst/>
            <a:rect l="l" t="t" r="r" b="b"/>
            <a:pathLst>
              <a:path w="179031" h="143225">
                <a:moveTo>
                  <a:pt x="107419" y="8952"/>
                </a:moveTo>
                <a:lnTo>
                  <a:pt x="143225" y="8952"/>
                </a:lnTo>
                <a:cubicBezTo>
                  <a:pt x="148176" y="8952"/>
                  <a:pt x="152176" y="12952"/>
                  <a:pt x="152176" y="17903"/>
                </a:cubicBezTo>
                <a:cubicBezTo>
                  <a:pt x="152176" y="22854"/>
                  <a:pt x="148176" y="26855"/>
                  <a:pt x="143225" y="26855"/>
                </a:cubicBezTo>
                <a:lnTo>
                  <a:pt x="111447" y="26855"/>
                </a:lnTo>
                <a:cubicBezTo>
                  <a:pt x="109992" y="34072"/>
                  <a:pt x="105041" y="40030"/>
                  <a:pt x="98467" y="42883"/>
                </a:cubicBezTo>
                <a:lnTo>
                  <a:pt x="98467" y="125322"/>
                </a:lnTo>
                <a:lnTo>
                  <a:pt x="143225" y="125322"/>
                </a:lnTo>
                <a:cubicBezTo>
                  <a:pt x="148176" y="125322"/>
                  <a:pt x="152176" y="129322"/>
                  <a:pt x="152176" y="134273"/>
                </a:cubicBezTo>
                <a:cubicBezTo>
                  <a:pt x="152176" y="139224"/>
                  <a:pt x="148176" y="143225"/>
                  <a:pt x="143225" y="143225"/>
                </a:cubicBezTo>
                <a:lnTo>
                  <a:pt x="35806" y="143225"/>
                </a:lnTo>
                <a:cubicBezTo>
                  <a:pt x="30855" y="143225"/>
                  <a:pt x="26855" y="139224"/>
                  <a:pt x="26855" y="134273"/>
                </a:cubicBezTo>
                <a:cubicBezTo>
                  <a:pt x="26855" y="129322"/>
                  <a:pt x="30855" y="125322"/>
                  <a:pt x="35806" y="125322"/>
                </a:cubicBezTo>
                <a:lnTo>
                  <a:pt x="80564" y="125322"/>
                </a:lnTo>
                <a:lnTo>
                  <a:pt x="80564" y="42883"/>
                </a:lnTo>
                <a:cubicBezTo>
                  <a:pt x="73990" y="40002"/>
                  <a:pt x="69039" y="34044"/>
                  <a:pt x="67584" y="26855"/>
                </a:cubicBezTo>
                <a:lnTo>
                  <a:pt x="35806" y="26855"/>
                </a:lnTo>
                <a:cubicBezTo>
                  <a:pt x="30855" y="26855"/>
                  <a:pt x="26855" y="22854"/>
                  <a:pt x="26855" y="17903"/>
                </a:cubicBezTo>
                <a:cubicBezTo>
                  <a:pt x="26855" y="12952"/>
                  <a:pt x="30855" y="8952"/>
                  <a:pt x="35806" y="8952"/>
                </a:cubicBezTo>
                <a:lnTo>
                  <a:pt x="71612" y="8952"/>
                </a:lnTo>
                <a:cubicBezTo>
                  <a:pt x="75696" y="3525"/>
                  <a:pt x="82186" y="0"/>
                  <a:pt x="89515" y="0"/>
                </a:cubicBezTo>
                <a:cubicBezTo>
                  <a:pt x="96844" y="0"/>
                  <a:pt x="103334" y="3525"/>
                  <a:pt x="107419" y="8952"/>
                </a:cubicBezTo>
                <a:close/>
                <a:moveTo>
                  <a:pt x="122972" y="89515"/>
                </a:moveTo>
                <a:lnTo>
                  <a:pt x="163478" y="89515"/>
                </a:lnTo>
                <a:lnTo>
                  <a:pt x="143225" y="54772"/>
                </a:lnTo>
                <a:lnTo>
                  <a:pt x="122972" y="89515"/>
                </a:lnTo>
                <a:close/>
                <a:moveTo>
                  <a:pt x="143225" y="116370"/>
                </a:moveTo>
                <a:cubicBezTo>
                  <a:pt x="125629" y="116370"/>
                  <a:pt x="110999" y="106859"/>
                  <a:pt x="107978" y="94299"/>
                </a:cubicBezTo>
                <a:cubicBezTo>
                  <a:pt x="107251" y="91222"/>
                  <a:pt x="108258" y="88061"/>
                  <a:pt x="109852" y="85319"/>
                </a:cubicBezTo>
                <a:lnTo>
                  <a:pt x="136483" y="39667"/>
                </a:lnTo>
                <a:cubicBezTo>
                  <a:pt x="137882" y="37261"/>
                  <a:pt x="140455" y="35806"/>
                  <a:pt x="143225" y="35806"/>
                </a:cubicBezTo>
                <a:cubicBezTo>
                  <a:pt x="145994" y="35806"/>
                  <a:pt x="148568" y="37289"/>
                  <a:pt x="149966" y="39667"/>
                </a:cubicBezTo>
                <a:lnTo>
                  <a:pt x="176597" y="85319"/>
                </a:lnTo>
                <a:cubicBezTo>
                  <a:pt x="178192" y="88061"/>
                  <a:pt x="179199" y="91222"/>
                  <a:pt x="178471" y="94299"/>
                </a:cubicBezTo>
                <a:cubicBezTo>
                  <a:pt x="175450" y="106831"/>
                  <a:pt x="160820" y="116370"/>
                  <a:pt x="143225" y="116370"/>
                </a:cubicBezTo>
                <a:close/>
                <a:moveTo>
                  <a:pt x="35470" y="54772"/>
                </a:moveTo>
                <a:lnTo>
                  <a:pt x="15218" y="89515"/>
                </a:lnTo>
                <a:lnTo>
                  <a:pt x="55751" y="89515"/>
                </a:lnTo>
                <a:lnTo>
                  <a:pt x="35470" y="54772"/>
                </a:lnTo>
                <a:close/>
                <a:moveTo>
                  <a:pt x="252" y="94299"/>
                </a:moveTo>
                <a:cubicBezTo>
                  <a:pt x="-476" y="91222"/>
                  <a:pt x="531" y="88061"/>
                  <a:pt x="2126" y="85319"/>
                </a:cubicBezTo>
                <a:lnTo>
                  <a:pt x="28757" y="39667"/>
                </a:lnTo>
                <a:cubicBezTo>
                  <a:pt x="30156" y="37261"/>
                  <a:pt x="32729" y="35806"/>
                  <a:pt x="35498" y="35806"/>
                </a:cubicBezTo>
                <a:cubicBezTo>
                  <a:pt x="38268" y="35806"/>
                  <a:pt x="40841" y="37289"/>
                  <a:pt x="42240" y="39667"/>
                </a:cubicBezTo>
                <a:lnTo>
                  <a:pt x="68871" y="85319"/>
                </a:lnTo>
                <a:cubicBezTo>
                  <a:pt x="70465" y="88061"/>
                  <a:pt x="71472" y="91222"/>
                  <a:pt x="70745" y="94299"/>
                </a:cubicBezTo>
                <a:cubicBezTo>
                  <a:pt x="67724" y="106831"/>
                  <a:pt x="53094" y="116370"/>
                  <a:pt x="35498" y="116370"/>
                </a:cubicBezTo>
                <a:cubicBezTo>
                  <a:pt x="17903" y="116370"/>
                  <a:pt x="3273" y="106859"/>
                  <a:pt x="252" y="94299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33" name="Text 31"/>
          <p:cNvSpPr/>
          <p:nvPr/>
        </p:nvSpPr>
        <p:spPr>
          <a:xfrm>
            <a:off x="4728356" y="2685463"/>
            <a:ext cx="3037806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法的・規制的な内容は、AIの要約に頼らず</a:t>
            </a:r>
            <a:pPr>
              <a:lnSpc>
                <a:spcPct val="130000"/>
              </a:lnSpc>
            </a:pPr>
            <a:r>
              <a:rPr lang="en-US" sz="1128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必ず原本を確認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する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95906" y="3298643"/>
            <a:ext cx="3401586" cy="331207"/>
          </a:xfrm>
          <a:custGeom>
            <a:avLst/>
            <a:gdLst/>
            <a:ahLst/>
            <a:cxnLst/>
            <a:rect l="l" t="t" r="r" b="b"/>
            <a:pathLst>
              <a:path w="3401586" h="331207">
                <a:moveTo>
                  <a:pt x="71614" y="0"/>
                </a:moveTo>
                <a:lnTo>
                  <a:pt x="3329972" y="0"/>
                </a:lnTo>
                <a:cubicBezTo>
                  <a:pt x="3369523" y="0"/>
                  <a:pt x="3401586" y="32062"/>
                  <a:pt x="3401586" y="71614"/>
                </a:cubicBezTo>
                <a:lnTo>
                  <a:pt x="3401586" y="259593"/>
                </a:lnTo>
                <a:cubicBezTo>
                  <a:pt x="3401586" y="299145"/>
                  <a:pt x="3369523" y="331207"/>
                  <a:pt x="3329972" y="331207"/>
                </a:cubicBezTo>
                <a:lnTo>
                  <a:pt x="71614" y="331207"/>
                </a:lnTo>
                <a:cubicBezTo>
                  <a:pt x="32089" y="331207"/>
                  <a:pt x="0" y="299118"/>
                  <a:pt x="0" y="259593"/>
                </a:cubicBezTo>
                <a:lnTo>
                  <a:pt x="0" y="71614"/>
                </a:lnTo>
                <a:cubicBezTo>
                  <a:pt x="0" y="32089"/>
                  <a:pt x="32089" y="0"/>
                  <a:pt x="71614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9898" y="3401586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62661" y="125322"/>
                </a:moveTo>
                <a:cubicBezTo>
                  <a:pt x="97244" y="125322"/>
                  <a:pt x="125322" y="97244"/>
                  <a:pt x="125322" y="62661"/>
                </a:cubicBezTo>
                <a:cubicBezTo>
                  <a:pt x="125322" y="28077"/>
                  <a:pt x="97244" y="0"/>
                  <a:pt x="62661" y="0"/>
                </a:cubicBezTo>
                <a:cubicBezTo>
                  <a:pt x="28077" y="0"/>
                  <a:pt x="0" y="28077"/>
                  <a:pt x="0" y="62661"/>
                </a:cubicBezTo>
                <a:cubicBezTo>
                  <a:pt x="0" y="97244"/>
                  <a:pt x="28077" y="125322"/>
                  <a:pt x="62661" y="125322"/>
                </a:cubicBezTo>
                <a:close/>
                <a:moveTo>
                  <a:pt x="40876" y="40876"/>
                </a:moveTo>
                <a:cubicBezTo>
                  <a:pt x="43177" y="38576"/>
                  <a:pt x="46898" y="38576"/>
                  <a:pt x="49174" y="40876"/>
                </a:cubicBezTo>
                <a:lnTo>
                  <a:pt x="62636" y="54339"/>
                </a:lnTo>
                <a:lnTo>
                  <a:pt x="76099" y="40876"/>
                </a:lnTo>
                <a:cubicBezTo>
                  <a:pt x="78399" y="38576"/>
                  <a:pt x="82120" y="38576"/>
                  <a:pt x="84396" y="40876"/>
                </a:cubicBezTo>
                <a:cubicBezTo>
                  <a:pt x="86673" y="43177"/>
                  <a:pt x="86697" y="46898"/>
                  <a:pt x="84396" y="49174"/>
                </a:cubicBezTo>
                <a:lnTo>
                  <a:pt x="70934" y="62636"/>
                </a:lnTo>
                <a:lnTo>
                  <a:pt x="84396" y="76099"/>
                </a:lnTo>
                <a:cubicBezTo>
                  <a:pt x="86697" y="78399"/>
                  <a:pt x="86697" y="82120"/>
                  <a:pt x="84396" y="84396"/>
                </a:cubicBezTo>
                <a:cubicBezTo>
                  <a:pt x="82095" y="86673"/>
                  <a:pt x="78375" y="86697"/>
                  <a:pt x="76099" y="84396"/>
                </a:cubicBezTo>
                <a:lnTo>
                  <a:pt x="62636" y="70934"/>
                </a:lnTo>
                <a:lnTo>
                  <a:pt x="49174" y="84396"/>
                </a:lnTo>
                <a:cubicBezTo>
                  <a:pt x="46873" y="86697"/>
                  <a:pt x="43153" y="86697"/>
                  <a:pt x="40876" y="84396"/>
                </a:cubicBezTo>
                <a:cubicBezTo>
                  <a:pt x="38600" y="82095"/>
                  <a:pt x="38576" y="78375"/>
                  <a:pt x="40876" y="76099"/>
                </a:cubicBezTo>
                <a:lnTo>
                  <a:pt x="54339" y="62636"/>
                </a:lnTo>
                <a:lnTo>
                  <a:pt x="40876" y="49174"/>
                </a:lnTo>
                <a:cubicBezTo>
                  <a:pt x="38576" y="46873"/>
                  <a:pt x="38576" y="43153"/>
                  <a:pt x="40876" y="40876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36" name="Text 34"/>
          <p:cNvSpPr/>
          <p:nvPr/>
        </p:nvSpPr>
        <p:spPr>
          <a:xfrm>
            <a:off x="4658360" y="3374731"/>
            <a:ext cx="312570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AIの法的解釈は</a:t>
            </a:r>
            <a:pPr>
              <a:lnSpc>
                <a:spcPct val="120000"/>
              </a:lnSpc>
            </a:pPr>
            <a:r>
              <a:rPr lang="en-US" sz="987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参考程度</a:t>
            </a:r>
            <a:pPr>
              <a:lnSpc>
                <a:spcPct val="120000"/>
              </a:lnSpc>
            </a:pPr>
            <a:r>
              <a:rPr lang="en-US" sz="98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に留める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39254" y="3911824"/>
            <a:ext cx="3714890" cy="2578044"/>
          </a:xfrm>
          <a:custGeom>
            <a:avLst/>
            <a:gdLst/>
            <a:ahLst/>
            <a:cxnLst/>
            <a:rect l="l" t="t" r="r" b="b"/>
            <a:pathLst>
              <a:path w="3714890" h="2578044">
                <a:moveTo>
                  <a:pt x="107427" y="0"/>
                </a:moveTo>
                <a:lnTo>
                  <a:pt x="3607463" y="0"/>
                </a:lnTo>
                <a:cubicBezTo>
                  <a:pt x="3666793" y="0"/>
                  <a:pt x="3714890" y="48097"/>
                  <a:pt x="3714890" y="107427"/>
                </a:cubicBezTo>
                <a:lnTo>
                  <a:pt x="3714890" y="2470617"/>
                </a:lnTo>
                <a:cubicBezTo>
                  <a:pt x="3714890" y="2529947"/>
                  <a:pt x="3666793" y="2578044"/>
                  <a:pt x="3607463" y="2578044"/>
                </a:cubicBezTo>
                <a:lnTo>
                  <a:pt x="107427" y="2578044"/>
                </a:lnTo>
                <a:cubicBezTo>
                  <a:pt x="48097" y="2578044"/>
                  <a:pt x="0" y="2529947"/>
                  <a:pt x="0" y="2470617"/>
                </a:cubicBezTo>
                <a:lnTo>
                  <a:pt x="0" y="107427"/>
                </a:lnTo>
                <a:cubicBezTo>
                  <a:pt x="0" y="48136"/>
                  <a:pt x="48136" y="0"/>
                  <a:pt x="107427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91431" y="4064000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250643" y="0"/>
                </a:moveTo>
                <a:lnTo>
                  <a:pt x="250643" y="0"/>
                </a:lnTo>
                <a:cubicBezTo>
                  <a:pt x="388977" y="0"/>
                  <a:pt x="501286" y="112309"/>
                  <a:pt x="501286" y="250643"/>
                </a:cubicBezTo>
                <a:lnTo>
                  <a:pt x="501286" y="250643"/>
                </a:lnTo>
                <a:cubicBezTo>
                  <a:pt x="501286" y="388977"/>
                  <a:pt x="388977" y="501286"/>
                  <a:pt x="250643" y="501286"/>
                </a:cubicBezTo>
                <a:lnTo>
                  <a:pt x="250643" y="501286"/>
                </a:lnTo>
                <a:cubicBezTo>
                  <a:pt x="112309" y="501286"/>
                  <a:pt x="0" y="388977"/>
                  <a:pt x="0" y="250643"/>
                </a:cubicBezTo>
                <a:lnTo>
                  <a:pt x="0" y="250643"/>
                </a:lnTo>
                <a:cubicBezTo>
                  <a:pt x="0" y="112309"/>
                  <a:pt x="112309" y="0"/>
                  <a:pt x="250643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337721" y="4064000"/>
            <a:ext cx="608705" cy="50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00135" y="4189322"/>
            <a:ext cx="152176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リスクベース判断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1431" y="4654802"/>
            <a:ext cx="1718696" cy="268546"/>
          </a:xfrm>
          <a:custGeom>
            <a:avLst/>
            <a:gdLst/>
            <a:ahLst/>
            <a:cxnLst/>
            <a:rect l="l" t="t" r="r" b="b"/>
            <a:pathLst>
              <a:path w="1718696" h="268546">
                <a:moveTo>
                  <a:pt x="35805" y="0"/>
                </a:moveTo>
                <a:lnTo>
                  <a:pt x="1682891" y="0"/>
                </a:lnTo>
                <a:cubicBezTo>
                  <a:pt x="1702665" y="0"/>
                  <a:pt x="1718696" y="16031"/>
                  <a:pt x="1718696" y="35805"/>
                </a:cubicBezTo>
                <a:lnTo>
                  <a:pt x="1718696" y="232741"/>
                </a:lnTo>
                <a:cubicBezTo>
                  <a:pt x="1718696" y="252516"/>
                  <a:pt x="1702665" y="268546"/>
                  <a:pt x="1682891" y="268546"/>
                </a:cubicBezTo>
                <a:lnTo>
                  <a:pt x="35805" y="268546"/>
                </a:lnTo>
                <a:cubicBezTo>
                  <a:pt x="16031" y="268546"/>
                  <a:pt x="0" y="252516"/>
                  <a:pt x="0" y="232741"/>
                </a:cubicBezTo>
                <a:lnTo>
                  <a:pt x="0" y="35805"/>
                </a:lnTo>
                <a:cubicBezTo>
                  <a:pt x="0" y="16044"/>
                  <a:pt x="16044" y="0"/>
                  <a:pt x="35805" y="0"/>
                </a:cubicBezTo>
                <a:close/>
              </a:path>
            </a:pathLst>
          </a:custGeom>
          <a:solidFill>
            <a:srgbClr val="0078D4">
              <a:alpha val="14902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391431" y="4654802"/>
            <a:ext cx="1790308" cy="268546"/>
          </a:xfrm>
          <a:prstGeom prst="rect">
            <a:avLst/>
          </a:prstGeom>
          <a:noFill/>
          <a:ln/>
        </p:spPr>
        <p:txBody>
          <a:bodyPr wrap="square" lIns="71612" tIns="35806" rIns="71612" bIns="35806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重要判断は専門部署承認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91431" y="5012863"/>
            <a:ext cx="3410537" cy="1324828"/>
          </a:xfrm>
          <a:custGeom>
            <a:avLst/>
            <a:gdLst/>
            <a:ahLst/>
            <a:cxnLst/>
            <a:rect l="l" t="t" r="r" b="b"/>
            <a:pathLst>
              <a:path w="3410537" h="1324828">
                <a:moveTo>
                  <a:pt x="71607" y="0"/>
                </a:moveTo>
                <a:lnTo>
                  <a:pt x="3338930" y="0"/>
                </a:lnTo>
                <a:cubicBezTo>
                  <a:pt x="3378478" y="0"/>
                  <a:pt x="3410537" y="32060"/>
                  <a:pt x="3410537" y="71607"/>
                </a:cubicBezTo>
                <a:lnTo>
                  <a:pt x="3410537" y="1253221"/>
                </a:lnTo>
                <a:cubicBezTo>
                  <a:pt x="3410537" y="1292769"/>
                  <a:pt x="3378478" y="1324828"/>
                  <a:pt x="3338930" y="1324828"/>
                </a:cubicBezTo>
                <a:lnTo>
                  <a:pt x="71607" y="1324828"/>
                </a:lnTo>
                <a:cubicBezTo>
                  <a:pt x="32060" y="1324828"/>
                  <a:pt x="0" y="1292769"/>
                  <a:pt x="0" y="1253221"/>
                </a:cubicBezTo>
                <a:lnTo>
                  <a:pt x="0" y="71607"/>
                </a:lnTo>
                <a:cubicBezTo>
                  <a:pt x="0" y="32060"/>
                  <a:pt x="32060" y="0"/>
                  <a:pt x="7160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4" name="Text 42"/>
          <p:cNvSpPr/>
          <p:nvPr/>
        </p:nvSpPr>
        <p:spPr>
          <a:xfrm>
            <a:off x="4498849" y="5120282"/>
            <a:ext cx="3267313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承認が必要な判断：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16752" y="5433586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62661" y="125322"/>
                </a:moveTo>
                <a:cubicBezTo>
                  <a:pt x="97244" y="125322"/>
                  <a:pt x="125322" y="97244"/>
                  <a:pt x="125322" y="62661"/>
                </a:cubicBezTo>
                <a:cubicBezTo>
                  <a:pt x="125322" y="28077"/>
                  <a:pt x="97244" y="0"/>
                  <a:pt x="62661" y="0"/>
                </a:cubicBezTo>
                <a:cubicBezTo>
                  <a:pt x="28077" y="0"/>
                  <a:pt x="0" y="28077"/>
                  <a:pt x="0" y="62661"/>
                </a:cubicBezTo>
                <a:cubicBezTo>
                  <a:pt x="0" y="97244"/>
                  <a:pt x="28077" y="125322"/>
                  <a:pt x="62661" y="125322"/>
                </a:cubicBezTo>
                <a:close/>
                <a:moveTo>
                  <a:pt x="83319" y="52062"/>
                </a:moveTo>
                <a:lnTo>
                  <a:pt x="63738" y="83393"/>
                </a:lnTo>
                <a:cubicBezTo>
                  <a:pt x="62710" y="85033"/>
                  <a:pt x="60947" y="86061"/>
                  <a:pt x="59014" y="86159"/>
                </a:cubicBezTo>
                <a:cubicBezTo>
                  <a:pt x="57080" y="86256"/>
                  <a:pt x="55220" y="85375"/>
                  <a:pt x="54069" y="83809"/>
                </a:cubicBezTo>
                <a:lnTo>
                  <a:pt x="42321" y="68144"/>
                </a:lnTo>
                <a:cubicBezTo>
                  <a:pt x="40362" y="65549"/>
                  <a:pt x="40901" y="61878"/>
                  <a:pt x="43495" y="59919"/>
                </a:cubicBezTo>
                <a:cubicBezTo>
                  <a:pt x="46090" y="57961"/>
                  <a:pt x="49761" y="58500"/>
                  <a:pt x="51720" y="61094"/>
                </a:cubicBezTo>
                <a:lnTo>
                  <a:pt x="58328" y="69906"/>
                </a:lnTo>
                <a:lnTo>
                  <a:pt x="73357" y="45845"/>
                </a:lnTo>
                <a:cubicBezTo>
                  <a:pt x="75071" y="43104"/>
                  <a:pt x="78693" y="42247"/>
                  <a:pt x="81459" y="43985"/>
                </a:cubicBezTo>
                <a:cubicBezTo>
                  <a:pt x="84225" y="45723"/>
                  <a:pt x="85057" y="49321"/>
                  <a:pt x="83319" y="52087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46" name="Text 44"/>
          <p:cNvSpPr/>
          <p:nvPr/>
        </p:nvSpPr>
        <p:spPr>
          <a:xfrm>
            <a:off x="4659977" y="5406731"/>
            <a:ext cx="309723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顧客対応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16752" y="5648423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62661" y="125322"/>
                </a:moveTo>
                <a:cubicBezTo>
                  <a:pt x="97244" y="125322"/>
                  <a:pt x="125322" y="97244"/>
                  <a:pt x="125322" y="62661"/>
                </a:cubicBezTo>
                <a:cubicBezTo>
                  <a:pt x="125322" y="28077"/>
                  <a:pt x="97244" y="0"/>
                  <a:pt x="62661" y="0"/>
                </a:cubicBezTo>
                <a:cubicBezTo>
                  <a:pt x="28077" y="0"/>
                  <a:pt x="0" y="28077"/>
                  <a:pt x="0" y="62661"/>
                </a:cubicBezTo>
                <a:cubicBezTo>
                  <a:pt x="0" y="97244"/>
                  <a:pt x="28077" y="125322"/>
                  <a:pt x="62661" y="125322"/>
                </a:cubicBezTo>
                <a:close/>
                <a:moveTo>
                  <a:pt x="83319" y="52062"/>
                </a:moveTo>
                <a:lnTo>
                  <a:pt x="63738" y="83393"/>
                </a:lnTo>
                <a:cubicBezTo>
                  <a:pt x="62710" y="85033"/>
                  <a:pt x="60947" y="86061"/>
                  <a:pt x="59014" y="86159"/>
                </a:cubicBezTo>
                <a:cubicBezTo>
                  <a:pt x="57080" y="86256"/>
                  <a:pt x="55220" y="85375"/>
                  <a:pt x="54069" y="83809"/>
                </a:cubicBezTo>
                <a:lnTo>
                  <a:pt x="42321" y="68144"/>
                </a:lnTo>
                <a:cubicBezTo>
                  <a:pt x="40362" y="65549"/>
                  <a:pt x="40901" y="61878"/>
                  <a:pt x="43495" y="59919"/>
                </a:cubicBezTo>
                <a:cubicBezTo>
                  <a:pt x="46090" y="57961"/>
                  <a:pt x="49761" y="58500"/>
                  <a:pt x="51720" y="61094"/>
                </a:cubicBezTo>
                <a:lnTo>
                  <a:pt x="58328" y="69906"/>
                </a:lnTo>
                <a:lnTo>
                  <a:pt x="73357" y="45845"/>
                </a:lnTo>
                <a:cubicBezTo>
                  <a:pt x="75071" y="43104"/>
                  <a:pt x="78693" y="42247"/>
                  <a:pt x="81459" y="43985"/>
                </a:cubicBezTo>
                <a:cubicBezTo>
                  <a:pt x="84225" y="45723"/>
                  <a:pt x="85057" y="49321"/>
                  <a:pt x="83319" y="52087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48" name="Text 46"/>
          <p:cNvSpPr/>
          <p:nvPr/>
        </p:nvSpPr>
        <p:spPr>
          <a:xfrm>
            <a:off x="4659977" y="5621568"/>
            <a:ext cx="309723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契約締結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16752" y="5863260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62661" y="125322"/>
                </a:moveTo>
                <a:cubicBezTo>
                  <a:pt x="97244" y="125322"/>
                  <a:pt x="125322" y="97244"/>
                  <a:pt x="125322" y="62661"/>
                </a:cubicBezTo>
                <a:cubicBezTo>
                  <a:pt x="125322" y="28077"/>
                  <a:pt x="97244" y="0"/>
                  <a:pt x="62661" y="0"/>
                </a:cubicBezTo>
                <a:cubicBezTo>
                  <a:pt x="28077" y="0"/>
                  <a:pt x="0" y="28077"/>
                  <a:pt x="0" y="62661"/>
                </a:cubicBezTo>
                <a:cubicBezTo>
                  <a:pt x="0" y="97244"/>
                  <a:pt x="28077" y="125322"/>
                  <a:pt x="62661" y="125322"/>
                </a:cubicBezTo>
                <a:close/>
                <a:moveTo>
                  <a:pt x="83319" y="52062"/>
                </a:moveTo>
                <a:lnTo>
                  <a:pt x="63738" y="83393"/>
                </a:lnTo>
                <a:cubicBezTo>
                  <a:pt x="62710" y="85033"/>
                  <a:pt x="60947" y="86061"/>
                  <a:pt x="59014" y="86159"/>
                </a:cubicBezTo>
                <a:cubicBezTo>
                  <a:pt x="57080" y="86256"/>
                  <a:pt x="55220" y="85375"/>
                  <a:pt x="54069" y="83809"/>
                </a:cubicBezTo>
                <a:lnTo>
                  <a:pt x="42321" y="68144"/>
                </a:lnTo>
                <a:cubicBezTo>
                  <a:pt x="40362" y="65549"/>
                  <a:pt x="40901" y="61878"/>
                  <a:pt x="43495" y="59919"/>
                </a:cubicBezTo>
                <a:cubicBezTo>
                  <a:pt x="46090" y="57961"/>
                  <a:pt x="49761" y="58500"/>
                  <a:pt x="51720" y="61094"/>
                </a:cubicBezTo>
                <a:lnTo>
                  <a:pt x="58328" y="69906"/>
                </a:lnTo>
                <a:lnTo>
                  <a:pt x="73357" y="45845"/>
                </a:lnTo>
                <a:cubicBezTo>
                  <a:pt x="75071" y="43104"/>
                  <a:pt x="78693" y="42247"/>
                  <a:pt x="81459" y="43985"/>
                </a:cubicBezTo>
                <a:cubicBezTo>
                  <a:pt x="84225" y="45723"/>
                  <a:pt x="85057" y="49321"/>
                  <a:pt x="83319" y="52087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0" name="Text 48"/>
          <p:cNvSpPr/>
          <p:nvPr/>
        </p:nvSpPr>
        <p:spPr>
          <a:xfrm>
            <a:off x="4659977" y="5836405"/>
            <a:ext cx="309723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財務判断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16752" y="6078097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62661" y="125322"/>
                </a:moveTo>
                <a:cubicBezTo>
                  <a:pt x="97244" y="125322"/>
                  <a:pt x="125322" y="97244"/>
                  <a:pt x="125322" y="62661"/>
                </a:cubicBezTo>
                <a:cubicBezTo>
                  <a:pt x="125322" y="28077"/>
                  <a:pt x="97244" y="0"/>
                  <a:pt x="62661" y="0"/>
                </a:cubicBezTo>
                <a:cubicBezTo>
                  <a:pt x="28077" y="0"/>
                  <a:pt x="0" y="28077"/>
                  <a:pt x="0" y="62661"/>
                </a:cubicBezTo>
                <a:cubicBezTo>
                  <a:pt x="0" y="97244"/>
                  <a:pt x="28077" y="125322"/>
                  <a:pt x="62661" y="125322"/>
                </a:cubicBezTo>
                <a:close/>
                <a:moveTo>
                  <a:pt x="83319" y="52062"/>
                </a:moveTo>
                <a:lnTo>
                  <a:pt x="63738" y="83393"/>
                </a:lnTo>
                <a:cubicBezTo>
                  <a:pt x="62710" y="85033"/>
                  <a:pt x="60947" y="86061"/>
                  <a:pt x="59014" y="86159"/>
                </a:cubicBezTo>
                <a:cubicBezTo>
                  <a:pt x="57080" y="86256"/>
                  <a:pt x="55220" y="85375"/>
                  <a:pt x="54069" y="83809"/>
                </a:cubicBezTo>
                <a:lnTo>
                  <a:pt x="42321" y="68144"/>
                </a:lnTo>
                <a:cubicBezTo>
                  <a:pt x="40362" y="65549"/>
                  <a:pt x="40901" y="61878"/>
                  <a:pt x="43495" y="59919"/>
                </a:cubicBezTo>
                <a:cubicBezTo>
                  <a:pt x="46090" y="57961"/>
                  <a:pt x="49761" y="58500"/>
                  <a:pt x="51720" y="61094"/>
                </a:cubicBezTo>
                <a:lnTo>
                  <a:pt x="58328" y="69906"/>
                </a:lnTo>
                <a:lnTo>
                  <a:pt x="73357" y="45845"/>
                </a:lnTo>
                <a:cubicBezTo>
                  <a:pt x="75071" y="43104"/>
                  <a:pt x="78693" y="42247"/>
                  <a:pt x="81459" y="43985"/>
                </a:cubicBezTo>
                <a:cubicBezTo>
                  <a:pt x="84225" y="45723"/>
                  <a:pt x="85057" y="49321"/>
                  <a:pt x="83319" y="52087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2" name="Text 50"/>
          <p:cNvSpPr/>
          <p:nvPr/>
        </p:nvSpPr>
        <p:spPr>
          <a:xfrm>
            <a:off x="4659977" y="6051242"/>
            <a:ext cx="309723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法的対応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02684" y="1468053"/>
            <a:ext cx="3732793" cy="1879824"/>
          </a:xfrm>
          <a:custGeom>
            <a:avLst/>
            <a:gdLst/>
            <a:ahLst/>
            <a:cxnLst/>
            <a:rect l="l" t="t" r="r" b="b"/>
            <a:pathLst>
              <a:path w="3732793" h="1879824">
                <a:moveTo>
                  <a:pt x="107413" y="0"/>
                </a:moveTo>
                <a:lnTo>
                  <a:pt x="3625380" y="0"/>
                </a:lnTo>
                <a:cubicBezTo>
                  <a:pt x="3684702" y="0"/>
                  <a:pt x="3732793" y="48090"/>
                  <a:pt x="3732793" y="107413"/>
                </a:cubicBezTo>
                <a:lnTo>
                  <a:pt x="3732793" y="1772411"/>
                </a:lnTo>
                <a:cubicBezTo>
                  <a:pt x="3732793" y="1831733"/>
                  <a:pt x="3684702" y="1879824"/>
                  <a:pt x="3625380" y="1879824"/>
                </a:cubicBezTo>
                <a:lnTo>
                  <a:pt x="107413" y="1879824"/>
                </a:lnTo>
                <a:cubicBezTo>
                  <a:pt x="48130" y="1879824"/>
                  <a:pt x="0" y="1831694"/>
                  <a:pt x="0" y="1772411"/>
                </a:cubicBezTo>
                <a:lnTo>
                  <a:pt x="0" y="107413"/>
                </a:lnTo>
                <a:cubicBezTo>
                  <a:pt x="0" y="48130"/>
                  <a:pt x="48130" y="0"/>
                  <a:pt x="107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106EBE"/>
              </a:gs>
              <a:gs pos="100000">
                <a:srgbClr val="0078D4"/>
              </a:gs>
            </a:gsLst>
            <a:lin ang="270000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8245909" y="1611278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250643" y="0"/>
                </a:moveTo>
                <a:lnTo>
                  <a:pt x="250643" y="0"/>
                </a:lnTo>
                <a:cubicBezTo>
                  <a:pt x="388977" y="0"/>
                  <a:pt x="501286" y="112309"/>
                  <a:pt x="501286" y="250643"/>
                </a:cubicBezTo>
                <a:lnTo>
                  <a:pt x="501286" y="250643"/>
                </a:lnTo>
                <a:cubicBezTo>
                  <a:pt x="501286" y="388977"/>
                  <a:pt x="388977" y="501286"/>
                  <a:pt x="250643" y="501286"/>
                </a:cubicBezTo>
                <a:lnTo>
                  <a:pt x="250643" y="501286"/>
                </a:lnTo>
                <a:cubicBezTo>
                  <a:pt x="112309" y="501286"/>
                  <a:pt x="0" y="388977"/>
                  <a:pt x="0" y="250643"/>
                </a:cubicBezTo>
                <a:lnTo>
                  <a:pt x="0" y="250643"/>
                </a:lnTo>
                <a:cubicBezTo>
                  <a:pt x="0" y="112309"/>
                  <a:pt x="112309" y="0"/>
                  <a:pt x="25064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192199" y="1611278"/>
            <a:ext cx="608705" cy="50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854613" y="1736599"/>
            <a:ext cx="221998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Human-in-the-loopの徹底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45909" y="2202079"/>
            <a:ext cx="1432247" cy="268546"/>
          </a:xfrm>
          <a:custGeom>
            <a:avLst/>
            <a:gdLst/>
            <a:ahLst/>
            <a:cxnLst/>
            <a:rect l="l" t="t" r="r" b="b"/>
            <a:pathLst>
              <a:path w="1432247" h="268546">
                <a:moveTo>
                  <a:pt x="35805" y="0"/>
                </a:moveTo>
                <a:lnTo>
                  <a:pt x="1396441" y="0"/>
                </a:lnTo>
                <a:cubicBezTo>
                  <a:pt x="1416216" y="0"/>
                  <a:pt x="1432247" y="16031"/>
                  <a:pt x="1432247" y="35805"/>
                </a:cubicBezTo>
                <a:lnTo>
                  <a:pt x="1432247" y="232741"/>
                </a:lnTo>
                <a:cubicBezTo>
                  <a:pt x="1432247" y="252516"/>
                  <a:pt x="1416216" y="268546"/>
                  <a:pt x="1396441" y="268546"/>
                </a:cubicBezTo>
                <a:lnTo>
                  <a:pt x="35805" y="268546"/>
                </a:lnTo>
                <a:cubicBezTo>
                  <a:pt x="16031" y="268546"/>
                  <a:pt x="0" y="252516"/>
                  <a:pt x="0" y="232741"/>
                </a:cubicBezTo>
                <a:lnTo>
                  <a:pt x="0" y="35805"/>
                </a:lnTo>
                <a:cubicBezTo>
                  <a:pt x="0" y="16044"/>
                  <a:pt x="16044" y="0"/>
                  <a:pt x="35805" y="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245909" y="2202079"/>
            <a:ext cx="1503859" cy="268546"/>
          </a:xfrm>
          <a:prstGeom prst="rect">
            <a:avLst/>
          </a:prstGeom>
          <a:noFill/>
          <a:ln/>
        </p:spPr>
        <p:txBody>
          <a:bodyPr wrap="square" lIns="71612" tIns="35806" rIns="71612" bIns="35806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最終責任は常に人間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45909" y="2560141"/>
            <a:ext cx="3446344" cy="644511"/>
          </a:xfrm>
          <a:custGeom>
            <a:avLst/>
            <a:gdLst/>
            <a:ahLst/>
            <a:cxnLst/>
            <a:rect l="l" t="t" r="r" b="b"/>
            <a:pathLst>
              <a:path w="3446344" h="644511">
                <a:moveTo>
                  <a:pt x="71612" y="0"/>
                </a:moveTo>
                <a:lnTo>
                  <a:pt x="3374732" y="0"/>
                </a:lnTo>
                <a:cubicBezTo>
                  <a:pt x="3414282" y="0"/>
                  <a:pt x="3446344" y="32062"/>
                  <a:pt x="3446344" y="71612"/>
                </a:cubicBezTo>
                <a:lnTo>
                  <a:pt x="3446344" y="572899"/>
                </a:lnTo>
                <a:cubicBezTo>
                  <a:pt x="3446344" y="612449"/>
                  <a:pt x="3414282" y="644511"/>
                  <a:pt x="3374732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362279" y="2703366"/>
            <a:ext cx="161128" cy="143225"/>
          </a:xfrm>
          <a:custGeom>
            <a:avLst/>
            <a:gdLst/>
            <a:ahLst/>
            <a:cxnLst/>
            <a:rect l="l" t="t" r="r" b="b"/>
            <a:pathLst>
              <a:path w="161128" h="143225">
                <a:moveTo>
                  <a:pt x="62661" y="69374"/>
                </a:moveTo>
                <a:cubicBezTo>
                  <a:pt x="81188" y="69374"/>
                  <a:pt x="96229" y="54333"/>
                  <a:pt x="96229" y="35806"/>
                </a:cubicBezTo>
                <a:cubicBezTo>
                  <a:pt x="96229" y="17279"/>
                  <a:pt x="81188" y="2238"/>
                  <a:pt x="62661" y="2238"/>
                </a:cubicBezTo>
                <a:cubicBezTo>
                  <a:pt x="44134" y="2238"/>
                  <a:pt x="29093" y="17279"/>
                  <a:pt x="29093" y="35806"/>
                </a:cubicBezTo>
                <a:cubicBezTo>
                  <a:pt x="29093" y="54333"/>
                  <a:pt x="44134" y="69374"/>
                  <a:pt x="62661" y="69374"/>
                </a:cubicBezTo>
                <a:close/>
                <a:moveTo>
                  <a:pt x="54353" y="85040"/>
                </a:moveTo>
                <a:cubicBezTo>
                  <a:pt x="26799" y="85040"/>
                  <a:pt x="4476" y="107363"/>
                  <a:pt x="4476" y="134917"/>
                </a:cubicBezTo>
                <a:cubicBezTo>
                  <a:pt x="4476" y="139504"/>
                  <a:pt x="8196" y="143225"/>
                  <a:pt x="12784" y="143225"/>
                </a:cubicBezTo>
                <a:lnTo>
                  <a:pt x="83137" y="143225"/>
                </a:lnTo>
                <a:cubicBezTo>
                  <a:pt x="73011" y="131308"/>
                  <a:pt x="67137" y="115950"/>
                  <a:pt x="67137" y="99698"/>
                </a:cubicBezTo>
                <a:lnTo>
                  <a:pt x="67137" y="90998"/>
                </a:lnTo>
                <a:cubicBezTo>
                  <a:pt x="67137" y="88956"/>
                  <a:pt x="67416" y="86942"/>
                  <a:pt x="67948" y="85040"/>
                </a:cubicBezTo>
                <a:lnTo>
                  <a:pt x="54353" y="85040"/>
                </a:lnTo>
                <a:close/>
                <a:moveTo>
                  <a:pt x="124566" y="136651"/>
                </a:moveTo>
                <a:lnTo>
                  <a:pt x="120846" y="138413"/>
                </a:lnTo>
                <a:lnTo>
                  <a:pt x="120846" y="85795"/>
                </a:lnTo>
                <a:lnTo>
                  <a:pt x="147700" y="94746"/>
                </a:lnTo>
                <a:lnTo>
                  <a:pt x="147700" y="100229"/>
                </a:lnTo>
                <a:cubicBezTo>
                  <a:pt x="147700" y="115839"/>
                  <a:pt x="138693" y="130021"/>
                  <a:pt x="124566" y="136679"/>
                </a:cubicBezTo>
                <a:close/>
                <a:moveTo>
                  <a:pt x="118020" y="72591"/>
                </a:moveTo>
                <a:lnTo>
                  <a:pt x="86690" y="83026"/>
                </a:lnTo>
                <a:cubicBezTo>
                  <a:pt x="83026" y="84256"/>
                  <a:pt x="80564" y="87669"/>
                  <a:pt x="80564" y="91530"/>
                </a:cubicBezTo>
                <a:lnTo>
                  <a:pt x="80564" y="100229"/>
                </a:lnTo>
                <a:cubicBezTo>
                  <a:pt x="80564" y="121042"/>
                  <a:pt x="92593" y="139980"/>
                  <a:pt x="111391" y="148819"/>
                </a:cubicBezTo>
                <a:lnTo>
                  <a:pt x="116566" y="151253"/>
                </a:lnTo>
                <a:cubicBezTo>
                  <a:pt x="117909" y="151869"/>
                  <a:pt x="119363" y="152204"/>
                  <a:pt x="120818" y="152204"/>
                </a:cubicBezTo>
                <a:cubicBezTo>
                  <a:pt x="122272" y="152204"/>
                  <a:pt x="123755" y="151869"/>
                  <a:pt x="125070" y="151253"/>
                </a:cubicBezTo>
                <a:lnTo>
                  <a:pt x="130245" y="148819"/>
                </a:lnTo>
                <a:cubicBezTo>
                  <a:pt x="149099" y="139952"/>
                  <a:pt x="161128" y="121014"/>
                  <a:pt x="161128" y="100201"/>
                </a:cubicBezTo>
                <a:lnTo>
                  <a:pt x="161128" y="91502"/>
                </a:lnTo>
                <a:cubicBezTo>
                  <a:pt x="161128" y="87641"/>
                  <a:pt x="158666" y="84228"/>
                  <a:pt x="155002" y="82998"/>
                </a:cubicBezTo>
                <a:lnTo>
                  <a:pt x="123671" y="72563"/>
                </a:lnTo>
                <a:cubicBezTo>
                  <a:pt x="121825" y="71948"/>
                  <a:pt x="119839" y="71948"/>
                  <a:pt x="118020" y="72563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582834" y="2667559"/>
            <a:ext cx="3073612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AIはあくまで</a:t>
            </a:r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「副操縦士」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であり、最終判断と責任は</a:t>
            </a:r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人間が負う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11635" y="3464247"/>
            <a:ext cx="3714890" cy="2524335"/>
          </a:xfrm>
          <a:custGeom>
            <a:avLst/>
            <a:gdLst/>
            <a:ahLst/>
            <a:cxnLst/>
            <a:rect l="l" t="t" r="r" b="b"/>
            <a:pathLst>
              <a:path w="3714890" h="2524335">
                <a:moveTo>
                  <a:pt x="107410" y="0"/>
                </a:moveTo>
                <a:lnTo>
                  <a:pt x="3607479" y="0"/>
                </a:lnTo>
                <a:cubicBezTo>
                  <a:pt x="3666801" y="0"/>
                  <a:pt x="3714890" y="48089"/>
                  <a:pt x="3714890" y="107410"/>
                </a:cubicBezTo>
                <a:lnTo>
                  <a:pt x="3714890" y="2416924"/>
                </a:lnTo>
                <a:cubicBezTo>
                  <a:pt x="3714890" y="2476246"/>
                  <a:pt x="3666801" y="2524335"/>
                  <a:pt x="3607479" y="2524335"/>
                </a:cubicBezTo>
                <a:lnTo>
                  <a:pt x="107410" y="2524335"/>
                </a:lnTo>
                <a:cubicBezTo>
                  <a:pt x="48089" y="2524335"/>
                  <a:pt x="0" y="2476246"/>
                  <a:pt x="0" y="2416924"/>
                </a:cubicBezTo>
                <a:lnTo>
                  <a:pt x="0" y="107410"/>
                </a:lnTo>
                <a:cubicBezTo>
                  <a:pt x="0" y="48129"/>
                  <a:pt x="48129" y="0"/>
                  <a:pt x="107410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90666" y="3634326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0"/>
                </a:moveTo>
                <a:cubicBezTo>
                  <a:pt x="113587" y="0"/>
                  <a:pt x="119251" y="3399"/>
                  <a:pt x="122189" y="8812"/>
                </a:cubicBezTo>
                <a:lnTo>
                  <a:pt x="212823" y="176653"/>
                </a:lnTo>
                <a:cubicBezTo>
                  <a:pt x="215634" y="181856"/>
                  <a:pt x="215508" y="188150"/>
                  <a:pt x="212487" y="193227"/>
                </a:cubicBezTo>
                <a:cubicBezTo>
                  <a:pt x="209466" y="198305"/>
                  <a:pt x="203969" y="201410"/>
                  <a:pt x="198053" y="201410"/>
                </a:cubicBezTo>
                <a:lnTo>
                  <a:pt x="16784" y="201410"/>
                </a:lnTo>
                <a:cubicBezTo>
                  <a:pt x="10868" y="201410"/>
                  <a:pt x="5413" y="198305"/>
                  <a:pt x="2350" y="193227"/>
                </a:cubicBezTo>
                <a:cubicBezTo>
                  <a:pt x="-713" y="188150"/>
                  <a:pt x="-797" y="181856"/>
                  <a:pt x="2014" y="176653"/>
                </a:cubicBezTo>
                <a:lnTo>
                  <a:pt x="92648" y="8812"/>
                </a:lnTo>
                <a:cubicBezTo>
                  <a:pt x="95586" y="3399"/>
                  <a:pt x="101250" y="0"/>
                  <a:pt x="107419" y="0"/>
                </a:cubicBezTo>
                <a:close/>
                <a:moveTo>
                  <a:pt x="107419" y="70493"/>
                </a:moveTo>
                <a:cubicBezTo>
                  <a:pt x="101838" y="70493"/>
                  <a:pt x="97348" y="74983"/>
                  <a:pt x="97348" y="80564"/>
                </a:cubicBezTo>
                <a:lnTo>
                  <a:pt x="97348" y="127559"/>
                </a:lnTo>
                <a:cubicBezTo>
                  <a:pt x="97348" y="133140"/>
                  <a:pt x="101838" y="137630"/>
                  <a:pt x="107419" y="137630"/>
                </a:cubicBezTo>
                <a:cubicBezTo>
                  <a:pt x="112999" y="137630"/>
                  <a:pt x="117489" y="133140"/>
                  <a:pt x="117489" y="127559"/>
                </a:cubicBezTo>
                <a:lnTo>
                  <a:pt x="117489" y="80564"/>
                </a:lnTo>
                <a:cubicBezTo>
                  <a:pt x="117489" y="74983"/>
                  <a:pt x="112999" y="70493"/>
                  <a:pt x="107419" y="70493"/>
                </a:cubicBezTo>
                <a:close/>
                <a:moveTo>
                  <a:pt x="118622" y="161128"/>
                </a:moveTo>
                <a:cubicBezTo>
                  <a:pt x="118877" y="156969"/>
                  <a:pt x="116803" y="153013"/>
                  <a:pt x="113238" y="150856"/>
                </a:cubicBezTo>
                <a:cubicBezTo>
                  <a:pt x="109673" y="148700"/>
                  <a:pt x="105206" y="148700"/>
                  <a:pt x="101641" y="150856"/>
                </a:cubicBezTo>
                <a:cubicBezTo>
                  <a:pt x="98076" y="153013"/>
                  <a:pt x="96002" y="156969"/>
                  <a:pt x="96257" y="161128"/>
                </a:cubicBezTo>
                <a:cubicBezTo>
                  <a:pt x="96002" y="165286"/>
                  <a:pt x="98076" y="169243"/>
                  <a:pt x="101641" y="171399"/>
                </a:cubicBezTo>
                <a:cubicBezTo>
                  <a:pt x="105206" y="173556"/>
                  <a:pt x="109673" y="173556"/>
                  <a:pt x="113238" y="171399"/>
                </a:cubicBezTo>
                <a:cubicBezTo>
                  <a:pt x="116803" y="169243"/>
                  <a:pt x="118877" y="165286"/>
                  <a:pt x="118622" y="161128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64" name="Text 62"/>
          <p:cNvSpPr/>
          <p:nvPr/>
        </p:nvSpPr>
        <p:spPr>
          <a:xfrm>
            <a:off x="8639776" y="3616423"/>
            <a:ext cx="187982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ハルシネーションの例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63812" y="3974485"/>
            <a:ext cx="3410537" cy="572899"/>
          </a:xfrm>
          <a:custGeom>
            <a:avLst/>
            <a:gdLst/>
            <a:ahLst/>
            <a:cxnLst/>
            <a:rect l="l" t="t" r="r" b="b"/>
            <a:pathLst>
              <a:path w="3410537" h="572899">
                <a:moveTo>
                  <a:pt x="71612" y="0"/>
                </a:moveTo>
                <a:lnTo>
                  <a:pt x="3338925" y="0"/>
                </a:lnTo>
                <a:cubicBezTo>
                  <a:pt x="3378476" y="0"/>
                  <a:pt x="3410537" y="32062"/>
                  <a:pt x="3410537" y="71612"/>
                </a:cubicBezTo>
                <a:lnTo>
                  <a:pt x="3410537" y="501286"/>
                </a:lnTo>
                <a:cubicBezTo>
                  <a:pt x="3410537" y="540837"/>
                  <a:pt x="3378476" y="572899"/>
                  <a:pt x="3338925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8335424" y="4046097"/>
            <a:ext cx="332997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誤った事実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35424" y="4260934"/>
            <a:ext cx="333892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「2023年の売上は1億円」→実際は5,000万円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63812" y="4618996"/>
            <a:ext cx="3410537" cy="572899"/>
          </a:xfrm>
          <a:custGeom>
            <a:avLst/>
            <a:gdLst/>
            <a:ahLst/>
            <a:cxnLst/>
            <a:rect l="l" t="t" r="r" b="b"/>
            <a:pathLst>
              <a:path w="3410537" h="572899">
                <a:moveTo>
                  <a:pt x="71612" y="0"/>
                </a:moveTo>
                <a:lnTo>
                  <a:pt x="3338925" y="0"/>
                </a:lnTo>
                <a:cubicBezTo>
                  <a:pt x="3378476" y="0"/>
                  <a:pt x="3410537" y="32062"/>
                  <a:pt x="3410537" y="71612"/>
                </a:cubicBezTo>
                <a:lnTo>
                  <a:pt x="3410537" y="501286"/>
                </a:lnTo>
                <a:cubicBezTo>
                  <a:pt x="3410537" y="540837"/>
                  <a:pt x="3378476" y="572899"/>
                  <a:pt x="3338925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335424" y="4690608"/>
            <a:ext cx="332997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存在しない出典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35424" y="4905445"/>
            <a:ext cx="333892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「社内規程第3条」→実際には存在しない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63812" y="5263507"/>
            <a:ext cx="3410537" cy="572899"/>
          </a:xfrm>
          <a:custGeom>
            <a:avLst/>
            <a:gdLst/>
            <a:ahLst/>
            <a:cxnLst/>
            <a:rect l="l" t="t" r="r" b="b"/>
            <a:pathLst>
              <a:path w="3410537" h="572899">
                <a:moveTo>
                  <a:pt x="71612" y="0"/>
                </a:moveTo>
                <a:lnTo>
                  <a:pt x="3338925" y="0"/>
                </a:lnTo>
                <a:cubicBezTo>
                  <a:pt x="3378476" y="0"/>
                  <a:pt x="3410537" y="32062"/>
                  <a:pt x="3410537" y="71612"/>
                </a:cubicBezTo>
                <a:lnTo>
                  <a:pt x="3410537" y="501286"/>
                </a:lnTo>
                <a:cubicBezTo>
                  <a:pt x="3410537" y="540837"/>
                  <a:pt x="3378476" y="572899"/>
                  <a:pt x="3338925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8335424" y="5335119"/>
            <a:ext cx="332997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矛盾した内容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35424" y="5549956"/>
            <a:ext cx="333892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同じ質問で異なる回答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790" y="319790"/>
            <a:ext cx="11616378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spc="50" kern="0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9790" y="575622"/>
            <a:ext cx="11696325" cy="3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6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禁止事項とコンプライアンス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9790" y="959370"/>
            <a:ext cx="11624372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厳格に禁止される行為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9790" y="1311140"/>
            <a:ext cx="5716249" cy="1423066"/>
          </a:xfrm>
          <a:custGeom>
            <a:avLst/>
            <a:gdLst/>
            <a:ahLst/>
            <a:cxnLst/>
            <a:rect l="l" t="t" r="r" b="b"/>
            <a:pathLst>
              <a:path w="5716249" h="1423066">
                <a:moveTo>
                  <a:pt x="95943" y="0"/>
                </a:moveTo>
                <a:lnTo>
                  <a:pt x="5620306" y="0"/>
                </a:lnTo>
                <a:cubicBezTo>
                  <a:pt x="5673294" y="0"/>
                  <a:pt x="5716249" y="42955"/>
                  <a:pt x="5716249" y="95943"/>
                </a:cubicBezTo>
                <a:lnTo>
                  <a:pt x="5716249" y="1327123"/>
                </a:lnTo>
                <a:cubicBezTo>
                  <a:pt x="5716249" y="1380111"/>
                  <a:pt x="5673294" y="1423066"/>
                  <a:pt x="5620306" y="1423066"/>
                </a:cubicBezTo>
                <a:lnTo>
                  <a:pt x="95943" y="1423066"/>
                </a:lnTo>
                <a:cubicBezTo>
                  <a:pt x="42955" y="1423066"/>
                  <a:pt x="0" y="1380111"/>
                  <a:pt x="0" y="1327123"/>
                </a:cubicBezTo>
                <a:lnTo>
                  <a:pt x="0" y="95943"/>
                </a:lnTo>
                <a:cubicBezTo>
                  <a:pt x="0" y="42991"/>
                  <a:pt x="42991" y="0"/>
                  <a:pt x="95943" y="0"/>
                </a:cubicBezTo>
                <a:close/>
              </a:path>
            </a:pathLst>
          </a:custGeom>
          <a:gradFill rotWithShape="1" flip="none">
            <a:gsLst>
              <a:gs pos="0">
                <a:srgbClr val="D83B01"/>
              </a:gs>
              <a:gs pos="100000">
                <a:srgbClr val="D83B01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47706" y="1439056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191874" y="0"/>
                </a:moveTo>
                <a:lnTo>
                  <a:pt x="191874" y="0"/>
                </a:lnTo>
                <a:cubicBezTo>
                  <a:pt x="297772" y="0"/>
                  <a:pt x="383748" y="85976"/>
                  <a:pt x="383748" y="191874"/>
                </a:cubicBezTo>
                <a:lnTo>
                  <a:pt x="383748" y="191874"/>
                </a:lnTo>
                <a:cubicBezTo>
                  <a:pt x="383748" y="297772"/>
                  <a:pt x="297772" y="383748"/>
                  <a:pt x="191874" y="383748"/>
                </a:cubicBezTo>
                <a:lnTo>
                  <a:pt x="191874" y="383748"/>
                </a:lnTo>
                <a:cubicBezTo>
                  <a:pt x="85976" y="383748"/>
                  <a:pt x="0" y="297772"/>
                  <a:pt x="0" y="191874"/>
                </a:cubicBezTo>
                <a:lnTo>
                  <a:pt x="0" y="191874"/>
                </a:lnTo>
                <a:cubicBezTo>
                  <a:pt x="0" y="85976"/>
                  <a:pt x="85976" y="0"/>
                  <a:pt x="19187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07732" y="1439056"/>
            <a:ext cx="463696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7391" y="1519003"/>
            <a:ext cx="2326473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Jailbreak・安全回避行為の禁止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706" y="1918741"/>
            <a:ext cx="5524375" cy="20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7" b="1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プロンプトインジェクション、脱獄攻撃 </a:t>
            </a:r>
            <a:pPr>
              <a:lnSpc>
                <a:spcPct val="140000"/>
              </a:lnSpc>
            </a:pPr>
            <a:r>
              <a:rPr lang="en-US" sz="1007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などのAIセーフガードを回避する試みは禁止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7706" y="2222542"/>
            <a:ext cx="5460417" cy="383748"/>
          </a:xfrm>
          <a:custGeom>
            <a:avLst/>
            <a:gdLst/>
            <a:ahLst/>
            <a:cxnLst/>
            <a:rect l="l" t="t" r="r" b="b"/>
            <a:pathLst>
              <a:path w="5460417" h="383748">
                <a:moveTo>
                  <a:pt x="63959" y="0"/>
                </a:moveTo>
                <a:lnTo>
                  <a:pt x="5396458" y="0"/>
                </a:lnTo>
                <a:cubicBezTo>
                  <a:pt x="5431781" y="0"/>
                  <a:pt x="5460417" y="28636"/>
                  <a:pt x="5460417" y="63959"/>
                </a:cubicBezTo>
                <a:lnTo>
                  <a:pt x="5460417" y="319789"/>
                </a:lnTo>
                <a:cubicBezTo>
                  <a:pt x="5460417" y="355113"/>
                  <a:pt x="5431781" y="383748"/>
                  <a:pt x="5396458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9633" y="2350458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91740" y="103057"/>
                </a:moveTo>
                <a:lnTo>
                  <a:pt x="24859" y="36176"/>
                </a:lnTo>
                <a:cubicBezTo>
                  <a:pt x="19262" y="44021"/>
                  <a:pt x="15990" y="53615"/>
                  <a:pt x="15990" y="63958"/>
                </a:cubicBezTo>
                <a:cubicBezTo>
                  <a:pt x="15990" y="90441"/>
                  <a:pt x="37475" y="111927"/>
                  <a:pt x="63958" y="111927"/>
                </a:cubicBezTo>
                <a:cubicBezTo>
                  <a:pt x="74326" y="111927"/>
                  <a:pt x="83920" y="108654"/>
                  <a:pt x="91740" y="103057"/>
                </a:cubicBezTo>
                <a:close/>
                <a:moveTo>
                  <a:pt x="103057" y="91740"/>
                </a:moveTo>
                <a:cubicBezTo>
                  <a:pt x="108654" y="83895"/>
                  <a:pt x="111927" y="74301"/>
                  <a:pt x="111927" y="63958"/>
                </a:cubicBezTo>
                <a:cubicBezTo>
                  <a:pt x="111927" y="37475"/>
                  <a:pt x="90441" y="15990"/>
                  <a:pt x="63958" y="15990"/>
                </a:cubicBezTo>
                <a:cubicBezTo>
                  <a:pt x="53590" y="15990"/>
                  <a:pt x="43996" y="19262"/>
                  <a:pt x="36176" y="24859"/>
                </a:cubicBezTo>
                <a:lnTo>
                  <a:pt x="103057" y="91740"/>
                </a:lnTo>
                <a:close/>
                <a:moveTo>
                  <a:pt x="0" y="63958"/>
                </a:moveTo>
                <a:cubicBezTo>
                  <a:pt x="0" y="28659"/>
                  <a:pt x="28659" y="0"/>
                  <a:pt x="63958" y="0"/>
                </a:cubicBezTo>
                <a:cubicBezTo>
                  <a:pt x="99257" y="0"/>
                  <a:pt x="127916" y="28659"/>
                  <a:pt x="127916" y="63958"/>
                </a:cubicBezTo>
                <a:cubicBezTo>
                  <a:pt x="127916" y="99257"/>
                  <a:pt x="99257" y="127916"/>
                  <a:pt x="63958" y="127916"/>
                </a:cubicBezTo>
                <a:cubicBezTo>
                  <a:pt x="28659" y="127916"/>
                  <a:pt x="0" y="99257"/>
                  <a:pt x="0" y="63958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43800" y="2318479"/>
            <a:ext cx="5132344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セキュリティ制限の回避</a:t>
            </a:r>
            <a:pPr>
              <a:lnSpc>
                <a:spcPct val="120000"/>
              </a:lnSpc>
            </a:pPr>
            <a:r>
              <a:rPr lang="en-US" sz="1007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や</a:t>
            </a:r>
            <a:pPr>
              <a:lnSpc>
                <a:spcPct val="120000"/>
              </a:lnSpc>
            </a:pPr>
            <a:r>
              <a:rPr lang="en-US" sz="1007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不適切なコンテンツ生成</a:t>
            </a:r>
            <a:pPr>
              <a:lnSpc>
                <a:spcPct val="120000"/>
              </a:lnSpc>
            </a:pPr>
            <a:r>
              <a:rPr lang="en-US" sz="1007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を目的とした操作は厳禁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5780" y="2830143"/>
            <a:ext cx="5700260" cy="1790825"/>
          </a:xfrm>
          <a:custGeom>
            <a:avLst/>
            <a:gdLst/>
            <a:ahLst/>
            <a:cxnLst/>
            <a:rect l="l" t="t" r="r" b="b"/>
            <a:pathLst>
              <a:path w="5700260" h="1790825">
                <a:moveTo>
                  <a:pt x="31979" y="0"/>
                </a:moveTo>
                <a:lnTo>
                  <a:pt x="5604325" y="0"/>
                </a:lnTo>
                <a:cubicBezTo>
                  <a:pt x="5657308" y="0"/>
                  <a:pt x="5700260" y="42951"/>
                  <a:pt x="5700260" y="95934"/>
                </a:cubicBezTo>
                <a:lnTo>
                  <a:pt x="5700260" y="1694890"/>
                </a:lnTo>
                <a:cubicBezTo>
                  <a:pt x="5700260" y="1747874"/>
                  <a:pt x="5657308" y="1790825"/>
                  <a:pt x="5604325" y="1790825"/>
                </a:cubicBezTo>
                <a:lnTo>
                  <a:pt x="31979" y="1790825"/>
                </a:lnTo>
                <a:cubicBezTo>
                  <a:pt x="14317" y="1790825"/>
                  <a:pt x="0" y="1776507"/>
                  <a:pt x="0" y="1758846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984" dist="7995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780" y="2830143"/>
            <a:ext cx="31979" cy="1790825"/>
          </a:xfrm>
          <a:custGeom>
            <a:avLst/>
            <a:gdLst/>
            <a:ahLst/>
            <a:cxnLst/>
            <a:rect l="l" t="t" r="r" b="b"/>
            <a:pathLst>
              <a:path w="31979" h="1790825">
                <a:moveTo>
                  <a:pt x="31979" y="0"/>
                </a:moveTo>
                <a:lnTo>
                  <a:pt x="31979" y="0"/>
                </a:lnTo>
                <a:lnTo>
                  <a:pt x="31979" y="1790825"/>
                </a:lnTo>
                <a:lnTo>
                  <a:pt x="31979" y="1790825"/>
                </a:lnTo>
                <a:cubicBezTo>
                  <a:pt x="14317" y="1790825"/>
                  <a:pt x="0" y="1776507"/>
                  <a:pt x="0" y="1758846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15" name="Shape 13"/>
          <p:cNvSpPr/>
          <p:nvPr/>
        </p:nvSpPr>
        <p:spPr>
          <a:xfrm>
            <a:off x="479685" y="2958059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191874" y="0"/>
                </a:moveTo>
                <a:lnTo>
                  <a:pt x="191874" y="0"/>
                </a:lnTo>
                <a:cubicBezTo>
                  <a:pt x="297772" y="0"/>
                  <a:pt x="383748" y="85976"/>
                  <a:pt x="383748" y="191874"/>
                </a:cubicBezTo>
                <a:lnTo>
                  <a:pt x="383748" y="191874"/>
                </a:lnTo>
                <a:cubicBezTo>
                  <a:pt x="383748" y="297772"/>
                  <a:pt x="297772" y="383748"/>
                  <a:pt x="191874" y="383748"/>
                </a:cubicBezTo>
                <a:lnTo>
                  <a:pt x="191874" y="383748"/>
                </a:lnTo>
                <a:cubicBezTo>
                  <a:pt x="85976" y="383748"/>
                  <a:pt x="0" y="297772"/>
                  <a:pt x="0" y="191874"/>
                </a:cubicBezTo>
                <a:lnTo>
                  <a:pt x="0" y="191874"/>
                </a:lnTo>
                <a:cubicBezTo>
                  <a:pt x="0" y="85976"/>
                  <a:pt x="85976" y="0"/>
                  <a:pt x="191874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9711" y="2958059"/>
            <a:ext cx="463696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9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9370" y="3038007"/>
            <a:ext cx="1838793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9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未承認データの入力禁止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9685" y="3437744"/>
            <a:ext cx="5492396" cy="20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7" b="1" dirty="0">
                <a:solidFill>
                  <a:srgbClr val="D83B01"/>
                </a:solidFill>
                <a:highlight>
                  <a:srgbClr val="D83B01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個人契約のAIサービス </a:t>
            </a:r>
            <a:pPr>
              <a:lnSpc>
                <a:spcPct val="14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（ChatGPT無料版等）への機密情報入力は厳禁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9685" y="3741545"/>
            <a:ext cx="5428438" cy="383748"/>
          </a:xfrm>
          <a:custGeom>
            <a:avLst/>
            <a:gdLst/>
            <a:ahLst/>
            <a:cxnLst/>
            <a:rect l="l" t="t" r="r" b="b"/>
            <a:pathLst>
              <a:path w="5428438" h="383748">
                <a:moveTo>
                  <a:pt x="63959" y="0"/>
                </a:moveTo>
                <a:lnTo>
                  <a:pt x="5364479" y="0"/>
                </a:lnTo>
                <a:cubicBezTo>
                  <a:pt x="5399802" y="0"/>
                  <a:pt x="5428438" y="28636"/>
                  <a:pt x="5428438" y="63959"/>
                </a:cubicBezTo>
                <a:lnTo>
                  <a:pt x="5428438" y="319789"/>
                </a:lnTo>
                <a:cubicBezTo>
                  <a:pt x="5428438" y="355113"/>
                  <a:pt x="5399802" y="383748"/>
                  <a:pt x="5364479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91612" y="3869461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63958" y="0"/>
                </a:moveTo>
                <a:cubicBezTo>
                  <a:pt x="65107" y="0"/>
                  <a:pt x="66257" y="250"/>
                  <a:pt x="67306" y="725"/>
                </a:cubicBezTo>
                <a:lnTo>
                  <a:pt x="114375" y="20686"/>
                </a:lnTo>
                <a:cubicBezTo>
                  <a:pt x="119871" y="23010"/>
                  <a:pt x="123969" y="28431"/>
                  <a:pt x="123944" y="34977"/>
                </a:cubicBezTo>
                <a:cubicBezTo>
                  <a:pt x="123819" y="59761"/>
                  <a:pt x="113625" y="105106"/>
                  <a:pt x="70579" y="125718"/>
                </a:cubicBezTo>
                <a:cubicBezTo>
                  <a:pt x="66406" y="127716"/>
                  <a:pt x="61560" y="127716"/>
                  <a:pt x="57387" y="125718"/>
                </a:cubicBezTo>
                <a:cubicBezTo>
                  <a:pt x="14316" y="105106"/>
                  <a:pt x="4147" y="59761"/>
                  <a:pt x="4022" y="34977"/>
                </a:cubicBezTo>
                <a:cubicBezTo>
                  <a:pt x="3997" y="28431"/>
                  <a:pt x="8095" y="23010"/>
                  <a:pt x="13591" y="20686"/>
                </a:cubicBezTo>
                <a:lnTo>
                  <a:pt x="60635" y="725"/>
                </a:lnTo>
                <a:cubicBezTo>
                  <a:pt x="61685" y="250"/>
                  <a:pt x="62809" y="0"/>
                  <a:pt x="63958" y="0"/>
                </a:cubicBezTo>
                <a:close/>
                <a:moveTo>
                  <a:pt x="63958" y="16689"/>
                </a:moveTo>
                <a:lnTo>
                  <a:pt x="63958" y="111152"/>
                </a:lnTo>
                <a:cubicBezTo>
                  <a:pt x="98435" y="94463"/>
                  <a:pt x="107704" y="57487"/>
                  <a:pt x="107929" y="35352"/>
                </a:cubicBezTo>
                <a:lnTo>
                  <a:pt x="63958" y="16714"/>
                </a:lnTo>
                <a:lnTo>
                  <a:pt x="63958" y="16714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775779" y="3837482"/>
            <a:ext cx="5100365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EDP適用環境のみ</a:t>
            </a:r>
            <a:pPr>
              <a:lnSpc>
                <a:spcPct val="12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利用可能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3683" y="4193249"/>
            <a:ext cx="5420443" cy="295806"/>
          </a:xfrm>
          <a:custGeom>
            <a:avLst/>
            <a:gdLst/>
            <a:ahLst/>
            <a:cxnLst/>
            <a:rect l="l" t="t" r="r" b="b"/>
            <a:pathLst>
              <a:path w="5420443" h="295806">
                <a:moveTo>
                  <a:pt x="63959" y="0"/>
                </a:moveTo>
                <a:lnTo>
                  <a:pt x="5356484" y="0"/>
                </a:lnTo>
                <a:cubicBezTo>
                  <a:pt x="5391808" y="0"/>
                  <a:pt x="5420443" y="28635"/>
                  <a:pt x="5420443" y="63959"/>
                </a:cubicBezTo>
                <a:lnTo>
                  <a:pt x="5420443" y="231847"/>
                </a:lnTo>
                <a:cubicBezTo>
                  <a:pt x="5420443" y="267170"/>
                  <a:pt x="5391808" y="295806"/>
                  <a:pt x="5356484" y="295806"/>
                </a:cubicBezTo>
                <a:lnTo>
                  <a:pt x="63959" y="295806"/>
                </a:lnTo>
                <a:cubicBezTo>
                  <a:pt x="28635" y="295806"/>
                  <a:pt x="0" y="267170"/>
                  <a:pt x="0" y="231847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7628" y="4285188"/>
            <a:ext cx="111927" cy="111927"/>
          </a:xfrm>
          <a:custGeom>
            <a:avLst/>
            <a:gdLst/>
            <a:ahLst/>
            <a:cxnLst/>
            <a:rect l="l" t="t" r="r" b="b"/>
            <a:pathLst>
              <a:path w="111927" h="111927">
                <a:moveTo>
                  <a:pt x="55963" y="0"/>
                </a:moveTo>
                <a:cubicBezTo>
                  <a:pt x="59177" y="0"/>
                  <a:pt x="62128" y="1771"/>
                  <a:pt x="63658" y="4591"/>
                </a:cubicBezTo>
                <a:lnTo>
                  <a:pt x="110877" y="92033"/>
                </a:lnTo>
                <a:cubicBezTo>
                  <a:pt x="112342" y="94744"/>
                  <a:pt x="112276" y="98023"/>
                  <a:pt x="110702" y="100668"/>
                </a:cubicBezTo>
                <a:cubicBezTo>
                  <a:pt x="109128" y="103313"/>
                  <a:pt x="106265" y="104931"/>
                  <a:pt x="103182" y="104931"/>
                </a:cubicBezTo>
                <a:lnTo>
                  <a:pt x="8744" y="104931"/>
                </a:lnTo>
                <a:cubicBezTo>
                  <a:pt x="5662" y="104931"/>
                  <a:pt x="2820" y="103313"/>
                  <a:pt x="1224" y="100668"/>
                </a:cubicBezTo>
                <a:cubicBezTo>
                  <a:pt x="-372" y="98023"/>
                  <a:pt x="-415" y="94744"/>
                  <a:pt x="1049" y="92033"/>
                </a:cubicBezTo>
                <a:lnTo>
                  <a:pt x="48268" y="4591"/>
                </a:lnTo>
                <a:cubicBezTo>
                  <a:pt x="49799" y="1771"/>
                  <a:pt x="52750" y="0"/>
                  <a:pt x="55963" y="0"/>
                </a:cubicBezTo>
                <a:close/>
                <a:moveTo>
                  <a:pt x="55963" y="36726"/>
                </a:moveTo>
                <a:cubicBezTo>
                  <a:pt x="53056" y="36726"/>
                  <a:pt x="50717" y="39065"/>
                  <a:pt x="50717" y="41972"/>
                </a:cubicBezTo>
                <a:lnTo>
                  <a:pt x="50717" y="66456"/>
                </a:lnTo>
                <a:cubicBezTo>
                  <a:pt x="50717" y="69364"/>
                  <a:pt x="53056" y="71703"/>
                  <a:pt x="55963" y="71703"/>
                </a:cubicBezTo>
                <a:cubicBezTo>
                  <a:pt x="58871" y="71703"/>
                  <a:pt x="61210" y="69364"/>
                  <a:pt x="61210" y="66456"/>
                </a:cubicBezTo>
                <a:lnTo>
                  <a:pt x="61210" y="41972"/>
                </a:lnTo>
                <a:cubicBezTo>
                  <a:pt x="61210" y="39065"/>
                  <a:pt x="58871" y="36726"/>
                  <a:pt x="55963" y="36726"/>
                </a:cubicBezTo>
                <a:close/>
                <a:moveTo>
                  <a:pt x="61800" y="83945"/>
                </a:moveTo>
                <a:cubicBezTo>
                  <a:pt x="61933" y="81778"/>
                  <a:pt x="60852" y="79717"/>
                  <a:pt x="58995" y="78594"/>
                </a:cubicBezTo>
                <a:cubicBezTo>
                  <a:pt x="57138" y="77470"/>
                  <a:pt x="54811" y="77470"/>
                  <a:pt x="52953" y="78594"/>
                </a:cubicBezTo>
                <a:cubicBezTo>
                  <a:pt x="51096" y="79717"/>
                  <a:pt x="50016" y="81778"/>
                  <a:pt x="50148" y="83945"/>
                </a:cubicBezTo>
                <a:cubicBezTo>
                  <a:pt x="50016" y="86111"/>
                  <a:pt x="51096" y="88173"/>
                  <a:pt x="52953" y="89296"/>
                </a:cubicBezTo>
                <a:cubicBezTo>
                  <a:pt x="54811" y="90420"/>
                  <a:pt x="57138" y="90420"/>
                  <a:pt x="58995" y="89296"/>
                </a:cubicBezTo>
                <a:cubicBezTo>
                  <a:pt x="60852" y="88173"/>
                  <a:pt x="61933" y="86111"/>
                  <a:pt x="61800" y="83945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24" name="Text 22"/>
          <p:cNvSpPr/>
          <p:nvPr/>
        </p:nvSpPr>
        <p:spPr>
          <a:xfrm>
            <a:off x="715675" y="4261204"/>
            <a:ext cx="5176459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無料版は</a:t>
            </a:r>
            <a:pPr>
              <a:lnSpc>
                <a:spcPct val="120000"/>
              </a:lnSpc>
            </a:pPr>
            <a:r>
              <a:rPr lang="en-US" sz="881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学習に利用される可能性</a:t>
            </a:r>
            <a:pPr>
              <a:lnSpc>
                <a:spcPct val="120000"/>
              </a:lnSpc>
            </a:pPr>
            <a:r>
              <a:rPr lang="en-US" sz="88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あり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5780" y="4716905"/>
            <a:ext cx="5700260" cy="1423066"/>
          </a:xfrm>
          <a:custGeom>
            <a:avLst/>
            <a:gdLst/>
            <a:ahLst/>
            <a:cxnLst/>
            <a:rect l="l" t="t" r="r" b="b"/>
            <a:pathLst>
              <a:path w="5700260" h="1423066">
                <a:moveTo>
                  <a:pt x="31979" y="0"/>
                </a:moveTo>
                <a:lnTo>
                  <a:pt x="5604317" y="0"/>
                </a:lnTo>
                <a:cubicBezTo>
                  <a:pt x="5657304" y="0"/>
                  <a:pt x="5700260" y="42955"/>
                  <a:pt x="5700260" y="95943"/>
                </a:cubicBezTo>
                <a:lnTo>
                  <a:pt x="5700260" y="1327123"/>
                </a:lnTo>
                <a:cubicBezTo>
                  <a:pt x="5700260" y="1380111"/>
                  <a:pt x="5657304" y="1423066"/>
                  <a:pt x="5604317" y="1423066"/>
                </a:cubicBezTo>
                <a:lnTo>
                  <a:pt x="31979" y="1423066"/>
                </a:lnTo>
                <a:cubicBezTo>
                  <a:pt x="14317" y="1423066"/>
                  <a:pt x="0" y="1408749"/>
                  <a:pt x="0" y="1391087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984" dist="7995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780" y="4716905"/>
            <a:ext cx="31979" cy="1423066"/>
          </a:xfrm>
          <a:custGeom>
            <a:avLst/>
            <a:gdLst/>
            <a:ahLst/>
            <a:cxnLst/>
            <a:rect l="l" t="t" r="r" b="b"/>
            <a:pathLst>
              <a:path w="31979" h="1423066">
                <a:moveTo>
                  <a:pt x="31979" y="0"/>
                </a:moveTo>
                <a:lnTo>
                  <a:pt x="31979" y="0"/>
                </a:lnTo>
                <a:lnTo>
                  <a:pt x="31979" y="1423066"/>
                </a:lnTo>
                <a:lnTo>
                  <a:pt x="31979" y="1423066"/>
                </a:lnTo>
                <a:cubicBezTo>
                  <a:pt x="14317" y="1423066"/>
                  <a:pt x="0" y="1408749"/>
                  <a:pt x="0" y="1391087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27" name="Shape 25"/>
          <p:cNvSpPr/>
          <p:nvPr/>
        </p:nvSpPr>
        <p:spPr>
          <a:xfrm>
            <a:off x="479685" y="4844821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191874" y="0"/>
                </a:moveTo>
                <a:lnTo>
                  <a:pt x="191874" y="0"/>
                </a:lnTo>
                <a:cubicBezTo>
                  <a:pt x="297772" y="0"/>
                  <a:pt x="383748" y="85976"/>
                  <a:pt x="383748" y="191874"/>
                </a:cubicBezTo>
                <a:lnTo>
                  <a:pt x="383748" y="191874"/>
                </a:lnTo>
                <a:cubicBezTo>
                  <a:pt x="383748" y="297772"/>
                  <a:pt x="297772" y="383748"/>
                  <a:pt x="191874" y="383748"/>
                </a:cubicBezTo>
                <a:lnTo>
                  <a:pt x="191874" y="383748"/>
                </a:lnTo>
                <a:cubicBezTo>
                  <a:pt x="85976" y="383748"/>
                  <a:pt x="0" y="297772"/>
                  <a:pt x="0" y="191874"/>
                </a:cubicBezTo>
                <a:lnTo>
                  <a:pt x="0" y="191874"/>
                </a:lnTo>
                <a:cubicBezTo>
                  <a:pt x="0" y="85976"/>
                  <a:pt x="85976" y="0"/>
                  <a:pt x="191874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39711" y="4844821"/>
            <a:ext cx="463696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9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9370" y="4924769"/>
            <a:ext cx="2638269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9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著作権・知的財産権侵害行為の禁止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9685" y="5324506"/>
            <a:ext cx="5492396" cy="20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AI生成コンテンツの</a:t>
            </a:r>
            <a:pPr>
              <a:lnSpc>
                <a:spcPct val="140000"/>
              </a:lnSpc>
            </a:pPr>
            <a:r>
              <a:rPr lang="en-US" sz="1007" b="1" dirty="0">
                <a:solidFill>
                  <a:srgbClr val="D83B01"/>
                </a:solidFill>
                <a:highlight>
                  <a:srgbClr val="D83B01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著作権状況を確認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9685" y="5628307"/>
            <a:ext cx="5428438" cy="383748"/>
          </a:xfrm>
          <a:custGeom>
            <a:avLst/>
            <a:gdLst/>
            <a:ahLst/>
            <a:cxnLst/>
            <a:rect l="l" t="t" r="r" b="b"/>
            <a:pathLst>
              <a:path w="5428438" h="383748">
                <a:moveTo>
                  <a:pt x="63959" y="0"/>
                </a:moveTo>
                <a:lnTo>
                  <a:pt x="5364479" y="0"/>
                </a:lnTo>
                <a:cubicBezTo>
                  <a:pt x="5399802" y="0"/>
                  <a:pt x="5428438" y="28636"/>
                  <a:pt x="5428438" y="63959"/>
                </a:cubicBezTo>
                <a:lnTo>
                  <a:pt x="5428438" y="319789"/>
                </a:lnTo>
                <a:cubicBezTo>
                  <a:pt x="5428438" y="355113"/>
                  <a:pt x="5399802" y="383748"/>
                  <a:pt x="5364479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591612" y="5756223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63958" y="127916"/>
                </a:moveTo>
                <a:cubicBezTo>
                  <a:pt x="99257" y="127916"/>
                  <a:pt x="127916" y="99257"/>
                  <a:pt x="127916" y="63958"/>
                </a:cubicBezTo>
                <a:cubicBezTo>
                  <a:pt x="127916" y="28659"/>
                  <a:pt x="99257" y="0"/>
                  <a:pt x="63958" y="0"/>
                </a:cubicBezTo>
                <a:cubicBezTo>
                  <a:pt x="28659" y="0"/>
                  <a:pt x="0" y="28659"/>
                  <a:pt x="0" y="63958"/>
                </a:cubicBezTo>
                <a:cubicBezTo>
                  <a:pt x="0" y="99257"/>
                  <a:pt x="28659" y="127916"/>
                  <a:pt x="63958" y="127916"/>
                </a:cubicBezTo>
                <a:close/>
                <a:moveTo>
                  <a:pt x="51241" y="76675"/>
                </a:moveTo>
                <a:cubicBezTo>
                  <a:pt x="58262" y="83695"/>
                  <a:pt x="69654" y="83695"/>
                  <a:pt x="76675" y="76675"/>
                </a:cubicBezTo>
                <a:cubicBezTo>
                  <a:pt x="79023" y="74326"/>
                  <a:pt x="82821" y="74326"/>
                  <a:pt x="85144" y="76675"/>
                </a:cubicBezTo>
                <a:cubicBezTo>
                  <a:pt x="87468" y="79023"/>
                  <a:pt x="87493" y="82821"/>
                  <a:pt x="85144" y="85144"/>
                </a:cubicBezTo>
                <a:cubicBezTo>
                  <a:pt x="73427" y="96861"/>
                  <a:pt x="54464" y="96861"/>
                  <a:pt x="42747" y="85144"/>
                </a:cubicBezTo>
                <a:cubicBezTo>
                  <a:pt x="31030" y="73427"/>
                  <a:pt x="31030" y="54464"/>
                  <a:pt x="42747" y="42747"/>
                </a:cubicBezTo>
                <a:cubicBezTo>
                  <a:pt x="54464" y="31030"/>
                  <a:pt x="73427" y="31030"/>
                  <a:pt x="85144" y="42747"/>
                </a:cubicBezTo>
                <a:cubicBezTo>
                  <a:pt x="87493" y="45095"/>
                  <a:pt x="87493" y="48893"/>
                  <a:pt x="85144" y="51216"/>
                </a:cubicBezTo>
                <a:cubicBezTo>
                  <a:pt x="82796" y="53540"/>
                  <a:pt x="78998" y="53565"/>
                  <a:pt x="76675" y="51216"/>
                </a:cubicBezTo>
                <a:cubicBezTo>
                  <a:pt x="69654" y="44196"/>
                  <a:pt x="58262" y="44196"/>
                  <a:pt x="51241" y="51216"/>
                </a:cubicBezTo>
                <a:cubicBezTo>
                  <a:pt x="44221" y="58237"/>
                  <a:pt x="44221" y="69629"/>
                  <a:pt x="51241" y="7665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33" name="Text 31"/>
          <p:cNvSpPr/>
          <p:nvPr/>
        </p:nvSpPr>
        <p:spPr>
          <a:xfrm>
            <a:off x="775779" y="5724244"/>
            <a:ext cx="5100365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第三者の知的財産権を侵害する入力や出力の利用は禁止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7197" y="1311140"/>
            <a:ext cx="5700260" cy="1423066"/>
          </a:xfrm>
          <a:custGeom>
            <a:avLst/>
            <a:gdLst/>
            <a:ahLst/>
            <a:cxnLst/>
            <a:rect l="l" t="t" r="r" b="b"/>
            <a:pathLst>
              <a:path w="5700260" h="1423066">
                <a:moveTo>
                  <a:pt x="31979" y="0"/>
                </a:moveTo>
                <a:lnTo>
                  <a:pt x="5604317" y="0"/>
                </a:lnTo>
                <a:cubicBezTo>
                  <a:pt x="5657304" y="0"/>
                  <a:pt x="5700260" y="42955"/>
                  <a:pt x="5700260" y="95943"/>
                </a:cubicBezTo>
                <a:lnTo>
                  <a:pt x="5700260" y="1327123"/>
                </a:lnTo>
                <a:cubicBezTo>
                  <a:pt x="5700260" y="1380111"/>
                  <a:pt x="5657304" y="1423066"/>
                  <a:pt x="5604317" y="1423066"/>
                </a:cubicBezTo>
                <a:lnTo>
                  <a:pt x="31979" y="1423066"/>
                </a:lnTo>
                <a:cubicBezTo>
                  <a:pt x="14317" y="1423066"/>
                  <a:pt x="0" y="1408749"/>
                  <a:pt x="0" y="1391087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984" dist="7995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7197" y="1311140"/>
            <a:ext cx="31979" cy="1423066"/>
          </a:xfrm>
          <a:custGeom>
            <a:avLst/>
            <a:gdLst/>
            <a:ahLst/>
            <a:cxnLst/>
            <a:rect l="l" t="t" r="r" b="b"/>
            <a:pathLst>
              <a:path w="31979" h="1423066">
                <a:moveTo>
                  <a:pt x="31979" y="0"/>
                </a:moveTo>
                <a:lnTo>
                  <a:pt x="31979" y="0"/>
                </a:lnTo>
                <a:lnTo>
                  <a:pt x="31979" y="1423066"/>
                </a:lnTo>
                <a:lnTo>
                  <a:pt x="31979" y="1423066"/>
                </a:lnTo>
                <a:cubicBezTo>
                  <a:pt x="14317" y="1423066"/>
                  <a:pt x="0" y="1408749"/>
                  <a:pt x="0" y="1391087"/>
                </a:cubicBezTo>
                <a:lnTo>
                  <a:pt x="0" y="31979"/>
                </a:lnTo>
                <a:cubicBezTo>
                  <a:pt x="0" y="14329"/>
                  <a:pt x="14329" y="0"/>
                  <a:pt x="31979" y="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36" name="Shape 34"/>
          <p:cNvSpPr/>
          <p:nvPr/>
        </p:nvSpPr>
        <p:spPr>
          <a:xfrm>
            <a:off x="6321102" y="1439056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191874" y="0"/>
                </a:moveTo>
                <a:lnTo>
                  <a:pt x="191874" y="0"/>
                </a:lnTo>
                <a:cubicBezTo>
                  <a:pt x="297772" y="0"/>
                  <a:pt x="383748" y="85976"/>
                  <a:pt x="383748" y="191874"/>
                </a:cubicBezTo>
                <a:lnTo>
                  <a:pt x="383748" y="191874"/>
                </a:lnTo>
                <a:cubicBezTo>
                  <a:pt x="383748" y="297772"/>
                  <a:pt x="297772" y="383748"/>
                  <a:pt x="191874" y="383748"/>
                </a:cubicBezTo>
                <a:lnTo>
                  <a:pt x="191874" y="383748"/>
                </a:lnTo>
                <a:cubicBezTo>
                  <a:pt x="85976" y="383748"/>
                  <a:pt x="0" y="297772"/>
                  <a:pt x="0" y="191874"/>
                </a:cubicBezTo>
                <a:lnTo>
                  <a:pt x="0" y="191874"/>
                </a:lnTo>
                <a:cubicBezTo>
                  <a:pt x="0" y="85976"/>
                  <a:pt x="85976" y="0"/>
                  <a:pt x="191874" y="0"/>
                </a:cubicBezTo>
                <a:close/>
              </a:path>
            </a:pathLst>
          </a:custGeom>
          <a:solidFill>
            <a:srgbClr val="D83B01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81129" y="1439056"/>
            <a:ext cx="463696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9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00788" y="1519003"/>
            <a:ext cx="3277849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9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マルウェア・不正コード生成目的利用の禁止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21102" y="1918741"/>
            <a:ext cx="5492396" cy="20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7" b="1" dirty="0">
                <a:solidFill>
                  <a:srgbClr val="D83B01"/>
                </a:solidFill>
                <a:highlight>
                  <a:srgbClr val="D83B01">
                    <a:alpha val="15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悪意のあるコードやマルウェア </a:t>
            </a:r>
            <a:pPr>
              <a:lnSpc>
                <a:spcPct val="14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の生成を目的とした利用は禁止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1102" y="2222542"/>
            <a:ext cx="5428438" cy="383748"/>
          </a:xfrm>
          <a:custGeom>
            <a:avLst/>
            <a:gdLst/>
            <a:ahLst/>
            <a:cxnLst/>
            <a:rect l="l" t="t" r="r" b="b"/>
            <a:pathLst>
              <a:path w="5428438" h="383748">
                <a:moveTo>
                  <a:pt x="63959" y="0"/>
                </a:moveTo>
                <a:lnTo>
                  <a:pt x="5364479" y="0"/>
                </a:lnTo>
                <a:cubicBezTo>
                  <a:pt x="5399802" y="0"/>
                  <a:pt x="5428438" y="28636"/>
                  <a:pt x="5428438" y="63959"/>
                </a:cubicBezTo>
                <a:lnTo>
                  <a:pt x="5428438" y="319789"/>
                </a:lnTo>
                <a:cubicBezTo>
                  <a:pt x="5428438" y="355113"/>
                  <a:pt x="5399802" y="383748"/>
                  <a:pt x="5364479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1" name="Shape 39"/>
          <p:cNvSpPr/>
          <p:nvPr/>
        </p:nvSpPr>
        <p:spPr>
          <a:xfrm>
            <a:off x="6433029" y="2350458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73951" y="9993"/>
                </a:moveTo>
                <a:cubicBezTo>
                  <a:pt x="73951" y="4472"/>
                  <a:pt x="69479" y="0"/>
                  <a:pt x="63958" y="0"/>
                </a:cubicBezTo>
                <a:cubicBezTo>
                  <a:pt x="58437" y="0"/>
                  <a:pt x="53965" y="4472"/>
                  <a:pt x="53965" y="9993"/>
                </a:cubicBezTo>
                <a:cubicBezTo>
                  <a:pt x="53965" y="21011"/>
                  <a:pt x="40648" y="26508"/>
                  <a:pt x="32853" y="18738"/>
                </a:cubicBezTo>
                <a:cubicBezTo>
                  <a:pt x="28956" y="14840"/>
                  <a:pt x="22635" y="14840"/>
                  <a:pt x="18713" y="18738"/>
                </a:cubicBezTo>
                <a:cubicBezTo>
                  <a:pt x="14790" y="22635"/>
                  <a:pt x="14815" y="28956"/>
                  <a:pt x="18713" y="32878"/>
                </a:cubicBezTo>
                <a:cubicBezTo>
                  <a:pt x="26508" y="40673"/>
                  <a:pt x="20986" y="53990"/>
                  <a:pt x="9968" y="53990"/>
                </a:cubicBezTo>
                <a:cubicBezTo>
                  <a:pt x="4447" y="53990"/>
                  <a:pt x="-25" y="58462"/>
                  <a:pt x="-25" y="63983"/>
                </a:cubicBezTo>
                <a:cubicBezTo>
                  <a:pt x="-25" y="69504"/>
                  <a:pt x="4447" y="73976"/>
                  <a:pt x="9968" y="73976"/>
                </a:cubicBezTo>
                <a:cubicBezTo>
                  <a:pt x="20986" y="73976"/>
                  <a:pt x="26483" y="87293"/>
                  <a:pt x="18713" y="95088"/>
                </a:cubicBezTo>
                <a:cubicBezTo>
                  <a:pt x="14815" y="98985"/>
                  <a:pt x="14815" y="105306"/>
                  <a:pt x="18713" y="109228"/>
                </a:cubicBezTo>
                <a:cubicBezTo>
                  <a:pt x="22610" y="113151"/>
                  <a:pt x="28931" y="113126"/>
                  <a:pt x="32853" y="109228"/>
                </a:cubicBezTo>
                <a:cubicBezTo>
                  <a:pt x="40648" y="101433"/>
                  <a:pt x="53965" y="106955"/>
                  <a:pt x="53965" y="117973"/>
                </a:cubicBezTo>
                <a:cubicBezTo>
                  <a:pt x="53965" y="123494"/>
                  <a:pt x="58437" y="127966"/>
                  <a:pt x="63958" y="127966"/>
                </a:cubicBezTo>
                <a:cubicBezTo>
                  <a:pt x="69479" y="127966"/>
                  <a:pt x="73951" y="123494"/>
                  <a:pt x="73951" y="117973"/>
                </a:cubicBezTo>
                <a:cubicBezTo>
                  <a:pt x="73951" y="106955"/>
                  <a:pt x="87268" y="101458"/>
                  <a:pt x="95063" y="109228"/>
                </a:cubicBezTo>
                <a:cubicBezTo>
                  <a:pt x="98960" y="113126"/>
                  <a:pt x="105281" y="113126"/>
                  <a:pt x="109203" y="109228"/>
                </a:cubicBezTo>
                <a:cubicBezTo>
                  <a:pt x="113126" y="105331"/>
                  <a:pt x="113101" y="99010"/>
                  <a:pt x="109203" y="95088"/>
                </a:cubicBezTo>
                <a:cubicBezTo>
                  <a:pt x="101408" y="87293"/>
                  <a:pt x="106930" y="73976"/>
                  <a:pt x="117948" y="73976"/>
                </a:cubicBezTo>
                <a:cubicBezTo>
                  <a:pt x="123469" y="73976"/>
                  <a:pt x="127941" y="69504"/>
                  <a:pt x="127941" y="63983"/>
                </a:cubicBezTo>
                <a:cubicBezTo>
                  <a:pt x="127941" y="58462"/>
                  <a:pt x="123469" y="53990"/>
                  <a:pt x="117948" y="53990"/>
                </a:cubicBezTo>
                <a:cubicBezTo>
                  <a:pt x="106930" y="53990"/>
                  <a:pt x="101433" y="40673"/>
                  <a:pt x="109203" y="32878"/>
                </a:cubicBezTo>
                <a:cubicBezTo>
                  <a:pt x="113101" y="28981"/>
                  <a:pt x="113101" y="22660"/>
                  <a:pt x="109203" y="18738"/>
                </a:cubicBezTo>
                <a:cubicBezTo>
                  <a:pt x="105306" y="14815"/>
                  <a:pt x="98985" y="14840"/>
                  <a:pt x="95063" y="18738"/>
                </a:cubicBezTo>
                <a:cubicBezTo>
                  <a:pt x="87268" y="26508"/>
                  <a:pt x="73951" y="21011"/>
                  <a:pt x="73951" y="9993"/>
                </a:cubicBezTo>
                <a:close/>
                <a:moveTo>
                  <a:pt x="39974" y="55963"/>
                </a:moveTo>
                <a:cubicBezTo>
                  <a:pt x="39974" y="51551"/>
                  <a:pt x="43556" y="47969"/>
                  <a:pt x="47969" y="47969"/>
                </a:cubicBezTo>
                <a:cubicBezTo>
                  <a:pt x="52381" y="47969"/>
                  <a:pt x="55963" y="51551"/>
                  <a:pt x="55963" y="55963"/>
                </a:cubicBezTo>
                <a:cubicBezTo>
                  <a:pt x="55963" y="60376"/>
                  <a:pt x="52381" y="63958"/>
                  <a:pt x="47969" y="63958"/>
                </a:cubicBezTo>
                <a:cubicBezTo>
                  <a:pt x="43556" y="63958"/>
                  <a:pt x="39974" y="60376"/>
                  <a:pt x="39974" y="55963"/>
                </a:cubicBezTo>
                <a:close/>
                <a:moveTo>
                  <a:pt x="79948" y="63958"/>
                </a:moveTo>
                <a:cubicBezTo>
                  <a:pt x="84360" y="63958"/>
                  <a:pt x="87942" y="67540"/>
                  <a:pt x="87942" y="71953"/>
                </a:cubicBezTo>
                <a:cubicBezTo>
                  <a:pt x="87942" y="76365"/>
                  <a:pt x="84360" y="79948"/>
                  <a:pt x="79948" y="79948"/>
                </a:cubicBezTo>
                <a:cubicBezTo>
                  <a:pt x="75535" y="79948"/>
                  <a:pt x="71953" y="76365"/>
                  <a:pt x="71953" y="71953"/>
                </a:cubicBezTo>
                <a:cubicBezTo>
                  <a:pt x="71953" y="67540"/>
                  <a:pt x="75535" y="63958"/>
                  <a:pt x="79948" y="63958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42" name="Text 40"/>
          <p:cNvSpPr/>
          <p:nvPr/>
        </p:nvSpPr>
        <p:spPr>
          <a:xfrm>
            <a:off x="6617197" y="2318479"/>
            <a:ext cx="5100365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セキュリティリスクを増大させる行為は</a:t>
            </a:r>
            <a:pPr>
              <a:lnSpc>
                <a:spcPct val="120000"/>
              </a:lnSpc>
            </a:pPr>
            <a:r>
              <a:rPr lang="en-US" sz="1007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厳しく処罰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9202" y="2838138"/>
            <a:ext cx="5700260" cy="1814809"/>
          </a:xfrm>
          <a:custGeom>
            <a:avLst/>
            <a:gdLst/>
            <a:ahLst/>
            <a:cxnLst/>
            <a:rect l="l" t="t" r="r" b="b"/>
            <a:pathLst>
              <a:path w="5700260" h="1814809">
                <a:moveTo>
                  <a:pt x="95931" y="0"/>
                </a:moveTo>
                <a:lnTo>
                  <a:pt x="5604329" y="0"/>
                </a:lnTo>
                <a:cubicBezTo>
                  <a:pt x="5657310" y="0"/>
                  <a:pt x="5700260" y="42950"/>
                  <a:pt x="5700260" y="95931"/>
                </a:cubicBezTo>
                <a:lnTo>
                  <a:pt x="5700260" y="1718878"/>
                </a:lnTo>
                <a:cubicBezTo>
                  <a:pt x="5700260" y="1771859"/>
                  <a:pt x="5657310" y="1814809"/>
                  <a:pt x="5604329" y="1814809"/>
                </a:cubicBezTo>
                <a:lnTo>
                  <a:pt x="95931" y="1814809"/>
                </a:lnTo>
                <a:cubicBezTo>
                  <a:pt x="42950" y="1814809"/>
                  <a:pt x="0" y="1771859"/>
                  <a:pt x="0" y="1718878"/>
                </a:cubicBezTo>
                <a:lnTo>
                  <a:pt x="0" y="95931"/>
                </a:lnTo>
                <a:cubicBezTo>
                  <a:pt x="0" y="42985"/>
                  <a:pt x="42985" y="0"/>
                  <a:pt x="95931" y="0"/>
                </a:cubicBezTo>
                <a:close/>
              </a:path>
            </a:pathLst>
          </a:custGeom>
          <a:gradFill rotWithShape="1" flip="none">
            <a:gsLst>
              <a:gs pos="0">
                <a:srgbClr val="D83B01">
                  <a:alpha val="20000"/>
                </a:srgbClr>
              </a:gs>
              <a:gs pos="100000">
                <a:srgbClr val="D83B01">
                  <a:alpha val="10000"/>
                </a:srgbClr>
              </a:gs>
            </a:gsLst>
            <a:lin ang="2700000" scaled="1"/>
          </a:gradFill>
          <a:ln w="25400">
            <a:solidFill>
              <a:srgbClr val="D83B0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17105" y="3006028"/>
            <a:ext cx="215858" cy="191874"/>
          </a:xfrm>
          <a:custGeom>
            <a:avLst/>
            <a:gdLst/>
            <a:ahLst/>
            <a:cxnLst/>
            <a:rect l="l" t="t" r="r" b="b"/>
            <a:pathLst>
              <a:path w="215858" h="191874">
                <a:moveTo>
                  <a:pt x="63558" y="57487"/>
                </a:moveTo>
                <a:lnTo>
                  <a:pt x="56550" y="50479"/>
                </a:lnTo>
                <a:cubicBezTo>
                  <a:pt x="51866" y="45795"/>
                  <a:pt x="51866" y="38187"/>
                  <a:pt x="56550" y="33503"/>
                </a:cubicBezTo>
                <a:lnTo>
                  <a:pt x="99535" y="-9519"/>
                </a:lnTo>
                <a:cubicBezTo>
                  <a:pt x="104219" y="-14203"/>
                  <a:pt x="111827" y="-14203"/>
                  <a:pt x="116511" y="-9519"/>
                </a:cubicBezTo>
                <a:lnTo>
                  <a:pt x="123519" y="-2473"/>
                </a:lnTo>
                <a:cubicBezTo>
                  <a:pt x="128203" y="2211"/>
                  <a:pt x="128203" y="9819"/>
                  <a:pt x="123519" y="14503"/>
                </a:cubicBezTo>
                <a:lnTo>
                  <a:pt x="80535" y="57487"/>
                </a:lnTo>
                <a:cubicBezTo>
                  <a:pt x="75850" y="62172"/>
                  <a:pt x="68243" y="62172"/>
                  <a:pt x="63558" y="57487"/>
                </a:cubicBezTo>
                <a:close/>
                <a:moveTo>
                  <a:pt x="103432" y="79335"/>
                </a:moveTo>
                <a:lnTo>
                  <a:pt x="91665" y="67568"/>
                </a:lnTo>
                <a:lnTo>
                  <a:pt x="133637" y="25596"/>
                </a:lnTo>
                <a:lnTo>
                  <a:pt x="178383" y="70341"/>
                </a:lnTo>
                <a:lnTo>
                  <a:pt x="136410" y="112314"/>
                </a:lnTo>
                <a:lnTo>
                  <a:pt x="124643" y="100547"/>
                </a:lnTo>
                <a:lnTo>
                  <a:pt x="37700" y="187489"/>
                </a:lnTo>
                <a:cubicBezTo>
                  <a:pt x="31854" y="193336"/>
                  <a:pt x="22373" y="193336"/>
                  <a:pt x="16489" y="187489"/>
                </a:cubicBezTo>
                <a:cubicBezTo>
                  <a:pt x="10606" y="181643"/>
                  <a:pt x="10643" y="172162"/>
                  <a:pt x="16489" y="166278"/>
                </a:cubicBezTo>
                <a:lnTo>
                  <a:pt x="103432" y="79335"/>
                </a:lnTo>
                <a:close/>
                <a:moveTo>
                  <a:pt x="146491" y="140383"/>
                </a:moveTo>
                <a:cubicBezTo>
                  <a:pt x="141807" y="135698"/>
                  <a:pt x="141807" y="128091"/>
                  <a:pt x="146491" y="123407"/>
                </a:cubicBezTo>
                <a:lnTo>
                  <a:pt x="189476" y="80422"/>
                </a:lnTo>
                <a:cubicBezTo>
                  <a:pt x="194160" y="75738"/>
                  <a:pt x="201768" y="75738"/>
                  <a:pt x="206452" y="80422"/>
                </a:cubicBezTo>
                <a:lnTo>
                  <a:pt x="213460" y="87430"/>
                </a:lnTo>
                <a:cubicBezTo>
                  <a:pt x="218144" y="92115"/>
                  <a:pt x="218144" y="99722"/>
                  <a:pt x="213460" y="104406"/>
                </a:cubicBezTo>
                <a:lnTo>
                  <a:pt x="170476" y="147428"/>
                </a:lnTo>
                <a:cubicBezTo>
                  <a:pt x="165791" y="152113"/>
                  <a:pt x="158184" y="152113"/>
                  <a:pt x="153499" y="147428"/>
                </a:cubicBezTo>
                <a:lnTo>
                  <a:pt x="146491" y="140420"/>
                </a:ln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45" name="Text 43"/>
          <p:cNvSpPr/>
          <p:nvPr/>
        </p:nvSpPr>
        <p:spPr>
          <a:xfrm>
            <a:off x="6640892" y="2974049"/>
            <a:ext cx="1247182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違反時の措置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5113" y="3325818"/>
            <a:ext cx="5500391" cy="471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これらの禁止事項に違反した場合、</a:t>
            </a:r>
            <a:pPr>
              <a:lnSpc>
                <a:spcPct val="140000"/>
              </a:lnSpc>
            </a:pPr>
            <a:r>
              <a:rPr lang="en-US" sz="1133" b="1" dirty="0">
                <a:solidFill>
                  <a:srgbClr val="D83B01"/>
                </a:solidFill>
                <a:highlight>
                  <a:srgbClr val="D83B01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社内規程に基づく懲戒処分 </a:t>
            </a:r>
            <a:pPr>
              <a:lnSpc>
                <a:spcPct val="140000"/>
              </a:lnSpc>
            </a:pPr>
            <a:r>
              <a:rPr lang="en-US" sz="1133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および</a:t>
            </a:r>
            <a:pPr>
              <a:lnSpc>
                <a:spcPct val="140000"/>
              </a:lnSpc>
            </a:pPr>
            <a:r>
              <a:rPr lang="en-US" sz="1133" b="1" dirty="0">
                <a:solidFill>
                  <a:srgbClr val="D83B01"/>
                </a:solidFill>
                <a:highlight>
                  <a:srgbClr val="D83B01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法的責任 </a:t>
            </a:r>
            <a:pPr>
              <a:lnSpc>
                <a:spcPct val="140000"/>
              </a:lnSpc>
            </a:pPr>
            <a:r>
              <a:rPr lang="en-US" sz="1133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を追及する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9110" y="3893445"/>
            <a:ext cx="2654258" cy="615596"/>
          </a:xfrm>
          <a:custGeom>
            <a:avLst/>
            <a:gdLst/>
            <a:ahLst/>
            <a:cxnLst/>
            <a:rect l="l" t="t" r="r" b="b"/>
            <a:pathLst>
              <a:path w="2654258" h="615596">
                <a:moveTo>
                  <a:pt x="63960" y="0"/>
                </a:moveTo>
                <a:lnTo>
                  <a:pt x="2590298" y="0"/>
                </a:lnTo>
                <a:cubicBezTo>
                  <a:pt x="2625622" y="0"/>
                  <a:pt x="2654258" y="28636"/>
                  <a:pt x="2654258" y="63960"/>
                </a:cubicBezTo>
                <a:lnTo>
                  <a:pt x="2654258" y="551636"/>
                </a:lnTo>
                <a:cubicBezTo>
                  <a:pt x="2654258" y="586960"/>
                  <a:pt x="2625622" y="615596"/>
                  <a:pt x="2590298" y="615596"/>
                </a:cubicBezTo>
                <a:lnTo>
                  <a:pt x="63960" y="615596"/>
                </a:lnTo>
                <a:cubicBezTo>
                  <a:pt x="28636" y="615596"/>
                  <a:pt x="0" y="586960"/>
                  <a:pt x="0" y="551636"/>
                </a:cubicBezTo>
                <a:lnTo>
                  <a:pt x="0" y="63960"/>
                </a:lnTo>
                <a:cubicBezTo>
                  <a:pt x="0" y="28636"/>
                  <a:pt x="28636" y="0"/>
                  <a:pt x="6396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9045" y="4025359"/>
            <a:ext cx="159895" cy="127916"/>
          </a:xfrm>
          <a:custGeom>
            <a:avLst/>
            <a:gdLst/>
            <a:ahLst/>
            <a:cxnLst/>
            <a:rect l="l" t="t" r="r" b="b"/>
            <a:pathLst>
              <a:path w="159895" h="127916">
                <a:moveTo>
                  <a:pt x="34078" y="31979"/>
                </a:moveTo>
                <a:cubicBezTo>
                  <a:pt x="34078" y="21268"/>
                  <a:pt x="39792" y="11371"/>
                  <a:pt x="49068" y="6015"/>
                </a:cubicBezTo>
                <a:cubicBezTo>
                  <a:pt x="58344" y="660"/>
                  <a:pt x="69772" y="660"/>
                  <a:pt x="79048" y="6015"/>
                </a:cubicBezTo>
                <a:cubicBezTo>
                  <a:pt x="88324" y="11371"/>
                  <a:pt x="94038" y="21268"/>
                  <a:pt x="94038" y="31979"/>
                </a:cubicBezTo>
                <a:cubicBezTo>
                  <a:pt x="94038" y="48526"/>
                  <a:pt x="80605" y="61959"/>
                  <a:pt x="64058" y="61959"/>
                </a:cubicBezTo>
                <a:cubicBezTo>
                  <a:pt x="47511" y="61959"/>
                  <a:pt x="34078" y="48526"/>
                  <a:pt x="34078" y="31979"/>
                </a:cubicBezTo>
                <a:close/>
                <a:moveTo>
                  <a:pt x="12092" y="120496"/>
                </a:moveTo>
                <a:cubicBezTo>
                  <a:pt x="12092" y="95887"/>
                  <a:pt x="32029" y="75950"/>
                  <a:pt x="56638" y="75950"/>
                </a:cubicBezTo>
                <a:lnTo>
                  <a:pt x="71478" y="75950"/>
                </a:lnTo>
                <a:cubicBezTo>
                  <a:pt x="96087" y="75950"/>
                  <a:pt x="116024" y="95887"/>
                  <a:pt x="116024" y="120496"/>
                </a:cubicBezTo>
                <a:cubicBezTo>
                  <a:pt x="116024" y="124593"/>
                  <a:pt x="112701" y="127916"/>
                  <a:pt x="108604" y="127916"/>
                </a:cubicBezTo>
                <a:lnTo>
                  <a:pt x="19512" y="127916"/>
                </a:lnTo>
                <a:cubicBezTo>
                  <a:pt x="15415" y="127916"/>
                  <a:pt x="12092" y="124593"/>
                  <a:pt x="12092" y="120496"/>
                </a:cubicBezTo>
                <a:close/>
                <a:moveTo>
                  <a:pt x="152975" y="31005"/>
                </a:moveTo>
                <a:cubicBezTo>
                  <a:pt x="155323" y="33353"/>
                  <a:pt x="155323" y="37151"/>
                  <a:pt x="152975" y="39474"/>
                </a:cubicBezTo>
                <a:lnTo>
                  <a:pt x="144505" y="47944"/>
                </a:lnTo>
                <a:lnTo>
                  <a:pt x="152975" y="56413"/>
                </a:lnTo>
                <a:cubicBezTo>
                  <a:pt x="155323" y="58761"/>
                  <a:pt x="155323" y="62559"/>
                  <a:pt x="152975" y="64882"/>
                </a:cubicBezTo>
                <a:cubicBezTo>
                  <a:pt x="150626" y="67206"/>
                  <a:pt x="146829" y="67231"/>
                  <a:pt x="144505" y="64882"/>
                </a:cubicBezTo>
                <a:lnTo>
                  <a:pt x="136036" y="56413"/>
                </a:lnTo>
                <a:lnTo>
                  <a:pt x="127566" y="64882"/>
                </a:lnTo>
                <a:cubicBezTo>
                  <a:pt x="125218" y="67231"/>
                  <a:pt x="121420" y="67231"/>
                  <a:pt x="119097" y="64882"/>
                </a:cubicBezTo>
                <a:cubicBezTo>
                  <a:pt x="116773" y="62534"/>
                  <a:pt x="116748" y="58736"/>
                  <a:pt x="119097" y="56413"/>
                </a:cubicBezTo>
                <a:lnTo>
                  <a:pt x="127566" y="47944"/>
                </a:lnTo>
                <a:lnTo>
                  <a:pt x="119097" y="39474"/>
                </a:lnTo>
                <a:cubicBezTo>
                  <a:pt x="116748" y="37126"/>
                  <a:pt x="116748" y="33328"/>
                  <a:pt x="119097" y="31005"/>
                </a:cubicBezTo>
                <a:cubicBezTo>
                  <a:pt x="121445" y="28681"/>
                  <a:pt x="125243" y="28656"/>
                  <a:pt x="127566" y="31005"/>
                </a:cubicBezTo>
                <a:lnTo>
                  <a:pt x="136036" y="39474"/>
                </a:lnTo>
                <a:lnTo>
                  <a:pt x="144505" y="31005"/>
                </a:lnTo>
                <a:cubicBezTo>
                  <a:pt x="146854" y="28656"/>
                  <a:pt x="150651" y="28656"/>
                  <a:pt x="152975" y="31005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49" name="Text 47"/>
          <p:cNvSpPr/>
          <p:nvPr/>
        </p:nvSpPr>
        <p:spPr>
          <a:xfrm>
            <a:off x="6632898" y="3993380"/>
            <a:ext cx="575622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社内懲戒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09045" y="4249212"/>
            <a:ext cx="251035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規律処分・降格・解雇など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9924" y="3893445"/>
            <a:ext cx="2654258" cy="615596"/>
          </a:xfrm>
          <a:custGeom>
            <a:avLst/>
            <a:gdLst/>
            <a:ahLst/>
            <a:cxnLst/>
            <a:rect l="l" t="t" r="r" b="b"/>
            <a:pathLst>
              <a:path w="2654258" h="615596">
                <a:moveTo>
                  <a:pt x="63960" y="0"/>
                </a:moveTo>
                <a:lnTo>
                  <a:pt x="2590298" y="0"/>
                </a:lnTo>
                <a:cubicBezTo>
                  <a:pt x="2625622" y="0"/>
                  <a:pt x="2654258" y="28636"/>
                  <a:pt x="2654258" y="63960"/>
                </a:cubicBezTo>
                <a:lnTo>
                  <a:pt x="2654258" y="551636"/>
                </a:lnTo>
                <a:cubicBezTo>
                  <a:pt x="2654258" y="586960"/>
                  <a:pt x="2625622" y="615596"/>
                  <a:pt x="2590298" y="615596"/>
                </a:cubicBezTo>
                <a:lnTo>
                  <a:pt x="63960" y="615596"/>
                </a:lnTo>
                <a:cubicBezTo>
                  <a:pt x="28636" y="615596"/>
                  <a:pt x="0" y="586960"/>
                  <a:pt x="0" y="551636"/>
                </a:cubicBezTo>
                <a:lnTo>
                  <a:pt x="0" y="63960"/>
                </a:lnTo>
                <a:cubicBezTo>
                  <a:pt x="0" y="28636"/>
                  <a:pt x="28636" y="0"/>
                  <a:pt x="6396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69858" y="4025359"/>
            <a:ext cx="159895" cy="127916"/>
          </a:xfrm>
          <a:custGeom>
            <a:avLst/>
            <a:gdLst/>
            <a:ahLst/>
            <a:cxnLst/>
            <a:rect l="l" t="t" r="r" b="b"/>
            <a:pathLst>
              <a:path w="159895" h="127916">
                <a:moveTo>
                  <a:pt x="95937" y="7995"/>
                </a:moveTo>
                <a:lnTo>
                  <a:pt x="127916" y="7995"/>
                </a:lnTo>
                <a:cubicBezTo>
                  <a:pt x="132338" y="7995"/>
                  <a:pt x="135911" y="11567"/>
                  <a:pt x="135911" y="15990"/>
                </a:cubicBezTo>
                <a:cubicBezTo>
                  <a:pt x="135911" y="20412"/>
                  <a:pt x="132338" y="23984"/>
                  <a:pt x="127916" y="23984"/>
                </a:cubicBezTo>
                <a:lnTo>
                  <a:pt x="99535" y="23984"/>
                </a:lnTo>
                <a:cubicBezTo>
                  <a:pt x="98236" y="30430"/>
                  <a:pt x="93813" y="35752"/>
                  <a:pt x="87942" y="38300"/>
                </a:cubicBezTo>
                <a:lnTo>
                  <a:pt x="87942" y="111927"/>
                </a:lnTo>
                <a:lnTo>
                  <a:pt x="127916" y="111927"/>
                </a:lnTo>
                <a:cubicBezTo>
                  <a:pt x="132338" y="111927"/>
                  <a:pt x="135911" y="115499"/>
                  <a:pt x="135911" y="119921"/>
                </a:cubicBezTo>
                <a:cubicBezTo>
                  <a:pt x="135911" y="124343"/>
                  <a:pt x="132338" y="127916"/>
                  <a:pt x="127916" y="127916"/>
                </a:cubicBezTo>
                <a:lnTo>
                  <a:pt x="31979" y="127916"/>
                </a:lnTo>
                <a:cubicBezTo>
                  <a:pt x="27557" y="127916"/>
                  <a:pt x="23984" y="124343"/>
                  <a:pt x="23984" y="119921"/>
                </a:cubicBezTo>
                <a:cubicBezTo>
                  <a:pt x="23984" y="115499"/>
                  <a:pt x="27557" y="111927"/>
                  <a:pt x="31979" y="111927"/>
                </a:cubicBezTo>
                <a:lnTo>
                  <a:pt x="71953" y="111927"/>
                </a:lnTo>
                <a:lnTo>
                  <a:pt x="71953" y="38300"/>
                </a:lnTo>
                <a:cubicBezTo>
                  <a:pt x="66082" y="35727"/>
                  <a:pt x="61660" y="30405"/>
                  <a:pt x="60360" y="23984"/>
                </a:cubicBezTo>
                <a:lnTo>
                  <a:pt x="31979" y="23984"/>
                </a:lnTo>
                <a:cubicBezTo>
                  <a:pt x="27557" y="23984"/>
                  <a:pt x="23984" y="20412"/>
                  <a:pt x="23984" y="15990"/>
                </a:cubicBezTo>
                <a:cubicBezTo>
                  <a:pt x="23984" y="11567"/>
                  <a:pt x="27557" y="7995"/>
                  <a:pt x="31979" y="7995"/>
                </a:cubicBezTo>
                <a:lnTo>
                  <a:pt x="63958" y="7995"/>
                </a:lnTo>
                <a:cubicBezTo>
                  <a:pt x="67606" y="3148"/>
                  <a:pt x="73402" y="0"/>
                  <a:pt x="79948" y="0"/>
                </a:cubicBezTo>
                <a:cubicBezTo>
                  <a:pt x="86493" y="0"/>
                  <a:pt x="92289" y="3148"/>
                  <a:pt x="95937" y="7995"/>
                </a:cubicBezTo>
                <a:close/>
                <a:moveTo>
                  <a:pt x="109828" y="79948"/>
                </a:moveTo>
                <a:lnTo>
                  <a:pt x="146004" y="79948"/>
                </a:lnTo>
                <a:lnTo>
                  <a:pt x="127916" y="48918"/>
                </a:lnTo>
                <a:lnTo>
                  <a:pt x="109828" y="79948"/>
                </a:lnTo>
                <a:close/>
                <a:moveTo>
                  <a:pt x="127916" y="103932"/>
                </a:moveTo>
                <a:cubicBezTo>
                  <a:pt x="112201" y="103932"/>
                  <a:pt x="99135" y="95437"/>
                  <a:pt x="96437" y="84220"/>
                </a:cubicBezTo>
                <a:cubicBezTo>
                  <a:pt x="95787" y="81472"/>
                  <a:pt x="96687" y="78648"/>
                  <a:pt x="98111" y="76200"/>
                </a:cubicBezTo>
                <a:lnTo>
                  <a:pt x="121895" y="35427"/>
                </a:lnTo>
                <a:cubicBezTo>
                  <a:pt x="123144" y="33278"/>
                  <a:pt x="125443" y="31979"/>
                  <a:pt x="127916" y="31979"/>
                </a:cubicBezTo>
                <a:cubicBezTo>
                  <a:pt x="130389" y="31979"/>
                  <a:pt x="132688" y="33303"/>
                  <a:pt x="133937" y="35427"/>
                </a:cubicBezTo>
                <a:lnTo>
                  <a:pt x="157722" y="76200"/>
                </a:lnTo>
                <a:cubicBezTo>
                  <a:pt x="159146" y="78648"/>
                  <a:pt x="160045" y="81472"/>
                  <a:pt x="159395" y="84220"/>
                </a:cubicBezTo>
                <a:cubicBezTo>
                  <a:pt x="156697" y="95412"/>
                  <a:pt x="143631" y="103932"/>
                  <a:pt x="127916" y="103932"/>
                </a:cubicBezTo>
                <a:close/>
                <a:moveTo>
                  <a:pt x="31679" y="48918"/>
                </a:moveTo>
                <a:lnTo>
                  <a:pt x="13591" y="79948"/>
                </a:lnTo>
                <a:lnTo>
                  <a:pt x="49792" y="79948"/>
                </a:lnTo>
                <a:lnTo>
                  <a:pt x="31679" y="48918"/>
                </a:lnTo>
                <a:close/>
                <a:moveTo>
                  <a:pt x="225" y="84220"/>
                </a:moveTo>
                <a:cubicBezTo>
                  <a:pt x="-425" y="81472"/>
                  <a:pt x="475" y="78648"/>
                  <a:pt x="1899" y="76200"/>
                </a:cubicBezTo>
                <a:lnTo>
                  <a:pt x="25683" y="35427"/>
                </a:lnTo>
                <a:cubicBezTo>
                  <a:pt x="26932" y="33278"/>
                  <a:pt x="29231" y="31979"/>
                  <a:pt x="31704" y="31979"/>
                </a:cubicBezTo>
                <a:cubicBezTo>
                  <a:pt x="34178" y="31979"/>
                  <a:pt x="36476" y="33303"/>
                  <a:pt x="37725" y="35427"/>
                </a:cubicBezTo>
                <a:lnTo>
                  <a:pt x="61510" y="76200"/>
                </a:lnTo>
                <a:cubicBezTo>
                  <a:pt x="62934" y="78648"/>
                  <a:pt x="63833" y="81472"/>
                  <a:pt x="63184" y="84220"/>
                </a:cubicBezTo>
                <a:cubicBezTo>
                  <a:pt x="60485" y="95412"/>
                  <a:pt x="47419" y="103932"/>
                  <a:pt x="31704" y="103932"/>
                </a:cubicBezTo>
                <a:cubicBezTo>
                  <a:pt x="15990" y="103932"/>
                  <a:pt x="2923" y="95437"/>
                  <a:pt x="225" y="8422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53" name="Text 51"/>
          <p:cNvSpPr/>
          <p:nvPr/>
        </p:nvSpPr>
        <p:spPr>
          <a:xfrm>
            <a:off x="9393711" y="3993380"/>
            <a:ext cx="575622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法的責任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69858" y="4249212"/>
            <a:ext cx="251035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民事・刑事上の責任追及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9202" y="4760876"/>
            <a:ext cx="5700260" cy="1279161"/>
          </a:xfrm>
          <a:custGeom>
            <a:avLst/>
            <a:gdLst/>
            <a:ahLst/>
            <a:cxnLst/>
            <a:rect l="l" t="t" r="r" b="b"/>
            <a:pathLst>
              <a:path w="5700260" h="1279161">
                <a:moveTo>
                  <a:pt x="95937" y="0"/>
                </a:moveTo>
                <a:lnTo>
                  <a:pt x="5604323" y="0"/>
                </a:lnTo>
                <a:cubicBezTo>
                  <a:pt x="5657307" y="0"/>
                  <a:pt x="5700260" y="42952"/>
                  <a:pt x="5700260" y="95937"/>
                </a:cubicBezTo>
                <a:lnTo>
                  <a:pt x="5700260" y="1183224"/>
                </a:lnTo>
                <a:cubicBezTo>
                  <a:pt x="5700260" y="1236208"/>
                  <a:pt x="5657307" y="1279161"/>
                  <a:pt x="5604323" y="1279161"/>
                </a:cubicBezTo>
                <a:lnTo>
                  <a:pt x="95937" y="1279161"/>
                </a:lnTo>
                <a:cubicBezTo>
                  <a:pt x="42952" y="1279161"/>
                  <a:pt x="0" y="1236208"/>
                  <a:pt x="0" y="1183224"/>
                </a:cubicBezTo>
                <a:lnTo>
                  <a:pt x="0" y="95937"/>
                </a:lnTo>
                <a:cubicBezTo>
                  <a:pt x="0" y="42988"/>
                  <a:pt x="42988" y="0"/>
                  <a:pt x="95937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9097" y="4912776"/>
            <a:ext cx="191874" cy="191874"/>
          </a:xfrm>
          <a:custGeom>
            <a:avLst/>
            <a:gdLst/>
            <a:ahLst/>
            <a:cxnLst/>
            <a:rect l="l" t="t" r="r" b="b"/>
            <a:pathLst>
              <a:path w="191874" h="191874">
                <a:moveTo>
                  <a:pt x="95937" y="191874"/>
                </a:moveTo>
                <a:cubicBezTo>
                  <a:pt x="148886" y="191874"/>
                  <a:pt x="191874" y="148886"/>
                  <a:pt x="191874" y="95937"/>
                </a:cubicBezTo>
                <a:cubicBezTo>
                  <a:pt x="191874" y="42988"/>
                  <a:pt x="148886" y="0"/>
                  <a:pt x="95937" y="0"/>
                </a:cubicBezTo>
                <a:cubicBezTo>
                  <a:pt x="42988" y="0"/>
                  <a:pt x="0" y="42988"/>
                  <a:pt x="0" y="95937"/>
                </a:cubicBezTo>
                <a:cubicBezTo>
                  <a:pt x="0" y="148886"/>
                  <a:pt x="42988" y="191874"/>
                  <a:pt x="95937" y="191874"/>
                </a:cubicBezTo>
                <a:close/>
                <a:moveTo>
                  <a:pt x="95937" y="65957"/>
                </a:moveTo>
                <a:cubicBezTo>
                  <a:pt x="89304" y="65957"/>
                  <a:pt x="83945" y="71316"/>
                  <a:pt x="83945" y="77949"/>
                </a:cubicBezTo>
                <a:cubicBezTo>
                  <a:pt x="83945" y="82933"/>
                  <a:pt x="79935" y="86943"/>
                  <a:pt x="74951" y="86943"/>
                </a:cubicBezTo>
                <a:cubicBezTo>
                  <a:pt x="69967" y="86943"/>
                  <a:pt x="65957" y="82933"/>
                  <a:pt x="65957" y="77949"/>
                </a:cubicBezTo>
                <a:cubicBezTo>
                  <a:pt x="65957" y="61385"/>
                  <a:pt x="79373" y="47969"/>
                  <a:pt x="95937" y="47969"/>
                </a:cubicBezTo>
                <a:cubicBezTo>
                  <a:pt x="112501" y="47969"/>
                  <a:pt x="125917" y="61385"/>
                  <a:pt x="125917" y="77949"/>
                </a:cubicBezTo>
                <a:cubicBezTo>
                  <a:pt x="125917" y="95637"/>
                  <a:pt x="112426" y="103132"/>
                  <a:pt x="104931" y="105868"/>
                </a:cubicBezTo>
                <a:lnTo>
                  <a:pt x="104931" y="107292"/>
                </a:lnTo>
                <a:cubicBezTo>
                  <a:pt x="104931" y="112276"/>
                  <a:pt x="100921" y="116286"/>
                  <a:pt x="95937" y="116286"/>
                </a:cubicBezTo>
                <a:cubicBezTo>
                  <a:pt x="90953" y="116286"/>
                  <a:pt x="86943" y="112276"/>
                  <a:pt x="86943" y="107292"/>
                </a:cubicBezTo>
                <a:lnTo>
                  <a:pt x="86943" y="104257"/>
                </a:lnTo>
                <a:cubicBezTo>
                  <a:pt x="86943" y="96574"/>
                  <a:pt x="92489" y="91065"/>
                  <a:pt x="98223" y="89191"/>
                </a:cubicBezTo>
                <a:cubicBezTo>
                  <a:pt x="100621" y="88404"/>
                  <a:pt x="103170" y="87130"/>
                  <a:pt x="105044" y="85332"/>
                </a:cubicBezTo>
                <a:cubicBezTo>
                  <a:pt x="106655" y="83758"/>
                  <a:pt x="107929" y="81584"/>
                  <a:pt x="107929" y="77986"/>
                </a:cubicBezTo>
                <a:cubicBezTo>
                  <a:pt x="107929" y="71353"/>
                  <a:pt x="102570" y="65994"/>
                  <a:pt x="95937" y="65994"/>
                </a:cubicBezTo>
                <a:close/>
                <a:moveTo>
                  <a:pt x="83945" y="137910"/>
                </a:moveTo>
                <a:cubicBezTo>
                  <a:pt x="83945" y="131291"/>
                  <a:pt x="89318" y="125917"/>
                  <a:pt x="95937" y="125917"/>
                </a:cubicBezTo>
                <a:cubicBezTo>
                  <a:pt x="102556" y="125917"/>
                  <a:pt x="107929" y="131291"/>
                  <a:pt x="107929" y="137910"/>
                </a:cubicBezTo>
                <a:cubicBezTo>
                  <a:pt x="107929" y="144528"/>
                  <a:pt x="102556" y="149902"/>
                  <a:pt x="95937" y="149902"/>
                </a:cubicBezTo>
                <a:cubicBezTo>
                  <a:pt x="89318" y="149902"/>
                  <a:pt x="83945" y="144528"/>
                  <a:pt x="83945" y="13791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57" name="Text 55"/>
          <p:cNvSpPr/>
          <p:nvPr/>
        </p:nvSpPr>
        <p:spPr>
          <a:xfrm>
            <a:off x="6640892" y="4896787"/>
            <a:ext cx="1678898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9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判断に迷った場合は？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05113" y="5216577"/>
            <a:ext cx="5492396" cy="20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不確かな場合は</a:t>
            </a:r>
            <a:pPr>
              <a:lnSpc>
                <a:spcPct val="140000"/>
              </a:lnSpc>
            </a:pPr>
            <a:r>
              <a:rPr lang="en-US" sz="1007" b="1" dirty="0">
                <a:solidFill>
                  <a:srgbClr val="0078D4"/>
                </a:solidFill>
                <a:highlight>
                  <a:srgbClr val="0078D4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使用前に必ず確認 </a:t>
            </a:r>
            <a:pPr>
              <a:lnSpc>
                <a:spcPct val="14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を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05113" y="5520378"/>
            <a:ext cx="5428438" cy="383748"/>
          </a:xfrm>
          <a:custGeom>
            <a:avLst/>
            <a:gdLst/>
            <a:ahLst/>
            <a:cxnLst/>
            <a:rect l="l" t="t" r="r" b="b"/>
            <a:pathLst>
              <a:path w="5428438" h="383748">
                <a:moveTo>
                  <a:pt x="63959" y="0"/>
                </a:moveTo>
                <a:lnTo>
                  <a:pt x="5364479" y="0"/>
                </a:lnTo>
                <a:cubicBezTo>
                  <a:pt x="5399802" y="0"/>
                  <a:pt x="5428438" y="28636"/>
                  <a:pt x="5428438" y="63959"/>
                </a:cubicBezTo>
                <a:lnTo>
                  <a:pt x="5428438" y="319789"/>
                </a:lnTo>
                <a:cubicBezTo>
                  <a:pt x="5428438" y="355113"/>
                  <a:pt x="5399802" y="383748"/>
                  <a:pt x="5364479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417039" y="5648294"/>
            <a:ext cx="127916" cy="127916"/>
          </a:xfrm>
          <a:custGeom>
            <a:avLst/>
            <a:gdLst/>
            <a:ahLst/>
            <a:cxnLst/>
            <a:rect l="l" t="t" r="r" b="b"/>
            <a:pathLst>
              <a:path w="127916" h="127916">
                <a:moveTo>
                  <a:pt x="40024" y="6246"/>
                </a:moveTo>
                <a:cubicBezTo>
                  <a:pt x="38050" y="1524"/>
                  <a:pt x="32903" y="-974"/>
                  <a:pt x="28007" y="350"/>
                </a:cubicBezTo>
                <a:lnTo>
                  <a:pt x="26633" y="725"/>
                </a:lnTo>
                <a:cubicBezTo>
                  <a:pt x="10493" y="5122"/>
                  <a:pt x="-3298" y="20761"/>
                  <a:pt x="725" y="39799"/>
                </a:cubicBezTo>
                <a:cubicBezTo>
                  <a:pt x="9993" y="83520"/>
                  <a:pt x="44396" y="117923"/>
                  <a:pt x="88117" y="127192"/>
                </a:cubicBezTo>
                <a:cubicBezTo>
                  <a:pt x="107180" y="131239"/>
                  <a:pt x="122794" y="117423"/>
                  <a:pt x="127192" y="101284"/>
                </a:cubicBezTo>
                <a:lnTo>
                  <a:pt x="127566" y="99909"/>
                </a:lnTo>
                <a:cubicBezTo>
                  <a:pt x="128915" y="94988"/>
                  <a:pt x="126392" y="89841"/>
                  <a:pt x="121695" y="87892"/>
                </a:cubicBezTo>
                <a:lnTo>
                  <a:pt x="97386" y="77774"/>
                </a:lnTo>
                <a:cubicBezTo>
                  <a:pt x="93264" y="76050"/>
                  <a:pt x="88492" y="77249"/>
                  <a:pt x="85644" y="80722"/>
                </a:cubicBezTo>
                <a:lnTo>
                  <a:pt x="76000" y="92514"/>
                </a:lnTo>
                <a:cubicBezTo>
                  <a:pt x="58437" y="83795"/>
                  <a:pt x="44296" y="69205"/>
                  <a:pt x="36176" y="51291"/>
                </a:cubicBezTo>
                <a:lnTo>
                  <a:pt x="47219" y="42297"/>
                </a:lnTo>
                <a:cubicBezTo>
                  <a:pt x="50692" y="39474"/>
                  <a:pt x="51866" y="34702"/>
                  <a:pt x="50167" y="30555"/>
                </a:cubicBezTo>
                <a:lnTo>
                  <a:pt x="40024" y="6246"/>
                </a:ln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61" name="Text 59"/>
          <p:cNvSpPr/>
          <p:nvPr/>
        </p:nvSpPr>
        <p:spPr>
          <a:xfrm>
            <a:off x="6601207" y="5616315"/>
            <a:ext cx="5100365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セキュリティ部門・法務部門への相談を推奨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0078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活用シーン（基本・応用）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Copilotの推奨される活用シーン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438" y="1309688"/>
            <a:ext cx="3754438" cy="2651125"/>
          </a:xfrm>
          <a:custGeom>
            <a:avLst/>
            <a:gdLst/>
            <a:ahLst/>
            <a:cxnLst/>
            <a:rect l="l" t="t" r="r" b="b"/>
            <a:pathLst>
              <a:path w="3754438" h="2651125">
                <a:moveTo>
                  <a:pt x="95255" y="0"/>
                </a:moveTo>
                <a:lnTo>
                  <a:pt x="3659183" y="0"/>
                </a:lnTo>
                <a:cubicBezTo>
                  <a:pt x="3711790" y="0"/>
                  <a:pt x="3754438" y="42647"/>
                  <a:pt x="3754438" y="95255"/>
                </a:cubicBezTo>
                <a:lnTo>
                  <a:pt x="3754438" y="2555870"/>
                </a:lnTo>
                <a:cubicBezTo>
                  <a:pt x="3754438" y="2608478"/>
                  <a:pt x="3711790" y="2651125"/>
                  <a:pt x="3659183" y="2651125"/>
                </a:cubicBezTo>
                <a:lnTo>
                  <a:pt x="95255" y="2651125"/>
                </a:lnTo>
                <a:cubicBezTo>
                  <a:pt x="42647" y="2651125"/>
                  <a:pt x="0" y="2608478"/>
                  <a:pt x="0" y="255587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0375" y="1444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611188" y="1571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0125" y="155575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文書作成・要約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0375" y="1984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3875" y="2047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議事録作成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0375" y="2365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3875" y="2428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報告書作成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0375" y="2746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3875" y="2809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メールドラフト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0375" y="3127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3875" y="3190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長文ドキュメントの要約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0375" y="3508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3875" y="3571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ポイント抽出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20021" y="1309688"/>
            <a:ext cx="3754438" cy="2651125"/>
          </a:xfrm>
          <a:custGeom>
            <a:avLst/>
            <a:gdLst/>
            <a:ahLst/>
            <a:cxnLst/>
            <a:rect l="l" t="t" r="r" b="b"/>
            <a:pathLst>
              <a:path w="3754438" h="2651125">
                <a:moveTo>
                  <a:pt x="95255" y="0"/>
                </a:moveTo>
                <a:lnTo>
                  <a:pt x="3659183" y="0"/>
                </a:lnTo>
                <a:cubicBezTo>
                  <a:pt x="3711790" y="0"/>
                  <a:pt x="3754438" y="42647"/>
                  <a:pt x="3754438" y="95255"/>
                </a:cubicBezTo>
                <a:lnTo>
                  <a:pt x="3754438" y="2555870"/>
                </a:lnTo>
                <a:cubicBezTo>
                  <a:pt x="3754438" y="2608478"/>
                  <a:pt x="3711790" y="2651125"/>
                  <a:pt x="3659183" y="2651125"/>
                </a:cubicBezTo>
                <a:lnTo>
                  <a:pt x="95255" y="2651125"/>
                </a:lnTo>
                <a:cubicBezTo>
                  <a:pt x="42647" y="2651125"/>
                  <a:pt x="0" y="2608478"/>
                  <a:pt x="0" y="255587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54959" y="1444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21" name="Shape 19"/>
          <p:cNvSpPr/>
          <p:nvPr/>
        </p:nvSpPr>
        <p:spPr>
          <a:xfrm>
            <a:off x="4493865" y="157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4709" y="1555750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Excelデータ分析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54959" y="1984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418459" y="2047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データの傾向分析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54959" y="2365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418459" y="2428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ピボットテーブル作成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54959" y="2746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18459" y="2809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関数の自動生成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54959" y="3127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418459" y="3190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グラフ作成支援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54959" y="3508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418459" y="3571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データクレンジング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4729" y="1309688"/>
            <a:ext cx="3754438" cy="2651125"/>
          </a:xfrm>
          <a:custGeom>
            <a:avLst/>
            <a:gdLst/>
            <a:ahLst/>
            <a:cxnLst/>
            <a:rect l="l" t="t" r="r" b="b"/>
            <a:pathLst>
              <a:path w="3754438" h="2651125">
                <a:moveTo>
                  <a:pt x="95255" y="0"/>
                </a:moveTo>
                <a:lnTo>
                  <a:pt x="3659183" y="0"/>
                </a:lnTo>
                <a:cubicBezTo>
                  <a:pt x="3711790" y="0"/>
                  <a:pt x="3754438" y="42647"/>
                  <a:pt x="3754438" y="95255"/>
                </a:cubicBezTo>
                <a:lnTo>
                  <a:pt x="3754438" y="2555870"/>
                </a:lnTo>
                <a:cubicBezTo>
                  <a:pt x="3754438" y="2608478"/>
                  <a:pt x="3711790" y="2651125"/>
                  <a:pt x="3659183" y="2651125"/>
                </a:cubicBezTo>
                <a:lnTo>
                  <a:pt x="95255" y="2651125"/>
                </a:lnTo>
                <a:cubicBezTo>
                  <a:pt x="42647" y="2651125"/>
                  <a:pt x="0" y="2608478"/>
                  <a:pt x="0" y="255587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49667" y="1444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35" name="Shape 33"/>
          <p:cNvSpPr/>
          <p:nvPr/>
        </p:nvSpPr>
        <p:spPr>
          <a:xfrm>
            <a:off x="8352854" y="1571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789417" y="1555750"/>
            <a:ext cx="119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Teams会議要約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49667" y="1984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313167" y="2047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リアルタイム要約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9667" y="2365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13167" y="2428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アクションアイテム抽出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9667" y="2746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313167" y="2809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フォローアップメール作成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49667" y="3127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313167" y="3190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会議議事録の自動生成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9667" y="3508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313167" y="3571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出席者の発言要約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5438" y="4103688"/>
            <a:ext cx="3754438" cy="2651125"/>
          </a:xfrm>
          <a:custGeom>
            <a:avLst/>
            <a:gdLst/>
            <a:ahLst/>
            <a:cxnLst/>
            <a:rect l="l" t="t" r="r" b="b"/>
            <a:pathLst>
              <a:path w="3754438" h="2651125">
                <a:moveTo>
                  <a:pt x="95255" y="0"/>
                </a:moveTo>
                <a:lnTo>
                  <a:pt x="3659183" y="0"/>
                </a:lnTo>
                <a:cubicBezTo>
                  <a:pt x="3711790" y="0"/>
                  <a:pt x="3754438" y="42647"/>
                  <a:pt x="3754438" y="95255"/>
                </a:cubicBezTo>
                <a:lnTo>
                  <a:pt x="3754438" y="2555870"/>
                </a:lnTo>
                <a:cubicBezTo>
                  <a:pt x="3754438" y="2608478"/>
                  <a:pt x="3711790" y="2651125"/>
                  <a:pt x="3659183" y="2651125"/>
                </a:cubicBezTo>
                <a:lnTo>
                  <a:pt x="95255" y="2651125"/>
                </a:lnTo>
                <a:cubicBezTo>
                  <a:pt x="42647" y="2651125"/>
                  <a:pt x="0" y="2608478"/>
                  <a:pt x="0" y="255587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6EBE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0375" y="4238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06EBE"/>
          </a:solidFill>
          <a:ln/>
        </p:spPr>
      </p:sp>
      <p:sp>
        <p:nvSpPr>
          <p:cNvPr id="49" name="Shape 47"/>
          <p:cNvSpPr/>
          <p:nvPr/>
        </p:nvSpPr>
        <p:spPr>
          <a:xfrm>
            <a:off x="575469" y="4365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000125" y="4349750"/>
            <a:ext cx="211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開発支援（GitHub Copilot）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60375" y="4778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23875" y="4841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コード補完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60375" y="5159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23875" y="5222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バグ修正提案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60375" y="5540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23875" y="5603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ドキュメント生成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60375" y="5921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23875" y="5984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テストコード作成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60375" y="6302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6EBE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23875" y="6365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コードレビュー支援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20021" y="4103688"/>
            <a:ext cx="3754438" cy="2651125"/>
          </a:xfrm>
          <a:custGeom>
            <a:avLst/>
            <a:gdLst/>
            <a:ahLst/>
            <a:cxnLst/>
            <a:rect l="l" t="t" r="r" b="b"/>
            <a:pathLst>
              <a:path w="3754438" h="2651125">
                <a:moveTo>
                  <a:pt x="95255" y="0"/>
                </a:moveTo>
                <a:lnTo>
                  <a:pt x="3659183" y="0"/>
                </a:lnTo>
                <a:cubicBezTo>
                  <a:pt x="3711790" y="0"/>
                  <a:pt x="3754438" y="42647"/>
                  <a:pt x="3754438" y="95255"/>
                </a:cubicBezTo>
                <a:lnTo>
                  <a:pt x="3754438" y="2555870"/>
                </a:lnTo>
                <a:cubicBezTo>
                  <a:pt x="3754438" y="2608478"/>
                  <a:pt x="3711790" y="2651125"/>
                  <a:pt x="3659183" y="2651125"/>
                </a:cubicBezTo>
                <a:lnTo>
                  <a:pt x="95255" y="2651125"/>
                </a:lnTo>
                <a:cubicBezTo>
                  <a:pt x="42647" y="2651125"/>
                  <a:pt x="0" y="2608478"/>
                  <a:pt x="0" y="255587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354959" y="4238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78D4"/>
          </a:solidFill>
          <a:ln/>
        </p:spPr>
      </p:sp>
      <p:sp>
        <p:nvSpPr>
          <p:cNvPr id="63" name="Shape 61"/>
          <p:cNvSpPr/>
          <p:nvPr/>
        </p:nvSpPr>
        <p:spPr>
          <a:xfrm>
            <a:off x="4481959" y="4365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894709" y="4349750"/>
            <a:ext cx="182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リサーチ・アイデア創出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354959" y="4778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418459" y="4841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市場調査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54959" y="5159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418459" y="5222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競合分析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354959" y="5540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418459" y="5603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ブレインストーミング支援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354959" y="5921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4418459" y="5984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トレンド分析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354959" y="6302375"/>
            <a:ext cx="3484563" cy="317500"/>
          </a:xfrm>
          <a:custGeom>
            <a:avLst/>
            <a:gdLst/>
            <a:ahLst/>
            <a:cxnLst/>
            <a:rect l="l" t="t" r="r" b="b"/>
            <a:pathLst>
              <a:path w="3484563" h="3175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254000"/>
                </a:lnTo>
                <a:cubicBezTo>
                  <a:pt x="3484563" y="289047"/>
                  <a:pt x="3456109" y="317500"/>
                  <a:pt x="3421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8D4">
              <a:alpha val="1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418459" y="6365875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アイデアの発散・収束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114729" y="4103688"/>
            <a:ext cx="3754438" cy="2651125"/>
          </a:xfrm>
          <a:custGeom>
            <a:avLst/>
            <a:gdLst/>
            <a:ahLst/>
            <a:cxnLst/>
            <a:rect l="l" t="t" r="r" b="b"/>
            <a:pathLst>
              <a:path w="3754438" h="2651125">
                <a:moveTo>
                  <a:pt x="95255" y="0"/>
                </a:moveTo>
                <a:lnTo>
                  <a:pt x="3659183" y="0"/>
                </a:lnTo>
                <a:cubicBezTo>
                  <a:pt x="3711790" y="0"/>
                  <a:pt x="3754438" y="42647"/>
                  <a:pt x="3754438" y="95255"/>
                </a:cubicBezTo>
                <a:lnTo>
                  <a:pt x="3754438" y="2555870"/>
                </a:lnTo>
                <a:cubicBezTo>
                  <a:pt x="3754438" y="2608478"/>
                  <a:pt x="3711790" y="2651125"/>
                  <a:pt x="3659183" y="2651125"/>
                </a:cubicBezTo>
                <a:lnTo>
                  <a:pt x="95255" y="2651125"/>
                </a:lnTo>
                <a:cubicBezTo>
                  <a:pt x="42647" y="2651125"/>
                  <a:pt x="0" y="2608478"/>
                  <a:pt x="0" y="255587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 rotWithShape="1" flip="none">
            <a:gsLst>
              <a:gs pos="0">
                <a:srgbClr val="D83B01">
                  <a:alpha val="20000"/>
                </a:srgbClr>
              </a:gs>
              <a:gs pos="100000">
                <a:srgbClr val="D83B01">
                  <a:alpha val="10000"/>
                </a:srgbClr>
              </a:gs>
            </a:gsLst>
            <a:lin ang="2700000" scaled="1"/>
          </a:gradFill>
          <a:ln w="25400">
            <a:solidFill>
              <a:srgbClr val="D83B0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49667" y="4238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77" name="Shape 75"/>
          <p:cNvSpPr/>
          <p:nvPr/>
        </p:nvSpPr>
        <p:spPr>
          <a:xfrm>
            <a:off x="8376667" y="4365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8789417" y="4349750"/>
            <a:ext cx="150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231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禁止される利用方法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53636" y="4782344"/>
            <a:ext cx="3476625" cy="484187"/>
          </a:xfrm>
          <a:custGeom>
            <a:avLst/>
            <a:gdLst/>
            <a:ahLst/>
            <a:cxnLst/>
            <a:rect l="l" t="t" r="r" b="b"/>
            <a:pathLst>
              <a:path w="3476625" h="484187">
                <a:moveTo>
                  <a:pt x="63501" y="0"/>
                </a:moveTo>
                <a:lnTo>
                  <a:pt x="3413124" y="0"/>
                </a:lnTo>
                <a:cubicBezTo>
                  <a:pt x="3448195" y="0"/>
                  <a:pt x="3476625" y="28430"/>
                  <a:pt x="3476625" y="63501"/>
                </a:cubicBezTo>
                <a:lnTo>
                  <a:pt x="3476625" y="420686"/>
                </a:lnTo>
                <a:cubicBezTo>
                  <a:pt x="3476625" y="455757"/>
                  <a:pt x="3448195" y="484188"/>
                  <a:pt x="3413124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36979" y="4881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81" name="Text 79"/>
          <p:cNvSpPr/>
          <p:nvPr/>
        </p:nvSpPr>
        <p:spPr>
          <a:xfrm>
            <a:off x="8543354" y="4857750"/>
            <a:ext cx="13335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顧客対応への直接利用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511604" y="5040313"/>
            <a:ext cx="320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AI出力をそのまま顧客に送信しない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53636" y="5337969"/>
            <a:ext cx="3476625" cy="484187"/>
          </a:xfrm>
          <a:custGeom>
            <a:avLst/>
            <a:gdLst/>
            <a:ahLst/>
            <a:cxnLst/>
            <a:rect l="l" t="t" r="r" b="b"/>
            <a:pathLst>
              <a:path w="3476625" h="484187">
                <a:moveTo>
                  <a:pt x="63501" y="0"/>
                </a:moveTo>
                <a:lnTo>
                  <a:pt x="3413124" y="0"/>
                </a:lnTo>
                <a:cubicBezTo>
                  <a:pt x="3448195" y="0"/>
                  <a:pt x="3476625" y="28430"/>
                  <a:pt x="3476625" y="63501"/>
                </a:cubicBezTo>
                <a:lnTo>
                  <a:pt x="3476625" y="420686"/>
                </a:lnTo>
                <a:cubicBezTo>
                  <a:pt x="3476625" y="455757"/>
                  <a:pt x="3448195" y="484188"/>
                  <a:pt x="3413124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336979" y="54371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85" name="Text 83"/>
          <p:cNvSpPr/>
          <p:nvPr/>
        </p:nvSpPr>
        <p:spPr>
          <a:xfrm>
            <a:off x="8543354" y="5413375"/>
            <a:ext cx="10795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自動判断への活用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8511604" y="5595938"/>
            <a:ext cx="320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重要な業務判断をAIに任せない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53636" y="5893594"/>
            <a:ext cx="3476625" cy="484187"/>
          </a:xfrm>
          <a:custGeom>
            <a:avLst/>
            <a:gdLst/>
            <a:ahLst/>
            <a:cxnLst/>
            <a:rect l="l" t="t" r="r" b="b"/>
            <a:pathLst>
              <a:path w="3476625" h="484187">
                <a:moveTo>
                  <a:pt x="63501" y="0"/>
                </a:moveTo>
                <a:lnTo>
                  <a:pt x="3413124" y="0"/>
                </a:lnTo>
                <a:cubicBezTo>
                  <a:pt x="3448195" y="0"/>
                  <a:pt x="3476625" y="28430"/>
                  <a:pt x="3476625" y="63501"/>
                </a:cubicBezTo>
                <a:lnTo>
                  <a:pt x="3476625" y="420686"/>
                </a:lnTo>
                <a:cubicBezTo>
                  <a:pt x="3476625" y="455757"/>
                  <a:pt x="3448195" y="484188"/>
                  <a:pt x="3413124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36979" y="5992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D83B01"/>
          </a:solidFill>
          <a:ln/>
        </p:spPr>
      </p:sp>
      <p:sp>
        <p:nvSpPr>
          <p:cNvPr id="89" name="Text 87"/>
          <p:cNvSpPr/>
          <p:nvPr/>
        </p:nvSpPr>
        <p:spPr>
          <a:xfrm>
            <a:off x="8543354" y="5969000"/>
            <a:ext cx="14605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83B0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人間の確認・承認を省略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511604" y="6151563"/>
            <a:ext cx="320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2313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必ず人間のチェックを経ること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aff5809f88c3946a41ef0a9f738cf801b72fd52a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6" b="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78D4">
                  <a:alpha val="95000"/>
                </a:srgbClr>
              </a:gs>
              <a:gs pos="50000">
                <a:srgbClr val="106EBE">
                  <a:alpha val="90000"/>
                </a:srgbClr>
              </a:gs>
              <a:gs pos="100000">
                <a:srgbClr val="0078D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まとめとサポート体制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90525" y="1228725"/>
            <a:ext cx="5619750" cy="1704975"/>
          </a:xfrm>
          <a:custGeom>
            <a:avLst/>
            <a:gdLst/>
            <a:ahLst/>
            <a:cxnLst/>
            <a:rect l="l" t="t" r="r" b="b"/>
            <a:pathLst>
              <a:path w="5619750" h="1704975">
                <a:moveTo>
                  <a:pt x="114302" y="0"/>
                </a:moveTo>
                <a:lnTo>
                  <a:pt x="5505448" y="0"/>
                </a:lnTo>
                <a:cubicBezTo>
                  <a:pt x="5568575" y="0"/>
                  <a:pt x="5619750" y="51175"/>
                  <a:pt x="5619750" y="114302"/>
                </a:cubicBezTo>
                <a:lnTo>
                  <a:pt x="5619750" y="1590673"/>
                </a:lnTo>
                <a:cubicBezTo>
                  <a:pt x="5619750" y="1653800"/>
                  <a:pt x="5568575" y="1704975"/>
                  <a:pt x="5505448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0791" y="14382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62038" y="142875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AIはパートナー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0550" y="1828800"/>
            <a:ext cx="1695450" cy="304800"/>
          </a:xfrm>
          <a:custGeom>
            <a:avLst/>
            <a:gdLst/>
            <a:ahLst/>
            <a:cxnLst/>
            <a:rect l="l" t="t" r="r" b="b"/>
            <a:pathLst>
              <a:path w="1695450" h="304800">
                <a:moveTo>
                  <a:pt x="38100" y="0"/>
                </a:moveTo>
                <a:lnTo>
                  <a:pt x="1657350" y="0"/>
                </a:lnTo>
                <a:cubicBezTo>
                  <a:pt x="1678378" y="0"/>
                  <a:pt x="1695450" y="17072"/>
                  <a:pt x="1695450" y="38100"/>
                </a:cubicBezTo>
                <a:lnTo>
                  <a:pt x="1695450" y="266700"/>
                </a:lnTo>
                <a:cubicBezTo>
                  <a:pt x="1695450" y="287728"/>
                  <a:pt x="1678378" y="304800"/>
                  <a:pt x="16573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90550" y="1828800"/>
            <a:ext cx="1781175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最終責任は常に人間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0550" y="2240756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AIを効果的な「副操縦士」として活用しつつ、最終判断と責任は人間が負うことを徹底する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0525" y="3107531"/>
            <a:ext cx="5619750" cy="1704975"/>
          </a:xfrm>
          <a:custGeom>
            <a:avLst/>
            <a:gdLst/>
            <a:ahLst/>
            <a:cxnLst/>
            <a:rect l="l" t="t" r="r" b="b"/>
            <a:pathLst>
              <a:path w="5619750" h="1704975">
                <a:moveTo>
                  <a:pt x="114302" y="0"/>
                </a:moveTo>
                <a:lnTo>
                  <a:pt x="5505448" y="0"/>
                </a:lnTo>
                <a:cubicBezTo>
                  <a:pt x="5568575" y="0"/>
                  <a:pt x="5619750" y="51175"/>
                  <a:pt x="5619750" y="114302"/>
                </a:cubicBezTo>
                <a:lnTo>
                  <a:pt x="5619750" y="1590673"/>
                </a:lnTo>
                <a:cubicBezTo>
                  <a:pt x="5619750" y="1653800"/>
                  <a:pt x="5568575" y="1704975"/>
                  <a:pt x="5505448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6509" y="331708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62038" y="3307556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ルール遵守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0550" y="3707606"/>
            <a:ext cx="3220641" cy="304800"/>
          </a:xfrm>
          <a:custGeom>
            <a:avLst/>
            <a:gdLst/>
            <a:ahLst/>
            <a:cxnLst/>
            <a:rect l="l" t="t" r="r" b="b"/>
            <a:pathLst>
              <a:path w="3220641" h="304800">
                <a:moveTo>
                  <a:pt x="38100" y="0"/>
                </a:moveTo>
                <a:lnTo>
                  <a:pt x="3182541" y="0"/>
                </a:lnTo>
                <a:cubicBezTo>
                  <a:pt x="3203569" y="0"/>
                  <a:pt x="3220641" y="17072"/>
                  <a:pt x="3220641" y="38100"/>
                </a:cubicBezTo>
                <a:lnTo>
                  <a:pt x="3220641" y="266700"/>
                </a:lnTo>
                <a:cubicBezTo>
                  <a:pt x="3220641" y="287728"/>
                  <a:pt x="3203569" y="304800"/>
                  <a:pt x="3182541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90550" y="3707606"/>
            <a:ext cx="3306366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社内規程・AI事業者ガイドラインを遵守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0550" y="4119562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Copilot利用マニュアルおよび関連規程を遵守し、セキュアなAI活用を推進する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81725" y="1228725"/>
            <a:ext cx="5619750" cy="2571750"/>
          </a:xfrm>
          <a:custGeom>
            <a:avLst/>
            <a:gdLst/>
            <a:ahLst/>
            <a:cxnLst/>
            <a:rect l="l" t="t" r="r" b="b"/>
            <a:pathLst>
              <a:path w="5619750" h="2571750">
                <a:moveTo>
                  <a:pt x="114289" y="0"/>
                </a:moveTo>
                <a:lnTo>
                  <a:pt x="5505461" y="0"/>
                </a:lnTo>
                <a:cubicBezTo>
                  <a:pt x="5568539" y="0"/>
                  <a:pt x="5619750" y="51211"/>
                  <a:pt x="5619750" y="114289"/>
                </a:cubicBezTo>
                <a:lnTo>
                  <a:pt x="5619750" y="2457461"/>
                </a:lnTo>
                <a:cubicBezTo>
                  <a:pt x="5619750" y="2520581"/>
                  <a:pt x="5568581" y="2571750"/>
                  <a:pt x="5505461" y="2571750"/>
                </a:cubicBezTo>
                <a:lnTo>
                  <a:pt x="114289" y="2571750"/>
                </a:lnTo>
                <a:cubicBezTo>
                  <a:pt x="51211" y="2571750"/>
                  <a:pt x="0" y="2520539"/>
                  <a:pt x="0" y="24574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37709" y="14382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35719"/>
                </a:moveTo>
                <a:cubicBezTo>
                  <a:pt x="80925" y="35719"/>
                  <a:pt x="44258" y="67698"/>
                  <a:pt x="37002" y="109779"/>
                </a:cubicBezTo>
                <a:cubicBezTo>
                  <a:pt x="42193" y="108105"/>
                  <a:pt x="47774" y="107156"/>
                  <a:pt x="53578" y="107156"/>
                </a:cubicBezTo>
                <a:lnTo>
                  <a:pt x="62508" y="107156"/>
                </a:lnTo>
                <a:cubicBezTo>
                  <a:pt x="77298" y="107156"/>
                  <a:pt x="89297" y="119156"/>
                  <a:pt x="89297" y="133945"/>
                </a:cubicBezTo>
                <a:lnTo>
                  <a:pt x="89297" y="187523"/>
                </a:lnTo>
                <a:cubicBezTo>
                  <a:pt x="89297" y="202313"/>
                  <a:pt x="77298" y="214313"/>
                  <a:pt x="62508" y="214313"/>
                </a:cubicBezTo>
                <a:lnTo>
                  <a:pt x="53578" y="214313"/>
                </a:lnTo>
                <a:cubicBezTo>
                  <a:pt x="23999" y="214313"/>
                  <a:pt x="0" y="190314"/>
                  <a:pt x="0" y="160734"/>
                </a:cubicBezTo>
                <a:lnTo>
                  <a:pt x="0" y="125016"/>
                </a:lnTo>
                <a:cubicBezTo>
                  <a:pt x="0" y="55978"/>
                  <a:pt x="55978" y="0"/>
                  <a:pt x="125016" y="0"/>
                </a:cubicBezTo>
                <a:cubicBezTo>
                  <a:pt x="194053" y="0"/>
                  <a:pt x="250031" y="55978"/>
                  <a:pt x="250031" y="125016"/>
                </a:cubicBezTo>
                <a:lnTo>
                  <a:pt x="250031" y="218833"/>
                </a:lnTo>
                <a:cubicBezTo>
                  <a:pt x="250031" y="255836"/>
                  <a:pt x="220005" y="285806"/>
                  <a:pt x="183003" y="285806"/>
                </a:cubicBezTo>
                <a:lnTo>
                  <a:pt x="133945" y="285750"/>
                </a:lnTo>
                <a:lnTo>
                  <a:pt x="116086" y="285750"/>
                </a:lnTo>
                <a:cubicBezTo>
                  <a:pt x="101296" y="285750"/>
                  <a:pt x="89297" y="273751"/>
                  <a:pt x="89297" y="258961"/>
                </a:cubicBezTo>
                <a:cubicBezTo>
                  <a:pt x="89297" y="244171"/>
                  <a:pt x="101296" y="232172"/>
                  <a:pt x="116086" y="232172"/>
                </a:cubicBezTo>
                <a:lnTo>
                  <a:pt x="133945" y="232172"/>
                </a:lnTo>
                <a:cubicBezTo>
                  <a:pt x="148735" y="232172"/>
                  <a:pt x="160734" y="244171"/>
                  <a:pt x="160734" y="258961"/>
                </a:cubicBezTo>
                <a:lnTo>
                  <a:pt x="160734" y="258961"/>
                </a:lnTo>
                <a:lnTo>
                  <a:pt x="183059" y="258961"/>
                </a:lnTo>
                <a:cubicBezTo>
                  <a:pt x="205271" y="258961"/>
                  <a:pt x="223242" y="240990"/>
                  <a:pt x="223242" y="218777"/>
                </a:cubicBezTo>
                <a:lnTo>
                  <a:pt x="223242" y="207113"/>
                </a:lnTo>
                <a:cubicBezTo>
                  <a:pt x="215373" y="211689"/>
                  <a:pt x="206220" y="214257"/>
                  <a:pt x="196453" y="214257"/>
                </a:cubicBezTo>
                <a:lnTo>
                  <a:pt x="187523" y="214257"/>
                </a:lnTo>
                <a:cubicBezTo>
                  <a:pt x="172734" y="214257"/>
                  <a:pt x="160734" y="202257"/>
                  <a:pt x="160734" y="187468"/>
                </a:cubicBezTo>
                <a:lnTo>
                  <a:pt x="160734" y="133890"/>
                </a:lnTo>
                <a:cubicBezTo>
                  <a:pt x="160734" y="119100"/>
                  <a:pt x="172734" y="107100"/>
                  <a:pt x="187523" y="107100"/>
                </a:cubicBezTo>
                <a:lnTo>
                  <a:pt x="196453" y="107100"/>
                </a:lnTo>
                <a:cubicBezTo>
                  <a:pt x="202257" y="107100"/>
                  <a:pt x="207783" y="107993"/>
                  <a:pt x="213029" y="109724"/>
                </a:cubicBezTo>
                <a:cubicBezTo>
                  <a:pt x="205773" y="67698"/>
                  <a:pt x="169162" y="35663"/>
                  <a:pt x="125016" y="356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853238" y="142875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相談窓口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81750" y="1885950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723898"/>
                </a:lnTo>
                <a:cubicBezTo>
                  <a:pt x="5219700" y="765983"/>
                  <a:pt x="5185583" y="800100"/>
                  <a:pt x="51434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507956" y="2038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6848475" y="20002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システム障害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96050" y="234315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ITインフラ部門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81750" y="2800350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723898"/>
                </a:lnTo>
                <a:cubicBezTo>
                  <a:pt x="5219700" y="765983"/>
                  <a:pt x="5185583" y="800100"/>
                  <a:pt x="51434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519863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848475" y="29146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データ・法務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96050" y="325755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セキュリティ部／法務部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81725" y="3971925"/>
            <a:ext cx="5619750" cy="1333500"/>
          </a:xfrm>
          <a:custGeom>
            <a:avLst/>
            <a:gdLst/>
            <a:ahLst/>
            <a:cxnLst/>
            <a:rect l="l" t="t" r="r" b="b"/>
            <a:pathLst>
              <a:path w="5619750" h="1333500">
                <a:moveTo>
                  <a:pt x="114294" y="0"/>
                </a:moveTo>
                <a:lnTo>
                  <a:pt x="5505456" y="0"/>
                </a:lnTo>
                <a:cubicBezTo>
                  <a:pt x="5568536" y="0"/>
                  <a:pt x="5619750" y="51214"/>
                  <a:pt x="5619750" y="114294"/>
                </a:cubicBezTo>
                <a:lnTo>
                  <a:pt x="5619750" y="1219206"/>
                </a:lnTo>
                <a:cubicBezTo>
                  <a:pt x="5619750" y="1282286"/>
                  <a:pt x="5568536" y="1333500"/>
                  <a:pt x="550545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 w="25400">
            <a:solidFill>
              <a:srgbClr val="FFFFFF">
                <a:alpha val="5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51106" y="4133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296025" y="4533900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健全で安全なAI活用を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00788" y="48768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全社で推進する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77173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905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2026年1月制定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Copilot 利用マニュアル</dc:title>
  <dc:subject>Microsoft Copilot 利用マニュアル</dc:subject>
  <dc:creator>Kimi</dc:creator>
  <cp:lastModifiedBy>Kimi</cp:lastModifiedBy>
  <cp:revision>1</cp:revision>
  <dcterms:created xsi:type="dcterms:W3CDTF">2026-01-27T06:38:35Z</dcterms:created>
  <dcterms:modified xsi:type="dcterms:W3CDTF">2026-01-27T06:38:35Z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{"Label":"Microsoft Copilot 利用マニュアル","ContentProducer":"001191110108MACG2KBH8F10000","ProduceID":"19bfe23a-f982-8e84-8000-0000ea0a1caf","ReservedCode1":"","ContentPropagator":"001191110108MACG2KBH8F20000","PropagateID":"19bfe23a-f982-8e84-8000-0000ea0a1caf","ReservedCode2":""}</vt:lpwstr>
  </property>
</Properties>
</file>